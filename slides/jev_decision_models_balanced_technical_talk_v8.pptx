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1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3" r:id="rId17"/>
    <p:sldId id="274" r:id="rId18"/>
    <p:sldId id="276" r:id="rId19"/>
    <p:sldId id="277" r:id="rId20"/>
    <p:sldId id="278" r:id="rId21"/>
    <p:sldId id="28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1245"/>
  </p:normalViewPr>
  <p:slideViewPr>
    <p:cSldViewPr snapToGrid="0">
      <p:cViewPr varScale="1">
        <p:scale>
          <a:sx n="122" d="100"/>
          <a:sy n="122" d="100"/>
        </p:scale>
        <p:origin x="3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Capability</c:v>
          </c:tx>
          <c:spPr>
            <a:solidFill>
              <a:srgbClr val="54D6FF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B9F45D"/>
              </a:solidFill>
            </c:spPr>
            <c:extLst>
              <c:ext xmlns:c16="http://schemas.microsoft.com/office/drawing/2014/chart" uri="{C3380CC4-5D6E-409C-BE32-E72D297353CC}">
                <c16:uniqueId val="{00000001-184E-184B-82F7-5911749B98F7}"/>
              </c:ext>
            </c:extLst>
          </c:dPt>
          <c:dPt>
            <c:idx val="2"/>
            <c:invertIfNegative val="0"/>
            <c:bubble3D val="0"/>
            <c:spPr>
              <a:solidFill>
                <a:srgbClr val="F8C15C"/>
              </a:solidFill>
            </c:spPr>
            <c:extLst>
              <c:ext xmlns:c16="http://schemas.microsoft.com/office/drawing/2014/chart" uri="{C3380CC4-5D6E-409C-BE32-E72D297353CC}">
                <c16:uniqueId val="{00000003-184E-184B-82F7-5911749B98F7}"/>
              </c:ext>
            </c:extLst>
          </c:dPt>
          <c:dPt>
            <c:idx val="5"/>
            <c:invertIfNegative val="0"/>
            <c:bubble3D val="0"/>
            <c:spPr>
              <a:solidFill>
                <a:srgbClr val="AA8BFF"/>
              </a:solidFill>
            </c:spPr>
            <c:extLst>
              <c:ext xmlns:c16="http://schemas.microsoft.com/office/drawing/2014/chart" uri="{C3380CC4-5D6E-409C-BE32-E72D297353CC}">
                <c16:uniqueId val="{00000005-184E-184B-82F7-5911749B98F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 b="1">
                    <a:solidFill>
                      <a:srgbClr val="F4F8F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Data'!$A$2:$A$7</c:f>
              <c:strCache>
                <c:ptCount val="6"/>
                <c:pt idx="0">
                  <c:v>Quyet 31B</c:v>
                </c:pt>
                <c:pt idx="1">
                  <c:v>deck 31B</c:v>
                </c:pt>
                <c:pt idx="2">
                  <c:v>Jev 1.13 ref</c:v>
                </c:pt>
                <c:pt idx="3">
                  <c:v>torchcast 12B</c:v>
                </c:pt>
                <c:pt idx="4">
                  <c:v>Jev-Omni</c:v>
                </c:pt>
                <c:pt idx="5">
                  <c:v>Nimble 9B v3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81.7</c:v>
                </c:pt>
                <c:pt idx="1">
                  <c:v>77.6</c:v>
                </c:pt>
                <c:pt idx="2">
                  <c:v>77.1</c:v>
                </c:pt>
                <c:pt idx="3">
                  <c:v>71.7</c:v>
                </c:pt>
                <c:pt idx="4">
                  <c:v>71.3</c:v>
                </c:pt>
                <c:pt idx="5">
                  <c:v>66.8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184E-184B-82F7-5911749B98F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263448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675">
                <a:solidFill>
                  <a:srgbClr val="C7D1DF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750">
                <a:solidFill>
                  <a:srgbClr val="C7D1DF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101826"/>
        </a:solidFill>
        <a:ln w="0">
          <a:solidFill>
            <a:srgbClr val="101826"/>
          </a:solidFill>
          <a:prstDash val="solid"/>
        </a:ln>
      </c:spPr>
    </c:plotArea>
    <c:plotVisOnly val="1"/>
    <c:dispBlanksAs val="zero"/>
    <c:showDLblsOverMax val="1"/>
  </c:chart>
  <c:spPr>
    <a:solidFill>
      <a:srgbClr val="101826"/>
    </a:solidFill>
    <a:ln w="9525">
      <a:solidFill>
        <a:srgbClr val="263448"/>
      </a:solidFill>
      <a:prstDash val="solid"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D44B9F6-E891-4702-AF17-3DDF00FEA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4DE99E1D-64A0-4448-8A4E-90D17CC560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7A4E625-8514-4713-9F71-ACC9158D9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B581A21-F1D8-4EEB-A399-495B06256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E6BEDB9C-25A5-4A37-899F-49F133DC5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1CFBC6CE-BDDF-425E-8A55-B45C3E2B0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A3C57BA-B632-43CF-9770-D792CBFCAE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40FD9B0-2037-4DE4-8F01-B8EBB6A1581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824AE85-2A72-4CFC-890F-131E331F0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A1DF159-9AAF-4579-ADEF-99BBC475A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1914AD55-F2EF-4E4D-B8D9-40C93AB58B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B9F4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574CB1-1F01-4D03-B11C-6E49FBDBD437}"/>
              </a:ext>
            </a:extLst>
          </p:cNvPr>
          <p:cNvSpPr>
            <a:spLocks noGrp="1"/>
          </p:cNvSpPr>
          <p:nvPr/>
        </p:nvSpPr>
        <p:spPr>
          <a:xfrm>
            <a:off x="571500" y="1123950"/>
            <a:ext cx="6667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412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4125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Jev, understood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C2D466-EB87-4342-B27E-3F649B1261D2}"/>
              </a:ext>
            </a:extLst>
          </p:cNvPr>
          <p:cNvSpPr>
            <a:spLocks noGrp="1"/>
          </p:cNvSpPr>
          <p:nvPr/>
        </p:nvSpPr>
        <p:spPr>
          <a:xfrm>
            <a:off x="590550" y="2133600"/>
            <a:ext cx="6572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8000"/>
              </a:lnSpc>
              <a:buNone/>
              <a:defRPr sz="172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How typed decision models work, what the open alternatives reveal, and how to train one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56B741-1B8A-4040-908E-4E981C17AA42}"/>
              </a:ext>
            </a:extLst>
          </p:cNvPr>
          <p:cNvSpPr>
            <a:spLocks noGrp="1"/>
          </p:cNvSpPr>
          <p:nvPr/>
        </p:nvSpPr>
        <p:spPr>
          <a:xfrm>
            <a:off x="590550" y="3486150"/>
            <a:ext cx="657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125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9F45D"/>
                </a:solidFill>
                <a:latin typeface="Arial"/>
                <a:ea typeface="Arial"/>
                <a:cs typeface="Arial"/>
              </a:rPr>
              <a:t>A technical overview without assuming the proprietary architecture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D6EC5D-CB5A-4836-9319-81149B239186}"/>
              </a:ext>
            </a:extLst>
          </p:cNvPr>
          <p:cNvSpPr>
            <a:spLocks noGrp="1"/>
          </p:cNvSpPr>
          <p:nvPr/>
        </p:nvSpPr>
        <p:spPr>
          <a:xfrm>
            <a:off x="590550" y="588645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750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8B9D"/>
                </a:solidFill>
                <a:latin typeface="Arial"/>
                <a:ea typeface="Arial"/>
                <a:cs typeface="Arial"/>
              </a:rPr>
              <a:t>07 OCT 2026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FE9636B-98AE-4AD7-A857-8EB567D2B084}"/>
              </a:ext>
            </a:extLst>
          </p:cNvPr>
          <p:cNvSpPr>
            <a:spLocks noGrp="1"/>
          </p:cNvSpPr>
          <p:nvPr/>
        </p:nvSpPr>
        <p:spPr>
          <a:xfrm>
            <a:off x="7810500" y="876300"/>
            <a:ext cx="3543300" cy="4686300"/>
          </a:xfrm>
          <a:prstGeom prst="roundRect">
            <a:avLst>
              <a:gd name="adj" fmla="val 4301"/>
            </a:avLst>
          </a:prstGeom>
          <a:solidFill>
            <a:srgbClr val="101826"/>
          </a:solidFill>
          <a:ln w="9525">
            <a:solidFill>
              <a:srgbClr val="3444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2F5532-647B-42FF-9878-75EBC8EA7238}"/>
              </a:ext>
            </a:extLst>
          </p:cNvPr>
          <p:cNvSpPr>
            <a:spLocks noGrp="1"/>
          </p:cNvSpPr>
          <p:nvPr/>
        </p:nvSpPr>
        <p:spPr>
          <a:xfrm>
            <a:off x="8077200" y="1200150"/>
            <a:ext cx="3009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125" b="1" i="0">
                <a:solidFill>
                  <a:srgbClr val="54D6F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ctr">
              <a:lnSpc>
                <a:spcPct val="105000"/>
              </a:lnSpc>
              <a:buNone/>
              <a:defRPr sz="1125" b="1" i="0">
                <a:solidFill>
                  <a:srgbClr val="54D6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 i="0">
                <a:solidFill>
                  <a:srgbClr val="54D6FF"/>
                </a:solidFill>
                <a:latin typeface="Courier New"/>
                <a:ea typeface="Courier New"/>
                <a:cs typeface="Courier New"/>
              </a:rPr>
              <a:t>state + schema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BF33F4-D2C5-4541-A5B5-63DC3838CCE4}"/>
              </a:ext>
            </a:extLst>
          </p:cNvPr>
          <p:cNvSpPr>
            <a:spLocks noGrp="1"/>
          </p:cNvSpPr>
          <p:nvPr/>
        </p:nvSpPr>
        <p:spPr>
          <a:xfrm>
            <a:off x="9572625" y="1581150"/>
            <a:ext cx="19050" cy="457200"/>
          </a:xfrm>
          <a:prstGeom prst="rect">
            <a:avLst/>
          </a:prstGeom>
          <a:solidFill>
            <a:srgbClr val="3444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EF76CA7-602B-4AA5-8F8B-1FE12DFDBD7D}"/>
              </a:ext>
            </a:extLst>
          </p:cNvPr>
          <p:cNvSpPr>
            <a:spLocks noGrp="1"/>
          </p:cNvSpPr>
          <p:nvPr/>
        </p:nvSpPr>
        <p:spPr>
          <a:xfrm>
            <a:off x="8248650" y="2038350"/>
            <a:ext cx="2647950" cy="876300"/>
          </a:xfrm>
          <a:prstGeom prst="roundRect">
            <a:avLst>
              <a:gd name="adj" fmla="val 13043"/>
            </a:avLst>
          </a:prstGeom>
          <a:solidFill>
            <a:srgbClr val="1D351B"/>
          </a:solidFill>
          <a:ln w="9525">
            <a:solidFill>
              <a:srgbClr val="B9F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6354B5-35E0-4B71-9243-A1B165EB5883}"/>
              </a:ext>
            </a:extLst>
          </p:cNvPr>
          <p:cNvSpPr>
            <a:spLocks noGrp="1"/>
          </p:cNvSpPr>
          <p:nvPr/>
        </p:nvSpPr>
        <p:spPr>
          <a:xfrm>
            <a:off x="8248650" y="2238375"/>
            <a:ext cx="2647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6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16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B9F45D"/>
                </a:solidFill>
                <a:latin typeface="Arial"/>
                <a:ea typeface="Arial"/>
                <a:cs typeface="Arial"/>
              </a:rPr>
              <a:t>decision model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F92681-19EF-4EE8-8A81-73261453DD36}"/>
              </a:ext>
            </a:extLst>
          </p:cNvPr>
          <p:cNvSpPr>
            <a:spLocks noGrp="1"/>
          </p:cNvSpPr>
          <p:nvPr/>
        </p:nvSpPr>
        <p:spPr>
          <a:xfrm>
            <a:off x="8248650" y="2590800"/>
            <a:ext cx="2647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82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82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semantic judgment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82A442-15F4-41CD-9664-E9544EAB9602}"/>
              </a:ext>
            </a:extLst>
          </p:cNvPr>
          <p:cNvSpPr>
            <a:spLocks noGrp="1"/>
          </p:cNvSpPr>
          <p:nvPr/>
        </p:nvSpPr>
        <p:spPr>
          <a:xfrm>
            <a:off x="9572625" y="2914650"/>
            <a:ext cx="19050" cy="457200"/>
          </a:xfrm>
          <a:prstGeom prst="rect">
            <a:avLst/>
          </a:prstGeom>
          <a:solidFill>
            <a:srgbClr val="3444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F69ECF-CAFB-4C8E-9F82-2CC401E7DE75}"/>
              </a:ext>
            </a:extLst>
          </p:cNvPr>
          <p:cNvSpPr>
            <a:spLocks noGrp="1"/>
          </p:cNvSpPr>
          <p:nvPr/>
        </p:nvSpPr>
        <p:spPr>
          <a:xfrm>
            <a:off x="8039100" y="36195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900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50CBE3F-5AF5-4A7E-8BDD-2A47DCFCD09D}"/>
              </a:ext>
            </a:extLst>
          </p:cNvPr>
          <p:cNvSpPr>
            <a:spLocks noGrp="1"/>
          </p:cNvSpPr>
          <p:nvPr/>
        </p:nvSpPr>
        <p:spPr>
          <a:xfrm>
            <a:off x="9906000" y="3648075"/>
            <a:ext cx="704850" cy="114300"/>
          </a:xfrm>
          <a:prstGeom prst="roundRect">
            <a:avLst>
              <a:gd name="adj" fmla="val 50000"/>
            </a:avLst>
          </a:prstGeom>
          <a:solidFill>
            <a:srgbClr val="26344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F0116CE-27D0-4D41-9F67-0038F0C845E7}"/>
              </a:ext>
            </a:extLst>
          </p:cNvPr>
          <p:cNvSpPr>
            <a:spLocks noGrp="1"/>
          </p:cNvSpPr>
          <p:nvPr/>
        </p:nvSpPr>
        <p:spPr>
          <a:xfrm>
            <a:off x="9906000" y="3648075"/>
            <a:ext cx="437007" cy="114300"/>
          </a:xfrm>
          <a:prstGeom prst="roundRect">
            <a:avLst>
              <a:gd name="adj" fmla="val 50000"/>
            </a:avLst>
          </a:prstGeom>
          <a:solidFill>
            <a:srgbClr val="B9F4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BD7A78-DCBC-47B7-BF67-C7EA14AA50DC}"/>
              </a:ext>
            </a:extLst>
          </p:cNvPr>
          <p:cNvSpPr>
            <a:spLocks noGrp="1"/>
          </p:cNvSpPr>
          <p:nvPr/>
        </p:nvSpPr>
        <p:spPr>
          <a:xfrm>
            <a:off x="10668000" y="35909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00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900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62%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0BB148-DC7E-4DEE-8215-17F46BF0A828}"/>
              </a:ext>
            </a:extLst>
          </p:cNvPr>
          <p:cNvSpPr>
            <a:spLocks noGrp="1"/>
          </p:cNvSpPr>
          <p:nvPr/>
        </p:nvSpPr>
        <p:spPr>
          <a:xfrm>
            <a:off x="8039100" y="40767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900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C1C0258-A467-4782-89B6-E88C3247728B}"/>
              </a:ext>
            </a:extLst>
          </p:cNvPr>
          <p:cNvSpPr>
            <a:spLocks noGrp="1"/>
          </p:cNvSpPr>
          <p:nvPr/>
        </p:nvSpPr>
        <p:spPr>
          <a:xfrm>
            <a:off x="9906000" y="4105275"/>
            <a:ext cx="704850" cy="114300"/>
          </a:xfrm>
          <a:prstGeom prst="roundRect">
            <a:avLst>
              <a:gd name="adj" fmla="val 50000"/>
            </a:avLst>
          </a:prstGeom>
          <a:solidFill>
            <a:srgbClr val="26344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27D0C1D-C1D0-40AB-A4AD-E580DFD2FF08}"/>
              </a:ext>
            </a:extLst>
          </p:cNvPr>
          <p:cNvSpPr>
            <a:spLocks noGrp="1"/>
          </p:cNvSpPr>
          <p:nvPr/>
        </p:nvSpPr>
        <p:spPr>
          <a:xfrm>
            <a:off x="9906000" y="4105275"/>
            <a:ext cx="162116" cy="114300"/>
          </a:xfrm>
          <a:prstGeom prst="roundRect">
            <a:avLst>
              <a:gd name="adj" fmla="val 50000"/>
            </a:avLst>
          </a:prstGeom>
          <a:solidFill>
            <a:srgbClr val="54D6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F7981A-A81B-4135-9C24-B7C0F87B4318}"/>
              </a:ext>
            </a:extLst>
          </p:cNvPr>
          <p:cNvSpPr>
            <a:spLocks noGrp="1"/>
          </p:cNvSpPr>
          <p:nvPr/>
        </p:nvSpPr>
        <p:spPr>
          <a:xfrm>
            <a:off x="10668000" y="40481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00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900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23%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47CDC3E-9B63-4309-AAA6-6A3DA253C3D0}"/>
              </a:ext>
            </a:extLst>
          </p:cNvPr>
          <p:cNvSpPr>
            <a:spLocks noGrp="1"/>
          </p:cNvSpPr>
          <p:nvPr/>
        </p:nvSpPr>
        <p:spPr>
          <a:xfrm>
            <a:off x="8039100" y="45339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900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decline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BF6B270-684B-460B-8249-114B4A8C579E}"/>
              </a:ext>
            </a:extLst>
          </p:cNvPr>
          <p:cNvSpPr>
            <a:spLocks noGrp="1"/>
          </p:cNvSpPr>
          <p:nvPr/>
        </p:nvSpPr>
        <p:spPr>
          <a:xfrm>
            <a:off x="9906000" y="4562475"/>
            <a:ext cx="704850" cy="114300"/>
          </a:xfrm>
          <a:prstGeom prst="roundRect">
            <a:avLst>
              <a:gd name="adj" fmla="val 50000"/>
            </a:avLst>
          </a:prstGeom>
          <a:solidFill>
            <a:srgbClr val="26344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6A2EA24-B9A3-4DED-AAC0-7D57575524A4}"/>
              </a:ext>
            </a:extLst>
          </p:cNvPr>
          <p:cNvSpPr>
            <a:spLocks noGrp="1"/>
          </p:cNvSpPr>
          <p:nvPr/>
        </p:nvSpPr>
        <p:spPr>
          <a:xfrm>
            <a:off x="9906000" y="4562475"/>
            <a:ext cx="105728" cy="114300"/>
          </a:xfrm>
          <a:prstGeom prst="roundRect">
            <a:avLst>
              <a:gd name="adj" fmla="val 50000"/>
            </a:avLst>
          </a:prstGeom>
          <a:solidFill>
            <a:srgbClr val="AA8B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E4BF196-B100-4583-8984-13C2D5782C3A}"/>
              </a:ext>
            </a:extLst>
          </p:cNvPr>
          <p:cNvSpPr>
            <a:spLocks noGrp="1"/>
          </p:cNvSpPr>
          <p:nvPr/>
        </p:nvSpPr>
        <p:spPr>
          <a:xfrm>
            <a:off x="10668000" y="45053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00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900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B583D96-7459-4E7B-9C4F-38F26611BF1A}"/>
              </a:ext>
            </a:extLst>
          </p:cNvPr>
          <p:cNvSpPr>
            <a:spLocks noGrp="1"/>
          </p:cNvSpPr>
          <p:nvPr/>
        </p:nvSpPr>
        <p:spPr>
          <a:xfrm>
            <a:off x="8077200" y="5067300"/>
            <a:ext cx="3009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975" b="1" i="0">
                <a:solidFill>
                  <a:srgbClr val="F4F8F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ctr">
              <a:lnSpc>
                <a:spcPct val="105000"/>
              </a:lnSpc>
              <a:buNone/>
              <a:defRPr sz="975" b="1" i="0">
                <a:solidFill>
                  <a:srgbClr val="F4F8FF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F4F8FF"/>
                </a:solidFill>
                <a:latin typeface="Courier New"/>
                <a:ea typeface="Courier New"/>
                <a:cs typeface="Courier New"/>
              </a:rPr>
              <a:t>typed probabilities</a:t>
            </a:r>
          </a:p>
        </p:txBody>
      </p:sp>
    </p:spTree>
    <p:extLst>
      <p:ext uri="{BB962C8B-B14F-4D97-AF65-F5344CB8AC3E}">
        <p14:creationId xmlns:p14="http://schemas.microsoft.com/office/powerpoint/2010/main" val="1302583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1D73531-8D4E-4AD4-A882-3F11986E39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B9F4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EDD6FD-AE46-485A-B9FF-EACC31E65E1E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7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B9F45D"/>
                </a:solidFill>
                <a:latin typeface="Arial"/>
                <a:ea typeface="Arial"/>
                <a:cs typeface="Arial"/>
              </a:rPr>
              <a:t>HOW JEV WORKS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664E87-86A5-4502-A751-D0CA248DF430}"/>
              </a:ext>
            </a:extLst>
          </p:cNvPr>
          <p:cNvSpPr>
            <a:spLocks noGrp="1"/>
          </p:cNvSpPr>
          <p:nvPr/>
        </p:nvSpPr>
        <p:spPr>
          <a:xfrm>
            <a:off x="514350" y="5905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32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32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How Jev turns application state into typed decisions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6AED6C-1A5F-428F-ADF2-F5FF4D0012BC}"/>
              </a:ext>
            </a:extLst>
          </p:cNvPr>
          <p:cNvSpPr>
            <a:spLocks noGrp="1"/>
          </p:cNvSpPr>
          <p:nvPr/>
        </p:nvSpPr>
        <p:spPr>
          <a:xfrm>
            <a:off x="514350" y="1304925"/>
            <a:ext cx="11163300" cy="9525"/>
          </a:xfrm>
          <a:prstGeom prst="rect">
            <a:avLst/>
          </a:prstGeom>
          <a:solidFill>
            <a:srgbClr val="26344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393F29-F289-4C9E-A5E7-321614B397EB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675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675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pPr>
            <a:r>
              <a:rPr sz="675" b="1" i="0" dirty="0">
                <a:solidFill>
                  <a:srgbClr val="7E8B9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4028C9F-11C0-4DFB-9297-DA9052A6E8F2}"/>
              </a:ext>
            </a:extLst>
          </p:cNvPr>
          <p:cNvSpPr>
            <a:spLocks noGrp="1"/>
          </p:cNvSpPr>
          <p:nvPr/>
        </p:nvSpPr>
        <p:spPr>
          <a:xfrm>
            <a:off x="514350" y="2228850"/>
            <a:ext cx="2343150" cy="1123950"/>
          </a:xfrm>
          <a:prstGeom prst="roundRect">
            <a:avLst>
              <a:gd name="adj" fmla="val 10169"/>
            </a:avLst>
          </a:prstGeom>
          <a:solidFill>
            <a:srgbClr val="0D2D3A"/>
          </a:solidFill>
          <a:ln w="11430">
            <a:solidFill>
              <a:srgbClr val="54D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5B3D99-1EA2-4610-B629-113323537FC9}"/>
              </a:ext>
            </a:extLst>
          </p:cNvPr>
          <p:cNvSpPr>
            <a:spLocks noGrp="1"/>
          </p:cNvSpPr>
          <p:nvPr/>
        </p:nvSpPr>
        <p:spPr>
          <a:xfrm>
            <a:off x="647700" y="2343150"/>
            <a:ext cx="2076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125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4D6FF"/>
                </a:solidFill>
                <a:latin typeface="Arial"/>
                <a:ea typeface="Arial"/>
                <a:cs typeface="Arial"/>
              </a:rPr>
              <a:t>SHARED STATE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904074-6E19-4C26-A05B-8F7F4EE1457D}"/>
              </a:ext>
            </a:extLst>
          </p:cNvPr>
          <p:cNvSpPr>
            <a:spLocks noGrp="1"/>
          </p:cNvSpPr>
          <p:nvPr/>
        </p:nvSpPr>
        <p:spPr>
          <a:xfrm>
            <a:off x="647700" y="2609850"/>
            <a:ext cx="20764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82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customer, transaction, policy, history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0D696B1-43D7-4C4C-992A-41C3C89B94B3}"/>
              </a:ext>
            </a:extLst>
          </p:cNvPr>
          <p:cNvSpPr>
            <a:spLocks noGrp="1"/>
          </p:cNvSpPr>
          <p:nvPr/>
        </p:nvSpPr>
        <p:spPr>
          <a:xfrm>
            <a:off x="514350" y="3752850"/>
            <a:ext cx="2343150" cy="1123950"/>
          </a:xfrm>
          <a:prstGeom prst="roundRect">
            <a:avLst>
              <a:gd name="adj" fmla="val 10169"/>
            </a:avLst>
          </a:prstGeom>
          <a:solidFill>
            <a:srgbClr val="251F40"/>
          </a:solidFill>
          <a:ln w="11430">
            <a:solidFill>
              <a:srgbClr val="AA8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C895A9-4676-4934-AD56-A269E96A8097}"/>
              </a:ext>
            </a:extLst>
          </p:cNvPr>
          <p:cNvSpPr>
            <a:spLocks noGrp="1"/>
          </p:cNvSpPr>
          <p:nvPr/>
        </p:nvSpPr>
        <p:spPr>
          <a:xfrm>
            <a:off x="647700" y="3867150"/>
            <a:ext cx="2076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 i="0">
                <a:solidFill>
                  <a:srgbClr val="AA8B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125" b="1" i="0">
                <a:solidFill>
                  <a:srgbClr val="AA8B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AA8BFF"/>
                </a:solidFill>
                <a:latin typeface="Arial"/>
                <a:ea typeface="Arial"/>
                <a:cs typeface="Arial"/>
              </a:rPr>
              <a:t>TYPED QUESTIONS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76230C-687A-4ED7-98C5-6B6455F4C93A}"/>
              </a:ext>
            </a:extLst>
          </p:cNvPr>
          <p:cNvSpPr>
            <a:spLocks noGrp="1"/>
          </p:cNvSpPr>
          <p:nvPr/>
        </p:nvSpPr>
        <p:spPr>
          <a:xfrm>
            <a:off x="647700" y="4133850"/>
            <a:ext cx="20764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82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instructions plus allowed answers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08664AC-7ED6-4DC7-B565-B565F6944EBA}"/>
              </a:ext>
            </a:extLst>
          </p:cNvPr>
          <p:cNvSpPr>
            <a:spLocks noGrp="1"/>
          </p:cNvSpPr>
          <p:nvPr/>
        </p:nvSpPr>
        <p:spPr>
          <a:xfrm>
            <a:off x="3829050" y="2800350"/>
            <a:ext cx="2895600" cy="1504950"/>
          </a:xfrm>
          <a:prstGeom prst="roundRect">
            <a:avLst>
              <a:gd name="adj" fmla="val 7595"/>
            </a:avLst>
          </a:prstGeom>
          <a:solidFill>
            <a:srgbClr val="1D351B"/>
          </a:solidFill>
          <a:ln w="11430">
            <a:solidFill>
              <a:srgbClr val="B9F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BCE60D-B388-41A7-8C52-ED2B5712F86F}"/>
              </a:ext>
            </a:extLst>
          </p:cNvPr>
          <p:cNvSpPr>
            <a:spLocks noGrp="1"/>
          </p:cNvSpPr>
          <p:nvPr/>
        </p:nvSpPr>
        <p:spPr>
          <a:xfrm>
            <a:off x="3962400" y="2914650"/>
            <a:ext cx="2628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125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9F45D"/>
                </a:solidFill>
                <a:latin typeface="Arial"/>
                <a:ea typeface="Arial"/>
                <a:cs typeface="Arial"/>
              </a:rPr>
              <a:t>SEMANTIC SCORING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A9638B-483E-41AB-91F7-A05C2B022698}"/>
              </a:ext>
            </a:extLst>
          </p:cNvPr>
          <p:cNvSpPr>
            <a:spLocks noGrp="1"/>
          </p:cNvSpPr>
          <p:nvPr/>
        </p:nvSpPr>
        <p:spPr>
          <a:xfrm>
            <a:off x="3962400" y="3181350"/>
            <a:ext cx="26289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82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compare the state against every legal answer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4639E08-0297-48D4-BA87-D727AFBD2C43}"/>
              </a:ext>
            </a:extLst>
          </p:cNvPr>
          <p:cNvSpPr>
            <a:spLocks noGrp="1"/>
          </p:cNvSpPr>
          <p:nvPr/>
        </p:nvSpPr>
        <p:spPr>
          <a:xfrm>
            <a:off x="7734300" y="2800350"/>
            <a:ext cx="3600450" cy="1504950"/>
          </a:xfrm>
          <a:prstGeom prst="roundRect">
            <a:avLst>
              <a:gd name="adj" fmla="val 7595"/>
            </a:avLst>
          </a:prstGeom>
          <a:solidFill>
            <a:srgbClr val="382B14"/>
          </a:solidFill>
          <a:ln w="11430">
            <a:solidFill>
              <a:srgbClr val="F8C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3A0FBF-8FD0-4372-B797-93C9026D13CD}"/>
              </a:ext>
            </a:extLst>
          </p:cNvPr>
          <p:cNvSpPr>
            <a:spLocks noGrp="1"/>
          </p:cNvSpPr>
          <p:nvPr/>
        </p:nvSpPr>
        <p:spPr>
          <a:xfrm>
            <a:off x="7867650" y="291465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 i="0">
                <a:solidFill>
                  <a:srgbClr val="F8C15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125" b="1" i="0">
                <a:solidFill>
                  <a:srgbClr val="F8C15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8C15C"/>
                </a:solidFill>
                <a:latin typeface="Arial"/>
                <a:ea typeface="Arial"/>
                <a:cs typeface="Arial"/>
              </a:rPr>
              <a:t>TYPED RESULTS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1816F1-2B52-47FB-A7A9-FAB659F9CEEF}"/>
              </a:ext>
            </a:extLst>
          </p:cNvPr>
          <p:cNvSpPr>
            <a:spLocks noGrp="1"/>
          </p:cNvSpPr>
          <p:nvPr/>
        </p:nvSpPr>
        <p:spPr>
          <a:xfrm>
            <a:off x="7867650" y="3181350"/>
            <a:ext cx="333375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82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selected values, full distributions, confidence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752522-540B-4086-A80D-CB1366AD7D3C}"/>
              </a:ext>
            </a:extLst>
          </p:cNvPr>
          <p:cNvSpPr>
            <a:spLocks noGrp="1"/>
          </p:cNvSpPr>
          <p:nvPr/>
        </p:nvSpPr>
        <p:spPr>
          <a:xfrm>
            <a:off x="2857500" y="2790825"/>
            <a:ext cx="485775" cy="28575"/>
          </a:xfrm>
          <a:prstGeom prst="rect">
            <a:avLst/>
          </a:prstGeom>
          <a:solidFill>
            <a:srgbClr val="3444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4773B2E-C75F-4721-B69C-75B948B4A9DB}"/>
              </a:ext>
            </a:extLst>
          </p:cNvPr>
          <p:cNvSpPr>
            <a:spLocks noGrp="1"/>
          </p:cNvSpPr>
          <p:nvPr/>
        </p:nvSpPr>
        <p:spPr>
          <a:xfrm>
            <a:off x="3343275" y="2790825"/>
            <a:ext cx="28575" cy="504825"/>
          </a:xfrm>
          <a:prstGeom prst="rect">
            <a:avLst/>
          </a:prstGeom>
          <a:solidFill>
            <a:srgbClr val="3444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BF0037E-D971-4F56-B0DB-20FC4C80DD6A}"/>
              </a:ext>
            </a:extLst>
          </p:cNvPr>
          <p:cNvSpPr>
            <a:spLocks noGrp="1"/>
          </p:cNvSpPr>
          <p:nvPr/>
        </p:nvSpPr>
        <p:spPr>
          <a:xfrm>
            <a:off x="3343275" y="3295650"/>
            <a:ext cx="485775" cy="28575"/>
          </a:xfrm>
          <a:prstGeom prst="rect">
            <a:avLst/>
          </a:prstGeom>
          <a:solidFill>
            <a:srgbClr val="3444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FE2EBA3-5398-46F2-8928-71AE48819F60}"/>
              </a:ext>
            </a:extLst>
          </p:cNvPr>
          <p:cNvSpPr>
            <a:spLocks noGrp="1"/>
          </p:cNvSpPr>
          <p:nvPr/>
        </p:nvSpPr>
        <p:spPr>
          <a:xfrm>
            <a:off x="2857500" y="4314825"/>
            <a:ext cx="485775" cy="28575"/>
          </a:xfrm>
          <a:prstGeom prst="rect">
            <a:avLst/>
          </a:prstGeom>
          <a:solidFill>
            <a:srgbClr val="3444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312D081-D336-4618-AB99-765B45E00F08}"/>
              </a:ext>
            </a:extLst>
          </p:cNvPr>
          <p:cNvSpPr>
            <a:spLocks noGrp="1"/>
          </p:cNvSpPr>
          <p:nvPr/>
        </p:nvSpPr>
        <p:spPr>
          <a:xfrm>
            <a:off x="3343275" y="3810000"/>
            <a:ext cx="28575" cy="504825"/>
          </a:xfrm>
          <a:prstGeom prst="rect">
            <a:avLst/>
          </a:prstGeom>
          <a:solidFill>
            <a:srgbClr val="3444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7D1AC2A-D760-439D-B228-1A7A9A7431A8}"/>
              </a:ext>
            </a:extLst>
          </p:cNvPr>
          <p:cNvSpPr>
            <a:spLocks noGrp="1"/>
          </p:cNvSpPr>
          <p:nvPr/>
        </p:nvSpPr>
        <p:spPr>
          <a:xfrm>
            <a:off x="3343275" y="3810000"/>
            <a:ext cx="485775" cy="28575"/>
          </a:xfrm>
          <a:prstGeom prst="rect">
            <a:avLst/>
          </a:prstGeom>
          <a:solidFill>
            <a:srgbClr val="3444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00EBD9A-43C8-45B6-80D3-68C7DDDB8A5C}"/>
              </a:ext>
            </a:extLst>
          </p:cNvPr>
          <p:cNvSpPr>
            <a:spLocks noGrp="1"/>
          </p:cNvSpPr>
          <p:nvPr/>
        </p:nvSpPr>
        <p:spPr>
          <a:xfrm>
            <a:off x="6724650" y="3552825"/>
            <a:ext cx="1009650" cy="28575"/>
          </a:xfrm>
          <a:prstGeom prst="rect">
            <a:avLst/>
          </a:prstGeom>
          <a:solidFill>
            <a:srgbClr val="B9F4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F30FC48-A7B8-4782-A214-B1D9B2840010}"/>
              </a:ext>
            </a:extLst>
          </p:cNvPr>
          <p:cNvSpPr>
            <a:spLocks noGrp="1"/>
          </p:cNvSpPr>
          <p:nvPr/>
        </p:nvSpPr>
        <p:spPr>
          <a:xfrm>
            <a:off x="514350" y="5219700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101826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FD5608E-E174-4D53-9059-667BD2A2D1AE}"/>
              </a:ext>
            </a:extLst>
          </p:cNvPr>
          <p:cNvSpPr>
            <a:spLocks noGrp="1"/>
          </p:cNvSpPr>
          <p:nvPr/>
        </p:nvSpPr>
        <p:spPr>
          <a:xfrm>
            <a:off x="723900" y="5381625"/>
            <a:ext cx="1562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975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975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4D6FF"/>
                </a:solidFill>
                <a:latin typeface="Arial"/>
                <a:ea typeface="Arial"/>
                <a:cs typeface="Arial"/>
              </a:rPr>
              <a:t>shared state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819934D-E535-4B67-9230-F17A41B3405B}"/>
              </a:ext>
            </a:extLst>
          </p:cNvPr>
          <p:cNvSpPr>
            <a:spLocks noGrp="1"/>
          </p:cNvSpPr>
          <p:nvPr/>
        </p:nvSpPr>
        <p:spPr>
          <a:xfrm>
            <a:off x="2686050" y="5381625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975" b="1" i="0">
                <a:solidFill>
                  <a:srgbClr val="AA8B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975" b="1" i="0">
                <a:solidFill>
                  <a:srgbClr val="AA8B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A8BFF"/>
                </a:solidFill>
                <a:latin typeface="Arial"/>
                <a:ea typeface="Arial"/>
                <a:cs typeface="Arial"/>
              </a:rPr>
              <a:t>independent questions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11E021-DDFC-4179-AD25-DBE324EDC994}"/>
              </a:ext>
            </a:extLst>
          </p:cNvPr>
          <p:cNvSpPr>
            <a:spLocks noGrp="1"/>
          </p:cNvSpPr>
          <p:nvPr/>
        </p:nvSpPr>
        <p:spPr>
          <a:xfrm>
            <a:off x="5086350" y="5381625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975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975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9F45D"/>
                </a:solidFill>
                <a:latin typeface="Arial"/>
                <a:ea typeface="Arial"/>
                <a:cs typeface="Arial"/>
              </a:rPr>
              <a:t>bounded answer spaces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56FB231-ACCD-4C0F-8BC1-1B5D29375572}"/>
              </a:ext>
            </a:extLst>
          </p:cNvPr>
          <p:cNvSpPr>
            <a:spLocks noGrp="1"/>
          </p:cNvSpPr>
          <p:nvPr/>
        </p:nvSpPr>
        <p:spPr>
          <a:xfrm>
            <a:off x="7581900" y="5381625"/>
            <a:ext cx="3505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975" b="1" i="0">
                <a:solidFill>
                  <a:srgbClr val="F8C1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975" b="1" i="0">
                <a:solidFill>
                  <a:srgbClr val="F8C15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8C15C"/>
                </a:solidFill>
                <a:latin typeface="Arial"/>
                <a:ea typeface="Arial"/>
                <a:cs typeface="Arial"/>
              </a:rPr>
              <a:t>probabilities returned in parallel</a:t>
            </a:r>
          </a:p>
        </p:txBody>
      </p:sp>
    </p:spTree>
    <p:extLst>
      <p:ext uri="{BB962C8B-B14F-4D97-AF65-F5344CB8AC3E}">
        <p14:creationId xmlns:p14="http://schemas.microsoft.com/office/powerpoint/2010/main" val="2059887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9678E422-7B60-429A-824A-83D9A94512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B9F4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742937-8327-4851-8F56-657B7256BB70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7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B9F45D"/>
                </a:solidFill>
                <a:latin typeface="Arial"/>
                <a:ea typeface="Arial"/>
                <a:cs typeface="Arial"/>
              </a:rPr>
              <a:t>TYPED OUTPUTS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880940-F778-4E7B-8F27-EEEC1A936928}"/>
              </a:ext>
            </a:extLst>
          </p:cNvPr>
          <p:cNvSpPr>
            <a:spLocks noGrp="1"/>
          </p:cNvSpPr>
          <p:nvPr/>
        </p:nvSpPr>
        <p:spPr>
          <a:xfrm>
            <a:off x="514350" y="5905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32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32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Choice, Noul, and Score answer different questions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7D305D-63F1-4DD2-B191-8D14F1836E39}"/>
              </a:ext>
            </a:extLst>
          </p:cNvPr>
          <p:cNvSpPr>
            <a:spLocks noGrp="1"/>
          </p:cNvSpPr>
          <p:nvPr/>
        </p:nvSpPr>
        <p:spPr>
          <a:xfrm>
            <a:off x="514350" y="1304925"/>
            <a:ext cx="11163300" cy="9525"/>
          </a:xfrm>
          <a:prstGeom prst="rect">
            <a:avLst/>
          </a:prstGeom>
          <a:solidFill>
            <a:srgbClr val="26344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AB298F-AE19-4EC9-8D67-16CFF7015AD4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675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675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7E8B9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50C6A07-94DE-469F-AE4E-F37B2FC62BEF}"/>
              </a:ext>
            </a:extLst>
          </p:cNvPr>
          <p:cNvSpPr>
            <a:spLocks noGrp="1"/>
          </p:cNvSpPr>
          <p:nvPr/>
        </p:nvSpPr>
        <p:spPr>
          <a:xfrm>
            <a:off x="514350" y="1752600"/>
            <a:ext cx="3448050" cy="3429000"/>
          </a:xfrm>
          <a:prstGeom prst="roundRect">
            <a:avLst>
              <a:gd name="adj" fmla="val 3333"/>
            </a:avLst>
          </a:prstGeom>
          <a:solidFill>
            <a:srgbClr val="101826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CEB628F-3E08-4BCD-A1C4-84698B011AFE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876300" cy="238125"/>
          </a:xfrm>
          <a:prstGeom prst="roundRect">
            <a:avLst>
              <a:gd name="adj" fmla="val 48000"/>
            </a:avLst>
          </a:prstGeom>
          <a:solidFill>
            <a:srgbClr val="0D2D3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F2BB75-25EA-4852-AE3C-7B1A5A489ACF}"/>
              </a:ext>
            </a:extLst>
          </p:cNvPr>
          <p:cNvSpPr>
            <a:spLocks noGrp="1"/>
          </p:cNvSpPr>
          <p:nvPr/>
        </p:nvSpPr>
        <p:spPr>
          <a:xfrm>
            <a:off x="723900" y="1952625"/>
            <a:ext cx="8763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750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750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4D6FF"/>
                </a:solidFill>
                <a:latin typeface="Arial"/>
                <a:ea typeface="Arial"/>
                <a:cs typeface="Arial"/>
              </a:rPr>
              <a:t>CHOICE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7C32BD-1CB3-442A-B283-72D61392E498}"/>
              </a:ext>
            </a:extLst>
          </p:cNvPr>
          <p:cNvSpPr>
            <a:spLocks noGrp="1"/>
          </p:cNvSpPr>
          <p:nvPr/>
        </p:nvSpPr>
        <p:spPr>
          <a:xfrm>
            <a:off x="723900" y="2438400"/>
            <a:ext cx="3028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157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Which option best fits?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F6DD99-0EB0-4488-B8F3-A71FDDDAEEFD}"/>
              </a:ext>
            </a:extLst>
          </p:cNvPr>
          <p:cNvSpPr>
            <a:spLocks noGrp="1"/>
          </p:cNvSpPr>
          <p:nvPr/>
        </p:nvSpPr>
        <p:spPr>
          <a:xfrm>
            <a:off x="723900" y="3162300"/>
            <a:ext cx="3028950" cy="9525"/>
          </a:xfrm>
          <a:prstGeom prst="rect">
            <a:avLst/>
          </a:prstGeom>
          <a:solidFill>
            <a:srgbClr val="3444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A1A94D-A03E-4E4C-9D70-7F3FFE654DFA}"/>
              </a:ext>
            </a:extLst>
          </p:cNvPr>
          <p:cNvSpPr>
            <a:spLocks noGrp="1"/>
          </p:cNvSpPr>
          <p:nvPr/>
        </p:nvSpPr>
        <p:spPr>
          <a:xfrm>
            <a:off x="723900" y="3371850"/>
            <a:ext cx="609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750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8B9D"/>
                </a:solidFill>
                <a:latin typeface="Arial"/>
                <a:ea typeface="Arial"/>
                <a:cs typeface="Arial"/>
              </a:rPr>
              <a:t>means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E674D3-2B87-43BD-B94A-F878DD16207F}"/>
              </a:ext>
            </a:extLst>
          </p:cNvPr>
          <p:cNvSpPr>
            <a:spLocks noGrp="1"/>
          </p:cNvSpPr>
          <p:nvPr/>
        </p:nvSpPr>
        <p:spPr>
          <a:xfrm>
            <a:off x="1390650" y="3333750"/>
            <a:ext cx="2362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5000"/>
              </a:lnSpc>
              <a:buNone/>
              <a:defRPr sz="1050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one distribution across competing options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9428B3-73F7-4DE9-A6A2-52D53D40D77D}"/>
              </a:ext>
            </a:extLst>
          </p:cNvPr>
          <p:cNvSpPr>
            <a:spLocks noGrp="1"/>
          </p:cNvSpPr>
          <p:nvPr/>
        </p:nvSpPr>
        <p:spPr>
          <a:xfrm>
            <a:off x="723900" y="4133850"/>
            <a:ext cx="609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750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8B9D"/>
                </a:solidFill>
                <a:latin typeface="Arial"/>
                <a:ea typeface="Arial"/>
                <a:cs typeface="Arial"/>
              </a:rPr>
              <a:t>use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DEA76D-DBBB-4207-9C1E-0E40EA461820}"/>
              </a:ext>
            </a:extLst>
          </p:cNvPr>
          <p:cNvSpPr>
            <a:spLocks noGrp="1"/>
          </p:cNvSpPr>
          <p:nvPr/>
        </p:nvSpPr>
        <p:spPr>
          <a:xfrm>
            <a:off x="1390650" y="4095750"/>
            <a:ext cx="2362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050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4D6FF"/>
                </a:solidFill>
                <a:latin typeface="Arial"/>
                <a:ea typeface="Arial"/>
                <a:cs typeface="Arial"/>
              </a:rPr>
              <a:t>route a case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8072702-8225-4F65-B89F-7899FFA6BD57}"/>
              </a:ext>
            </a:extLst>
          </p:cNvPr>
          <p:cNvSpPr>
            <a:spLocks noGrp="1"/>
          </p:cNvSpPr>
          <p:nvPr/>
        </p:nvSpPr>
        <p:spPr>
          <a:xfrm>
            <a:off x="723900" y="4743450"/>
            <a:ext cx="3028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975" b="0" i="0">
                <a:solidFill>
                  <a:srgbClr val="F4F8F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ctr">
              <a:lnSpc>
                <a:spcPct val="105000"/>
              </a:lnSpc>
              <a:buNone/>
              <a:defRPr sz="975" b="0" i="0">
                <a:solidFill>
                  <a:srgbClr val="F4F8F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F4F8FF"/>
                </a:solidFill>
                <a:latin typeface="Courier New"/>
                <a:ea typeface="Courier New"/>
                <a:cs typeface="Courier New"/>
              </a:rPr>
              <a:t>Σ p(option) = 1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84F4099-963D-4711-817D-C2CA4BD19648}"/>
              </a:ext>
            </a:extLst>
          </p:cNvPr>
          <p:cNvSpPr>
            <a:spLocks noGrp="1"/>
          </p:cNvSpPr>
          <p:nvPr/>
        </p:nvSpPr>
        <p:spPr>
          <a:xfrm>
            <a:off x="4267200" y="1752600"/>
            <a:ext cx="3448050" cy="3429000"/>
          </a:xfrm>
          <a:prstGeom prst="roundRect">
            <a:avLst>
              <a:gd name="adj" fmla="val 3333"/>
            </a:avLst>
          </a:prstGeom>
          <a:solidFill>
            <a:srgbClr val="101826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EB6054B-0278-465A-A8EE-701AFE2022D4}"/>
              </a:ext>
            </a:extLst>
          </p:cNvPr>
          <p:cNvSpPr>
            <a:spLocks noGrp="1"/>
          </p:cNvSpPr>
          <p:nvPr/>
        </p:nvSpPr>
        <p:spPr>
          <a:xfrm>
            <a:off x="4476750" y="1943100"/>
            <a:ext cx="876300" cy="238125"/>
          </a:xfrm>
          <a:prstGeom prst="roundRect">
            <a:avLst>
              <a:gd name="adj" fmla="val 48000"/>
            </a:avLst>
          </a:prstGeom>
          <a:solidFill>
            <a:srgbClr val="12362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614F77-AD6C-4F61-B73F-C3F74F16E2AE}"/>
              </a:ext>
            </a:extLst>
          </p:cNvPr>
          <p:cNvSpPr>
            <a:spLocks noGrp="1"/>
          </p:cNvSpPr>
          <p:nvPr/>
        </p:nvSpPr>
        <p:spPr>
          <a:xfrm>
            <a:off x="4476750" y="1952625"/>
            <a:ext cx="8763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750" b="1" i="0">
                <a:solidFill>
                  <a:srgbClr val="4BE0B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750" b="1" i="0">
                <a:solidFill>
                  <a:srgbClr val="4BE0B5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4BE0B5"/>
                </a:solidFill>
                <a:latin typeface="Arial"/>
                <a:ea typeface="Arial"/>
                <a:cs typeface="Arial"/>
              </a:rPr>
              <a:t>NOUL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9901BC-614C-4143-A276-6B00EA170C4E}"/>
              </a:ext>
            </a:extLst>
          </p:cNvPr>
          <p:cNvSpPr>
            <a:spLocks noGrp="1"/>
          </p:cNvSpPr>
          <p:nvPr/>
        </p:nvSpPr>
        <p:spPr>
          <a:xfrm>
            <a:off x="4476750" y="2438400"/>
            <a:ext cx="3028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157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Does this condition hold?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EA029DE-CA2D-4711-96B2-5463FE51F11D}"/>
              </a:ext>
            </a:extLst>
          </p:cNvPr>
          <p:cNvSpPr>
            <a:spLocks noGrp="1"/>
          </p:cNvSpPr>
          <p:nvPr/>
        </p:nvSpPr>
        <p:spPr>
          <a:xfrm>
            <a:off x="4476750" y="3162300"/>
            <a:ext cx="3028950" cy="9525"/>
          </a:xfrm>
          <a:prstGeom prst="rect">
            <a:avLst/>
          </a:prstGeom>
          <a:solidFill>
            <a:srgbClr val="3444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8B82A4-0C29-4ED4-B20B-1927FC561527}"/>
              </a:ext>
            </a:extLst>
          </p:cNvPr>
          <p:cNvSpPr>
            <a:spLocks noGrp="1"/>
          </p:cNvSpPr>
          <p:nvPr/>
        </p:nvSpPr>
        <p:spPr>
          <a:xfrm>
            <a:off x="4476750" y="3371850"/>
            <a:ext cx="609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750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8B9D"/>
                </a:solidFill>
                <a:latin typeface="Arial"/>
                <a:ea typeface="Arial"/>
                <a:cs typeface="Arial"/>
              </a:rPr>
              <a:t>means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71C122-B32C-4603-8CC3-4B885490CEF8}"/>
              </a:ext>
            </a:extLst>
          </p:cNvPr>
          <p:cNvSpPr>
            <a:spLocks noGrp="1"/>
          </p:cNvSpPr>
          <p:nvPr/>
        </p:nvSpPr>
        <p:spPr>
          <a:xfrm>
            <a:off x="5143500" y="3333750"/>
            <a:ext cx="2362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5000"/>
              </a:lnSpc>
              <a:buNone/>
              <a:defRPr sz="1050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probability of true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2BDF9C6-023E-44AD-9DF6-6A3B6892D25C}"/>
              </a:ext>
            </a:extLst>
          </p:cNvPr>
          <p:cNvSpPr>
            <a:spLocks noGrp="1"/>
          </p:cNvSpPr>
          <p:nvPr/>
        </p:nvSpPr>
        <p:spPr>
          <a:xfrm>
            <a:off x="4476750" y="4133850"/>
            <a:ext cx="609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750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8B9D"/>
                </a:solidFill>
                <a:latin typeface="Arial"/>
                <a:ea typeface="Arial"/>
                <a:cs typeface="Arial"/>
              </a:rPr>
              <a:t>use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924B414-EB0D-4F22-AD20-192B5A5BE153}"/>
              </a:ext>
            </a:extLst>
          </p:cNvPr>
          <p:cNvSpPr>
            <a:spLocks noGrp="1"/>
          </p:cNvSpPr>
          <p:nvPr/>
        </p:nvSpPr>
        <p:spPr>
          <a:xfrm>
            <a:off x="5143500" y="4095750"/>
            <a:ext cx="2362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1" i="0">
                <a:solidFill>
                  <a:srgbClr val="4BE0B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050" b="1" i="0">
                <a:solidFill>
                  <a:srgbClr val="4BE0B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BE0B5"/>
                </a:solidFill>
                <a:latin typeface="Arial"/>
                <a:ea typeface="Arial"/>
                <a:cs typeface="Arial"/>
              </a:rPr>
              <a:t>check several labels independently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B7018B3-1254-44E6-B779-74A7C4E8ACBB}"/>
              </a:ext>
            </a:extLst>
          </p:cNvPr>
          <p:cNvSpPr>
            <a:spLocks noGrp="1"/>
          </p:cNvSpPr>
          <p:nvPr/>
        </p:nvSpPr>
        <p:spPr>
          <a:xfrm>
            <a:off x="4476750" y="4743450"/>
            <a:ext cx="3028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975" b="0" i="0">
                <a:solidFill>
                  <a:srgbClr val="F4F8F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ctr">
              <a:lnSpc>
                <a:spcPct val="105000"/>
              </a:lnSpc>
              <a:buNone/>
              <a:defRPr sz="975" b="0" i="0">
                <a:solidFill>
                  <a:srgbClr val="F4F8F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F4F8FF"/>
                </a:solidFill>
                <a:latin typeface="Courier New"/>
                <a:ea typeface="Courier New"/>
                <a:cs typeface="Courier New"/>
              </a:rPr>
              <a:t>p(true) ∈ [0,1]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F891D58-8162-426B-9582-563D2AF14110}"/>
              </a:ext>
            </a:extLst>
          </p:cNvPr>
          <p:cNvSpPr>
            <a:spLocks noGrp="1"/>
          </p:cNvSpPr>
          <p:nvPr/>
        </p:nvSpPr>
        <p:spPr>
          <a:xfrm>
            <a:off x="8020050" y="1752600"/>
            <a:ext cx="3448050" cy="3429000"/>
          </a:xfrm>
          <a:prstGeom prst="roundRect">
            <a:avLst>
              <a:gd name="adj" fmla="val 3333"/>
            </a:avLst>
          </a:prstGeom>
          <a:solidFill>
            <a:srgbClr val="101826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E08CA611-8117-4D39-AF2B-90B7A8E13728}"/>
              </a:ext>
            </a:extLst>
          </p:cNvPr>
          <p:cNvSpPr>
            <a:spLocks noGrp="1"/>
          </p:cNvSpPr>
          <p:nvPr/>
        </p:nvSpPr>
        <p:spPr>
          <a:xfrm>
            <a:off x="8229600" y="1943100"/>
            <a:ext cx="876300" cy="238125"/>
          </a:xfrm>
          <a:prstGeom prst="roundRect">
            <a:avLst>
              <a:gd name="adj" fmla="val 48000"/>
            </a:avLst>
          </a:prstGeom>
          <a:solidFill>
            <a:srgbClr val="251F4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CFDADA0-AA53-4DC5-8322-4A8A108E63C0}"/>
              </a:ext>
            </a:extLst>
          </p:cNvPr>
          <p:cNvSpPr>
            <a:spLocks noGrp="1"/>
          </p:cNvSpPr>
          <p:nvPr/>
        </p:nvSpPr>
        <p:spPr>
          <a:xfrm>
            <a:off x="8229600" y="1952625"/>
            <a:ext cx="8763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750" b="1" i="0">
                <a:solidFill>
                  <a:srgbClr val="AA8B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750" b="1" i="0">
                <a:solidFill>
                  <a:srgbClr val="AA8B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AA8BFF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B7FD1DC-7FDB-4F0B-B5C7-2BE51DA2857C}"/>
              </a:ext>
            </a:extLst>
          </p:cNvPr>
          <p:cNvSpPr>
            <a:spLocks noGrp="1"/>
          </p:cNvSpPr>
          <p:nvPr/>
        </p:nvSpPr>
        <p:spPr>
          <a:xfrm>
            <a:off x="8229600" y="2438400"/>
            <a:ext cx="3028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157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Where does this fall on a scale?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CA6D8E9-0874-4481-8D51-141BA3A6120C}"/>
              </a:ext>
            </a:extLst>
          </p:cNvPr>
          <p:cNvSpPr>
            <a:spLocks noGrp="1"/>
          </p:cNvSpPr>
          <p:nvPr/>
        </p:nvSpPr>
        <p:spPr>
          <a:xfrm>
            <a:off x="8229600" y="3162300"/>
            <a:ext cx="3028950" cy="9525"/>
          </a:xfrm>
          <a:prstGeom prst="rect">
            <a:avLst/>
          </a:prstGeom>
          <a:solidFill>
            <a:srgbClr val="3444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31191E6-00E4-426F-B559-84C208D4181F}"/>
              </a:ext>
            </a:extLst>
          </p:cNvPr>
          <p:cNvSpPr>
            <a:spLocks noGrp="1"/>
          </p:cNvSpPr>
          <p:nvPr/>
        </p:nvSpPr>
        <p:spPr>
          <a:xfrm>
            <a:off x="8229600" y="3371850"/>
            <a:ext cx="609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750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8B9D"/>
                </a:solidFill>
                <a:latin typeface="Arial"/>
                <a:ea typeface="Arial"/>
                <a:cs typeface="Arial"/>
              </a:rPr>
              <a:t>means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5F9E6F4-AA7D-4436-8A34-C203560A1D86}"/>
              </a:ext>
            </a:extLst>
          </p:cNvPr>
          <p:cNvSpPr>
            <a:spLocks noGrp="1"/>
          </p:cNvSpPr>
          <p:nvPr/>
        </p:nvSpPr>
        <p:spPr>
          <a:xfrm>
            <a:off x="8896350" y="3333750"/>
            <a:ext cx="2362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5000"/>
              </a:lnSpc>
              <a:buNone/>
              <a:defRPr sz="1050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distribution across ordered levels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8658955-1E6E-486F-B494-5391DCFE0B21}"/>
              </a:ext>
            </a:extLst>
          </p:cNvPr>
          <p:cNvSpPr>
            <a:spLocks noGrp="1"/>
          </p:cNvSpPr>
          <p:nvPr/>
        </p:nvSpPr>
        <p:spPr>
          <a:xfrm>
            <a:off x="8229600" y="4133850"/>
            <a:ext cx="609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750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8B9D"/>
                </a:solidFill>
                <a:latin typeface="Arial"/>
                <a:ea typeface="Arial"/>
                <a:cs typeface="Arial"/>
              </a:rPr>
              <a:t>use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FE3BF24-0351-4642-9DE7-885B708C4960}"/>
              </a:ext>
            </a:extLst>
          </p:cNvPr>
          <p:cNvSpPr>
            <a:spLocks noGrp="1"/>
          </p:cNvSpPr>
          <p:nvPr/>
        </p:nvSpPr>
        <p:spPr>
          <a:xfrm>
            <a:off x="8896350" y="4095750"/>
            <a:ext cx="2362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1" i="0">
                <a:solidFill>
                  <a:srgbClr val="AA8B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050" b="1" i="0">
                <a:solidFill>
                  <a:srgbClr val="AA8B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8BFF"/>
                </a:solidFill>
                <a:latin typeface="Arial"/>
                <a:ea typeface="Arial"/>
                <a:cs typeface="Arial"/>
              </a:rPr>
              <a:t>severity or quality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4341121-A03A-4422-9675-6F6C3D90F0C4}"/>
              </a:ext>
            </a:extLst>
          </p:cNvPr>
          <p:cNvSpPr>
            <a:spLocks noGrp="1"/>
          </p:cNvSpPr>
          <p:nvPr/>
        </p:nvSpPr>
        <p:spPr>
          <a:xfrm>
            <a:off x="8229600" y="4743450"/>
            <a:ext cx="3028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975" b="0" i="0">
                <a:solidFill>
                  <a:srgbClr val="F4F8F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ctr">
              <a:lnSpc>
                <a:spcPct val="105000"/>
              </a:lnSpc>
              <a:buNone/>
              <a:defRPr sz="975" b="0" i="0">
                <a:solidFill>
                  <a:srgbClr val="F4F8F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F4F8FF"/>
                </a:solidFill>
                <a:latin typeface="Courier New"/>
                <a:ea typeface="Courier New"/>
                <a:cs typeface="Courier New"/>
              </a:rPr>
              <a:t>score = weighted average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7994F6A-F3C1-4237-952D-8036EF79D4C6}"/>
              </a:ext>
            </a:extLst>
          </p:cNvPr>
          <p:cNvSpPr>
            <a:spLocks noGrp="1"/>
          </p:cNvSpPr>
          <p:nvPr/>
        </p:nvSpPr>
        <p:spPr>
          <a:xfrm>
            <a:off x="514350" y="5619750"/>
            <a:ext cx="1082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7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127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The full distribution matters. A selected label alone discards uncertainty and competing explanations.</a:t>
            </a:r>
          </a:p>
        </p:txBody>
      </p:sp>
    </p:spTree>
    <p:extLst>
      <p:ext uri="{BB962C8B-B14F-4D97-AF65-F5344CB8AC3E}">
        <p14:creationId xmlns:p14="http://schemas.microsoft.com/office/powerpoint/2010/main" val="1325500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FC8B4423-BF16-453B-AB92-DCD4CD4910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B9F4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231019-085E-4351-A2DB-12BB6D921895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7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B9F45D"/>
                </a:solidFill>
                <a:latin typeface="Arial"/>
                <a:ea typeface="Arial"/>
                <a:cs typeface="Arial"/>
              </a:rPr>
              <a:t>REQUEST LIFECYCLE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11B748-BBBF-47F0-82ED-F2B8C6AEBE17}"/>
              </a:ext>
            </a:extLst>
          </p:cNvPr>
          <p:cNvSpPr>
            <a:spLocks noGrp="1"/>
          </p:cNvSpPr>
          <p:nvPr/>
        </p:nvSpPr>
        <p:spPr>
          <a:xfrm>
            <a:off x="514350" y="5905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32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32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One call can answer many questions over the same state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34DAB1-C111-41B0-B21A-ABF2CC016905}"/>
              </a:ext>
            </a:extLst>
          </p:cNvPr>
          <p:cNvSpPr>
            <a:spLocks noGrp="1"/>
          </p:cNvSpPr>
          <p:nvPr/>
        </p:nvSpPr>
        <p:spPr>
          <a:xfrm>
            <a:off x="514350" y="1304925"/>
            <a:ext cx="11163300" cy="9525"/>
          </a:xfrm>
          <a:prstGeom prst="rect">
            <a:avLst/>
          </a:prstGeom>
          <a:solidFill>
            <a:srgbClr val="26344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02F368-613F-46DD-A63F-CE6682494DFC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675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675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7E8B9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C3BF965-16CD-4EA1-951A-DEAEDAB0E32A}"/>
              </a:ext>
            </a:extLst>
          </p:cNvPr>
          <p:cNvSpPr>
            <a:spLocks noGrp="1"/>
          </p:cNvSpPr>
          <p:nvPr/>
        </p:nvSpPr>
        <p:spPr>
          <a:xfrm>
            <a:off x="514350" y="1924050"/>
            <a:ext cx="2457450" cy="2324100"/>
          </a:xfrm>
          <a:prstGeom prst="roundRect">
            <a:avLst>
              <a:gd name="adj" fmla="val 4918"/>
            </a:avLst>
          </a:prstGeom>
          <a:solidFill>
            <a:srgbClr val="101826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863FFD-68D9-404D-B3AA-3ABD8A355070}"/>
              </a:ext>
            </a:extLst>
          </p:cNvPr>
          <p:cNvSpPr>
            <a:spLocks noGrp="1"/>
          </p:cNvSpPr>
          <p:nvPr/>
        </p:nvSpPr>
        <p:spPr>
          <a:xfrm>
            <a:off x="704850" y="2114550"/>
            <a:ext cx="361950" cy="361950"/>
          </a:xfrm>
          <a:prstGeom prst="ellipse">
            <a:avLst/>
          </a:prstGeom>
          <a:solidFill>
            <a:srgbClr val="B9F4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2DC10D-6C48-494F-850A-D6B549688EF1}"/>
              </a:ext>
            </a:extLst>
          </p:cNvPr>
          <p:cNvSpPr>
            <a:spLocks noGrp="1"/>
          </p:cNvSpPr>
          <p:nvPr/>
        </p:nvSpPr>
        <p:spPr>
          <a:xfrm>
            <a:off x="704850" y="2152650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050" b="1" i="0">
                <a:solidFill>
                  <a:srgbClr val="070B1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1050" b="1" i="0">
                <a:solidFill>
                  <a:srgbClr val="070B1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70B1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C60664-A9C8-4AAC-BE2E-201484971581}"/>
              </a:ext>
            </a:extLst>
          </p:cNvPr>
          <p:cNvSpPr>
            <a:spLocks noGrp="1"/>
          </p:cNvSpPr>
          <p:nvPr/>
        </p:nvSpPr>
        <p:spPr>
          <a:xfrm>
            <a:off x="704850" y="2724150"/>
            <a:ext cx="2076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0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B9F45D"/>
                </a:solidFill>
                <a:latin typeface="Arial"/>
                <a:ea typeface="Arial"/>
                <a:cs typeface="Arial"/>
              </a:rPr>
              <a:t>Encode state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09069D-A72C-4A95-A3CF-3D1ED09C59D0}"/>
              </a:ext>
            </a:extLst>
          </p:cNvPr>
          <p:cNvSpPr>
            <a:spLocks noGrp="1"/>
          </p:cNvSpPr>
          <p:nvPr/>
        </p:nvSpPr>
        <p:spPr>
          <a:xfrm>
            <a:off x="704850" y="3238500"/>
            <a:ext cx="20764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20000"/>
              </a:lnSpc>
              <a:buNone/>
              <a:defRPr sz="97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Build one contextual representation of the application state.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724BEC-EB38-41E0-8A45-7E631678839E}"/>
              </a:ext>
            </a:extLst>
          </p:cNvPr>
          <p:cNvSpPr>
            <a:spLocks noGrp="1"/>
          </p:cNvSpPr>
          <p:nvPr/>
        </p:nvSpPr>
        <p:spPr>
          <a:xfrm>
            <a:off x="2971800" y="3067050"/>
            <a:ext cx="266700" cy="28575"/>
          </a:xfrm>
          <a:prstGeom prst="rect">
            <a:avLst/>
          </a:prstGeom>
          <a:solidFill>
            <a:srgbClr val="3444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F013256-7F26-4E6B-AAFD-1A7FBA639456}"/>
              </a:ext>
            </a:extLst>
          </p:cNvPr>
          <p:cNvSpPr>
            <a:spLocks noGrp="1"/>
          </p:cNvSpPr>
          <p:nvPr/>
        </p:nvSpPr>
        <p:spPr>
          <a:xfrm>
            <a:off x="3238500" y="1924050"/>
            <a:ext cx="2457450" cy="2324100"/>
          </a:xfrm>
          <a:prstGeom prst="roundRect">
            <a:avLst>
              <a:gd name="adj" fmla="val 4918"/>
            </a:avLst>
          </a:prstGeom>
          <a:solidFill>
            <a:srgbClr val="101826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9CF0F8B-4FF4-494B-8766-C0472F7268A8}"/>
              </a:ext>
            </a:extLst>
          </p:cNvPr>
          <p:cNvSpPr>
            <a:spLocks noGrp="1"/>
          </p:cNvSpPr>
          <p:nvPr/>
        </p:nvSpPr>
        <p:spPr>
          <a:xfrm>
            <a:off x="3429000" y="2114550"/>
            <a:ext cx="361950" cy="361950"/>
          </a:xfrm>
          <a:prstGeom prst="ellipse">
            <a:avLst/>
          </a:prstGeom>
          <a:solidFill>
            <a:srgbClr val="54D6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496790-7C05-4834-8BF1-E279913C51EF}"/>
              </a:ext>
            </a:extLst>
          </p:cNvPr>
          <p:cNvSpPr>
            <a:spLocks noGrp="1"/>
          </p:cNvSpPr>
          <p:nvPr/>
        </p:nvSpPr>
        <p:spPr>
          <a:xfrm>
            <a:off x="3429000" y="2152650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050" b="1" i="0">
                <a:solidFill>
                  <a:srgbClr val="070B1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1050" b="1" i="0">
                <a:solidFill>
                  <a:srgbClr val="070B1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70B1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1D45A4-2030-496C-808C-D6CFAEFF72F4}"/>
              </a:ext>
            </a:extLst>
          </p:cNvPr>
          <p:cNvSpPr>
            <a:spLocks noGrp="1"/>
          </p:cNvSpPr>
          <p:nvPr/>
        </p:nvSpPr>
        <p:spPr>
          <a:xfrm>
            <a:off x="3429000" y="2724150"/>
            <a:ext cx="2076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00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4D6FF"/>
                </a:solidFill>
                <a:latin typeface="Arial"/>
                <a:ea typeface="Arial"/>
                <a:cs typeface="Arial"/>
              </a:rPr>
              <a:t>Attach questions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B1AD0F-5A3C-4499-9E7C-D91E083B09E7}"/>
              </a:ext>
            </a:extLst>
          </p:cNvPr>
          <p:cNvSpPr>
            <a:spLocks noGrp="1"/>
          </p:cNvSpPr>
          <p:nvPr/>
        </p:nvSpPr>
        <p:spPr>
          <a:xfrm>
            <a:off x="3429000" y="3238500"/>
            <a:ext cx="20764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20000"/>
              </a:lnSpc>
              <a:buNone/>
              <a:defRPr sz="97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Each question carries its instructions and answer space.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5B85A6-468B-410E-B5E1-E158CEB92CC7}"/>
              </a:ext>
            </a:extLst>
          </p:cNvPr>
          <p:cNvSpPr>
            <a:spLocks noGrp="1"/>
          </p:cNvSpPr>
          <p:nvPr/>
        </p:nvSpPr>
        <p:spPr>
          <a:xfrm>
            <a:off x="5695950" y="3067050"/>
            <a:ext cx="266700" cy="28575"/>
          </a:xfrm>
          <a:prstGeom prst="rect">
            <a:avLst/>
          </a:prstGeom>
          <a:solidFill>
            <a:srgbClr val="3444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6A13D39-5BDC-403F-8934-BCEF58607EA9}"/>
              </a:ext>
            </a:extLst>
          </p:cNvPr>
          <p:cNvSpPr>
            <a:spLocks noGrp="1"/>
          </p:cNvSpPr>
          <p:nvPr/>
        </p:nvSpPr>
        <p:spPr>
          <a:xfrm>
            <a:off x="5962650" y="1924050"/>
            <a:ext cx="2457450" cy="2324100"/>
          </a:xfrm>
          <a:prstGeom prst="roundRect">
            <a:avLst>
              <a:gd name="adj" fmla="val 4918"/>
            </a:avLst>
          </a:prstGeom>
          <a:solidFill>
            <a:srgbClr val="101826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A67423B-9B1E-4067-947B-07712F7DBFC1}"/>
              </a:ext>
            </a:extLst>
          </p:cNvPr>
          <p:cNvSpPr>
            <a:spLocks noGrp="1"/>
          </p:cNvSpPr>
          <p:nvPr/>
        </p:nvSpPr>
        <p:spPr>
          <a:xfrm>
            <a:off x="6153150" y="2114550"/>
            <a:ext cx="361950" cy="361950"/>
          </a:xfrm>
          <a:prstGeom prst="ellipse">
            <a:avLst/>
          </a:prstGeom>
          <a:solidFill>
            <a:srgbClr val="AA8B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0A369E-51D3-46DE-A64F-E94D7B127679}"/>
              </a:ext>
            </a:extLst>
          </p:cNvPr>
          <p:cNvSpPr>
            <a:spLocks noGrp="1"/>
          </p:cNvSpPr>
          <p:nvPr/>
        </p:nvSpPr>
        <p:spPr>
          <a:xfrm>
            <a:off x="6153150" y="2152650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050" b="1" i="0">
                <a:solidFill>
                  <a:srgbClr val="070B1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1050" b="1" i="0">
                <a:solidFill>
                  <a:srgbClr val="070B1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70B1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196AE0D-F8D5-4D18-B65A-40C08666CA4F}"/>
              </a:ext>
            </a:extLst>
          </p:cNvPr>
          <p:cNvSpPr>
            <a:spLocks noGrp="1"/>
          </p:cNvSpPr>
          <p:nvPr/>
        </p:nvSpPr>
        <p:spPr>
          <a:xfrm>
            <a:off x="6153150" y="2724150"/>
            <a:ext cx="2076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1" i="0">
                <a:solidFill>
                  <a:srgbClr val="AA8B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00" b="1" i="0">
                <a:solidFill>
                  <a:srgbClr val="AA8B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AA8BFF"/>
                </a:solidFill>
                <a:latin typeface="Arial"/>
                <a:ea typeface="Arial"/>
                <a:cs typeface="Arial"/>
              </a:rPr>
              <a:t>Score candidates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B66C53-7772-4656-B7A2-867F2A6F0D3F}"/>
              </a:ext>
            </a:extLst>
          </p:cNvPr>
          <p:cNvSpPr>
            <a:spLocks noGrp="1"/>
          </p:cNvSpPr>
          <p:nvPr/>
        </p:nvSpPr>
        <p:spPr>
          <a:xfrm>
            <a:off x="6153150" y="3238500"/>
            <a:ext cx="20764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20000"/>
              </a:lnSpc>
              <a:buNone/>
              <a:defRPr sz="97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The model compares every legal answer against the state.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E30C2E3-1B1A-457B-8BD1-12C0BBC9209A}"/>
              </a:ext>
            </a:extLst>
          </p:cNvPr>
          <p:cNvSpPr>
            <a:spLocks noGrp="1"/>
          </p:cNvSpPr>
          <p:nvPr/>
        </p:nvSpPr>
        <p:spPr>
          <a:xfrm>
            <a:off x="8420100" y="3067050"/>
            <a:ext cx="266700" cy="28575"/>
          </a:xfrm>
          <a:prstGeom prst="rect">
            <a:avLst/>
          </a:prstGeom>
          <a:solidFill>
            <a:srgbClr val="3444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48283462-A74B-4ED5-AA51-58FF1435F845}"/>
              </a:ext>
            </a:extLst>
          </p:cNvPr>
          <p:cNvSpPr>
            <a:spLocks noGrp="1"/>
          </p:cNvSpPr>
          <p:nvPr/>
        </p:nvSpPr>
        <p:spPr>
          <a:xfrm>
            <a:off x="8686800" y="1924050"/>
            <a:ext cx="2457450" cy="2324100"/>
          </a:xfrm>
          <a:prstGeom prst="roundRect">
            <a:avLst>
              <a:gd name="adj" fmla="val 4918"/>
            </a:avLst>
          </a:prstGeom>
          <a:solidFill>
            <a:srgbClr val="101826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0B72592-298C-44FC-BEE7-0E8EDD9D5623}"/>
              </a:ext>
            </a:extLst>
          </p:cNvPr>
          <p:cNvSpPr>
            <a:spLocks noGrp="1"/>
          </p:cNvSpPr>
          <p:nvPr/>
        </p:nvSpPr>
        <p:spPr>
          <a:xfrm>
            <a:off x="8877300" y="2114550"/>
            <a:ext cx="361950" cy="361950"/>
          </a:xfrm>
          <a:prstGeom prst="ellipse">
            <a:avLst/>
          </a:prstGeom>
          <a:solidFill>
            <a:srgbClr val="F8C15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15438FB-1E1D-40A1-B31E-58B617478470}"/>
              </a:ext>
            </a:extLst>
          </p:cNvPr>
          <p:cNvSpPr>
            <a:spLocks noGrp="1"/>
          </p:cNvSpPr>
          <p:nvPr/>
        </p:nvSpPr>
        <p:spPr>
          <a:xfrm>
            <a:off x="8877300" y="2152650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050" b="1" i="0">
                <a:solidFill>
                  <a:srgbClr val="070B1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1050" b="1" i="0">
                <a:solidFill>
                  <a:srgbClr val="070B1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70B1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DA86EBF-3F56-49F7-8458-531A67C5AF3D}"/>
              </a:ext>
            </a:extLst>
          </p:cNvPr>
          <p:cNvSpPr>
            <a:spLocks noGrp="1"/>
          </p:cNvSpPr>
          <p:nvPr/>
        </p:nvSpPr>
        <p:spPr>
          <a:xfrm>
            <a:off x="8877300" y="2724150"/>
            <a:ext cx="2076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1" i="0">
                <a:solidFill>
                  <a:srgbClr val="F8C15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500" b="1" i="0">
                <a:solidFill>
                  <a:srgbClr val="F8C15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8C15C"/>
                </a:solidFill>
                <a:latin typeface="Arial"/>
                <a:ea typeface="Arial"/>
                <a:cs typeface="Arial"/>
              </a:rPr>
              <a:t>Calibrate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FB01DF6-013D-4D44-9E2B-72E04DD7AF9F}"/>
              </a:ext>
            </a:extLst>
          </p:cNvPr>
          <p:cNvSpPr>
            <a:spLocks noGrp="1"/>
          </p:cNvSpPr>
          <p:nvPr/>
        </p:nvSpPr>
        <p:spPr>
          <a:xfrm>
            <a:off x="8877300" y="3238500"/>
            <a:ext cx="20764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20000"/>
              </a:lnSpc>
              <a:buNone/>
              <a:defRPr sz="97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Scores become normalized probabilities and typed results.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63D18022-2657-48D5-AF43-F07B3E0BE91A}"/>
              </a:ext>
            </a:extLst>
          </p:cNvPr>
          <p:cNvSpPr>
            <a:spLocks noGrp="1"/>
          </p:cNvSpPr>
          <p:nvPr/>
        </p:nvSpPr>
        <p:spPr>
          <a:xfrm>
            <a:off x="514350" y="4686300"/>
            <a:ext cx="10820400" cy="895350"/>
          </a:xfrm>
          <a:prstGeom prst="roundRect">
            <a:avLst>
              <a:gd name="adj" fmla="val 12766"/>
            </a:avLst>
          </a:prstGeom>
          <a:solidFill>
            <a:srgbClr val="0C121D"/>
          </a:solidFill>
          <a:ln w="9525">
            <a:solidFill>
              <a:srgbClr val="3444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EBC7A36-3B4B-4BBD-8455-019841DDEA9A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403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00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F4F8FF"/>
                </a:solidFill>
                <a:latin typeface="Arial"/>
                <a:ea typeface="Arial"/>
                <a:cs typeface="Arial"/>
              </a:rPr>
              <a:t>Questions are independent inside the call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AE6BAD5-E213-45E1-9248-D51AA27076F3}"/>
              </a:ext>
            </a:extLst>
          </p:cNvPr>
          <p:cNvSpPr>
            <a:spLocks noGrp="1"/>
          </p:cNvSpPr>
          <p:nvPr/>
        </p:nvSpPr>
        <p:spPr>
          <a:xfrm>
            <a:off x="4933950" y="4819650"/>
            <a:ext cx="6153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8000"/>
              </a:lnSpc>
              <a:buNone/>
              <a:defRPr sz="97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They share state and compute, but one question cannot consume another question's answer until the application makes a second call.</a:t>
            </a:r>
          </a:p>
        </p:txBody>
      </p:sp>
    </p:spTree>
    <p:extLst>
      <p:ext uri="{BB962C8B-B14F-4D97-AF65-F5344CB8AC3E}">
        <p14:creationId xmlns:p14="http://schemas.microsoft.com/office/powerpoint/2010/main" val="255543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519B889-F946-41AF-922A-1FF38EF28F8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B9F4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B18F5B-CC4B-4C12-B492-80B8D83B89BF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7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B9F45D"/>
                </a:solidFill>
                <a:latin typeface="Arial"/>
                <a:ea typeface="Arial"/>
                <a:cs typeface="Arial"/>
              </a:rPr>
              <a:t>WHY IT CAN BE FAST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53E052-E6F8-481F-8A7B-C546D51AF489}"/>
              </a:ext>
            </a:extLst>
          </p:cNvPr>
          <p:cNvSpPr>
            <a:spLocks noGrp="1"/>
          </p:cNvSpPr>
          <p:nvPr/>
        </p:nvSpPr>
        <p:spPr>
          <a:xfrm>
            <a:off x="514350" y="5905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550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Three design choices explain the speed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22D8F8-F691-4F18-87ED-60A86A0AF359}"/>
              </a:ext>
            </a:extLst>
          </p:cNvPr>
          <p:cNvSpPr>
            <a:spLocks noGrp="1"/>
          </p:cNvSpPr>
          <p:nvPr/>
        </p:nvSpPr>
        <p:spPr>
          <a:xfrm>
            <a:off x="514350" y="1304925"/>
            <a:ext cx="11163300" cy="9525"/>
          </a:xfrm>
          <a:prstGeom prst="rect">
            <a:avLst/>
          </a:prstGeom>
          <a:solidFill>
            <a:srgbClr val="26344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6DF601-08E2-407C-9DF0-2212EF8E429F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675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675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7E8B9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79E4A28-C016-4E26-9BCE-2E908E09F9A1}"/>
              </a:ext>
            </a:extLst>
          </p:cNvPr>
          <p:cNvSpPr>
            <a:spLocks noGrp="1"/>
          </p:cNvSpPr>
          <p:nvPr/>
        </p:nvSpPr>
        <p:spPr>
          <a:xfrm>
            <a:off x="514350" y="1809750"/>
            <a:ext cx="3448050" cy="3028950"/>
          </a:xfrm>
          <a:prstGeom prst="roundRect">
            <a:avLst>
              <a:gd name="adj" fmla="val 3774"/>
            </a:avLst>
          </a:prstGeom>
          <a:solidFill>
            <a:srgbClr val="101826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27DB93-FC0E-4FB6-9AC7-9EA7F0249550}"/>
              </a:ext>
            </a:extLst>
          </p:cNvPr>
          <p:cNvSpPr>
            <a:spLocks noGrp="1"/>
          </p:cNvSpPr>
          <p:nvPr/>
        </p:nvSpPr>
        <p:spPr>
          <a:xfrm>
            <a:off x="723900" y="2038350"/>
            <a:ext cx="3028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125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9F45D"/>
                </a:solidFill>
                <a:latin typeface="Arial"/>
                <a:ea typeface="Arial"/>
                <a:cs typeface="Arial"/>
              </a:rPr>
              <a:t>NO TEXT GENERATION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E9E116-CB4F-4AC5-9AB1-4AF5614E3164}"/>
              </a:ext>
            </a:extLst>
          </p:cNvPr>
          <p:cNvSpPr>
            <a:spLocks noGrp="1"/>
          </p:cNvSpPr>
          <p:nvPr/>
        </p:nvSpPr>
        <p:spPr>
          <a:xfrm>
            <a:off x="723900" y="2571750"/>
            <a:ext cx="30289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8000"/>
              </a:lnSpc>
              <a:buNone/>
              <a:defRPr sz="127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The system reads decision scores instead of producing a JSON string token by token.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B9790F-5392-43EF-A5D4-772E07DFC0D6}"/>
              </a:ext>
            </a:extLst>
          </p:cNvPr>
          <p:cNvSpPr>
            <a:spLocks noGrp="1"/>
          </p:cNvSpPr>
          <p:nvPr/>
        </p:nvSpPr>
        <p:spPr>
          <a:xfrm>
            <a:off x="723900" y="3867150"/>
            <a:ext cx="3028950" cy="9525"/>
          </a:xfrm>
          <a:prstGeom prst="rect">
            <a:avLst/>
          </a:prstGeom>
          <a:solidFill>
            <a:srgbClr val="3444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D0ECC0-661E-495C-BE1E-6BEA142BC91F}"/>
              </a:ext>
            </a:extLst>
          </p:cNvPr>
          <p:cNvSpPr>
            <a:spLocks noGrp="1"/>
          </p:cNvSpPr>
          <p:nvPr/>
        </p:nvSpPr>
        <p:spPr>
          <a:xfrm>
            <a:off x="723900" y="4152900"/>
            <a:ext cx="3028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975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ctr">
              <a:lnSpc>
                <a:spcPct val="105000"/>
              </a:lnSpc>
              <a:buNone/>
              <a:defRPr sz="975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rPr>
              <a:t>bounded decode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0B5C4F5-394A-4921-BCAC-A7FD8695B231}"/>
              </a:ext>
            </a:extLst>
          </p:cNvPr>
          <p:cNvSpPr>
            <a:spLocks noGrp="1"/>
          </p:cNvSpPr>
          <p:nvPr/>
        </p:nvSpPr>
        <p:spPr>
          <a:xfrm>
            <a:off x="4267200" y="1809750"/>
            <a:ext cx="3448050" cy="3028950"/>
          </a:xfrm>
          <a:prstGeom prst="roundRect">
            <a:avLst>
              <a:gd name="adj" fmla="val 3774"/>
            </a:avLst>
          </a:prstGeom>
          <a:solidFill>
            <a:srgbClr val="101826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A1A340-A258-4186-9B1E-D717FC37C233}"/>
              </a:ext>
            </a:extLst>
          </p:cNvPr>
          <p:cNvSpPr>
            <a:spLocks noGrp="1"/>
          </p:cNvSpPr>
          <p:nvPr/>
        </p:nvSpPr>
        <p:spPr>
          <a:xfrm>
            <a:off x="4476750" y="2038350"/>
            <a:ext cx="3028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125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4D6FF"/>
                </a:solidFill>
                <a:latin typeface="Arial"/>
                <a:ea typeface="Arial"/>
                <a:cs typeface="Arial"/>
              </a:rPr>
              <a:t>SHARED STATE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7DDDF3-0C7B-4A1D-9C33-B4F39826EEE6}"/>
              </a:ext>
            </a:extLst>
          </p:cNvPr>
          <p:cNvSpPr>
            <a:spLocks noGrp="1"/>
          </p:cNvSpPr>
          <p:nvPr/>
        </p:nvSpPr>
        <p:spPr>
          <a:xfrm>
            <a:off x="4476750" y="2571750"/>
            <a:ext cx="30289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8000"/>
              </a:lnSpc>
              <a:buNone/>
              <a:defRPr sz="127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The expensive state representation can serve many questions in the same request.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4459D0-D565-424D-9287-B014F7584AF5}"/>
              </a:ext>
            </a:extLst>
          </p:cNvPr>
          <p:cNvSpPr>
            <a:spLocks noGrp="1"/>
          </p:cNvSpPr>
          <p:nvPr/>
        </p:nvSpPr>
        <p:spPr>
          <a:xfrm>
            <a:off x="4476750" y="3867150"/>
            <a:ext cx="3028950" cy="9525"/>
          </a:xfrm>
          <a:prstGeom prst="rect">
            <a:avLst/>
          </a:prstGeom>
          <a:solidFill>
            <a:srgbClr val="3444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B1B6CD-9786-4EAD-9978-06405AA0FFE8}"/>
              </a:ext>
            </a:extLst>
          </p:cNvPr>
          <p:cNvSpPr>
            <a:spLocks noGrp="1"/>
          </p:cNvSpPr>
          <p:nvPr/>
        </p:nvSpPr>
        <p:spPr>
          <a:xfrm>
            <a:off x="4476750" y="4152900"/>
            <a:ext cx="3028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975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ctr">
              <a:lnSpc>
                <a:spcPct val="105000"/>
              </a:lnSpc>
              <a:buNone/>
              <a:defRPr sz="975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rPr>
              <a:t>reuse prefill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1E3E7C8-7B7F-4186-9FDE-5D6460318698}"/>
              </a:ext>
            </a:extLst>
          </p:cNvPr>
          <p:cNvSpPr>
            <a:spLocks noGrp="1"/>
          </p:cNvSpPr>
          <p:nvPr/>
        </p:nvSpPr>
        <p:spPr>
          <a:xfrm>
            <a:off x="8020050" y="1809750"/>
            <a:ext cx="3448050" cy="3028950"/>
          </a:xfrm>
          <a:prstGeom prst="roundRect">
            <a:avLst>
              <a:gd name="adj" fmla="val 3774"/>
            </a:avLst>
          </a:prstGeom>
          <a:solidFill>
            <a:srgbClr val="101826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8349A9-235F-45F1-9CE7-E92BC1152E53}"/>
              </a:ext>
            </a:extLst>
          </p:cNvPr>
          <p:cNvSpPr>
            <a:spLocks noGrp="1"/>
          </p:cNvSpPr>
          <p:nvPr/>
        </p:nvSpPr>
        <p:spPr>
          <a:xfrm>
            <a:off x="8229600" y="2038350"/>
            <a:ext cx="3028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 i="0">
                <a:solidFill>
                  <a:srgbClr val="AA8B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125" b="1" i="0">
                <a:solidFill>
                  <a:srgbClr val="AA8B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AA8BFF"/>
                </a:solidFill>
                <a:latin typeface="Arial"/>
                <a:ea typeface="Arial"/>
                <a:cs typeface="Arial"/>
              </a:rPr>
              <a:t>PARALLEL READOUT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BF1A3A1-00BD-4BBC-B76C-F81A44E39894}"/>
              </a:ext>
            </a:extLst>
          </p:cNvPr>
          <p:cNvSpPr>
            <a:spLocks noGrp="1"/>
          </p:cNvSpPr>
          <p:nvPr/>
        </p:nvSpPr>
        <p:spPr>
          <a:xfrm>
            <a:off x="8229600" y="2571750"/>
            <a:ext cx="30289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8000"/>
              </a:lnSpc>
              <a:buNone/>
              <a:defRPr sz="127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Question and option scores can be batched or computed by a joint decision head.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4543485-AF9C-4317-80DF-C5FFBF8DF5A2}"/>
              </a:ext>
            </a:extLst>
          </p:cNvPr>
          <p:cNvSpPr>
            <a:spLocks noGrp="1"/>
          </p:cNvSpPr>
          <p:nvPr/>
        </p:nvSpPr>
        <p:spPr>
          <a:xfrm>
            <a:off x="8229600" y="3867150"/>
            <a:ext cx="3028950" cy="9525"/>
          </a:xfrm>
          <a:prstGeom prst="rect">
            <a:avLst/>
          </a:prstGeom>
          <a:solidFill>
            <a:srgbClr val="3444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9DA09F-63BA-4159-BE3A-7C9D3448D54C}"/>
              </a:ext>
            </a:extLst>
          </p:cNvPr>
          <p:cNvSpPr>
            <a:spLocks noGrp="1"/>
          </p:cNvSpPr>
          <p:nvPr/>
        </p:nvSpPr>
        <p:spPr>
          <a:xfrm>
            <a:off x="8229600" y="4152900"/>
            <a:ext cx="3028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975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ctr">
              <a:lnSpc>
                <a:spcPct val="105000"/>
              </a:lnSpc>
              <a:buNone/>
              <a:defRPr sz="975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rPr>
              <a:t>many outputs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0D5358-0ED1-4260-829C-74DFE758ACB1}"/>
              </a:ext>
            </a:extLst>
          </p:cNvPr>
          <p:cNvSpPr>
            <a:spLocks noGrp="1"/>
          </p:cNvSpPr>
          <p:nvPr/>
        </p:nvSpPr>
        <p:spPr>
          <a:xfrm>
            <a:off x="514350" y="5410200"/>
            <a:ext cx="1082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42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142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A smaller backbone helps, but serving architecture and batching can matter just as much.</a:t>
            </a:r>
          </a:p>
        </p:txBody>
      </p:sp>
    </p:spTree>
    <p:extLst>
      <p:ext uri="{BB962C8B-B14F-4D97-AF65-F5344CB8AC3E}">
        <p14:creationId xmlns:p14="http://schemas.microsoft.com/office/powerpoint/2010/main" val="1205796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039604DE-04CC-49FB-95A9-20920AC5CC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B9F4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E92D84-959E-4A75-9AC0-40214DDDCCF0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7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B9F45D"/>
                </a:solidFill>
                <a:latin typeface="Arial"/>
                <a:ea typeface="Arial"/>
                <a:cs typeface="Arial"/>
              </a:rPr>
              <a:t>ADAPTING AN EXISTING LLM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26DF96-D5D4-4B06-B0C4-80CF6A26E6FE}"/>
              </a:ext>
            </a:extLst>
          </p:cNvPr>
          <p:cNvSpPr>
            <a:spLocks noGrp="1"/>
          </p:cNvSpPr>
          <p:nvPr/>
        </p:nvSpPr>
        <p:spPr>
          <a:xfrm>
            <a:off x="514350" y="5905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32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32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A decoder becomes a Jev-like scorer by changing the output path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769D6F-7057-477D-AF83-1568331D0F60}"/>
              </a:ext>
            </a:extLst>
          </p:cNvPr>
          <p:cNvSpPr>
            <a:spLocks noGrp="1"/>
          </p:cNvSpPr>
          <p:nvPr/>
        </p:nvSpPr>
        <p:spPr>
          <a:xfrm>
            <a:off x="514350" y="1304925"/>
            <a:ext cx="11163300" cy="9525"/>
          </a:xfrm>
          <a:prstGeom prst="rect">
            <a:avLst/>
          </a:prstGeom>
          <a:solidFill>
            <a:srgbClr val="26344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6FCAEF-3450-4FDC-B8AB-67C54A85D9C7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675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675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7E8B9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B922FD7-1973-4AC4-9C6A-67B9E9BFAC8B}"/>
              </a:ext>
            </a:extLst>
          </p:cNvPr>
          <p:cNvSpPr>
            <a:spLocks noGrp="1"/>
          </p:cNvSpPr>
          <p:nvPr/>
        </p:nvSpPr>
        <p:spPr>
          <a:xfrm>
            <a:off x="514350" y="1714500"/>
            <a:ext cx="1866900" cy="1352550"/>
          </a:xfrm>
          <a:prstGeom prst="roundRect">
            <a:avLst>
              <a:gd name="adj" fmla="val 8451"/>
            </a:avLst>
          </a:prstGeom>
          <a:solidFill>
            <a:srgbClr val="101826"/>
          </a:solidFill>
          <a:ln w="9525">
            <a:solidFill>
              <a:srgbClr val="54D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02A1FD5-DE87-4BCD-A789-6267A2BD6EF3}"/>
              </a:ext>
            </a:extLst>
          </p:cNvPr>
          <p:cNvSpPr>
            <a:spLocks noGrp="1"/>
          </p:cNvSpPr>
          <p:nvPr/>
        </p:nvSpPr>
        <p:spPr>
          <a:xfrm>
            <a:off x="647700" y="1847850"/>
            <a:ext cx="266700" cy="266700"/>
          </a:xfrm>
          <a:prstGeom prst="ellipse">
            <a:avLst/>
          </a:prstGeom>
          <a:solidFill>
            <a:srgbClr val="54D6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8FEBE4-C95C-4491-88AF-6DEB54F102F5}"/>
              </a:ext>
            </a:extLst>
          </p:cNvPr>
          <p:cNvSpPr>
            <a:spLocks noGrp="1"/>
          </p:cNvSpPr>
          <p:nvPr/>
        </p:nvSpPr>
        <p:spPr>
          <a:xfrm>
            <a:off x="647700" y="1866900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825" b="1" i="0">
                <a:solidFill>
                  <a:srgbClr val="070B1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825" b="1" i="0">
                <a:solidFill>
                  <a:srgbClr val="070B1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070B1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F0079C-CB4C-499E-B63A-BB441AABD845}"/>
              </a:ext>
            </a:extLst>
          </p:cNvPr>
          <p:cNvSpPr>
            <a:spLocks noGrp="1"/>
          </p:cNvSpPr>
          <p:nvPr/>
        </p:nvSpPr>
        <p:spPr>
          <a:xfrm>
            <a:off x="1009650" y="1885950"/>
            <a:ext cx="1219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88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788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54D6FF"/>
                </a:solidFill>
                <a:latin typeface="Arial"/>
                <a:ea typeface="Arial"/>
                <a:cs typeface="Arial"/>
              </a:rPr>
              <a:t>COMPILE SCHEMA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F21C4E-D9E6-4A49-928E-A96875DF6B83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1562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900" b="1" i="0">
                <a:solidFill>
                  <a:srgbClr val="F4F8F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ctr">
              <a:lnSpc>
                <a:spcPct val="105000"/>
              </a:lnSpc>
              <a:buNone/>
              <a:defRPr sz="900" b="1" i="0">
                <a:solidFill>
                  <a:srgbClr val="F4F8FF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F4F8FF"/>
                </a:solidFill>
                <a:latin typeface="Courier New"/>
                <a:ea typeface="Courier New"/>
                <a:cs typeface="Courier New"/>
              </a:rPr>
              <a:t>options → A / B / 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A6F2DB-EB28-4959-B932-73A3D5953A15}"/>
              </a:ext>
            </a:extLst>
          </p:cNvPr>
          <p:cNvSpPr>
            <a:spLocks noGrp="1"/>
          </p:cNvSpPr>
          <p:nvPr/>
        </p:nvSpPr>
        <p:spPr>
          <a:xfrm>
            <a:off x="2381250" y="2381250"/>
            <a:ext cx="342900" cy="28575"/>
          </a:xfrm>
          <a:prstGeom prst="rect">
            <a:avLst/>
          </a:prstGeom>
          <a:solidFill>
            <a:srgbClr val="3444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09CBFB5-E1E5-4CDA-8F9D-A7174A88CD34}"/>
              </a:ext>
            </a:extLst>
          </p:cNvPr>
          <p:cNvSpPr>
            <a:spLocks noGrp="1"/>
          </p:cNvSpPr>
          <p:nvPr/>
        </p:nvSpPr>
        <p:spPr>
          <a:xfrm>
            <a:off x="2724150" y="1714500"/>
            <a:ext cx="1866900" cy="1352550"/>
          </a:xfrm>
          <a:prstGeom prst="roundRect">
            <a:avLst>
              <a:gd name="adj" fmla="val 8451"/>
            </a:avLst>
          </a:prstGeom>
          <a:solidFill>
            <a:srgbClr val="101826"/>
          </a:solidFill>
          <a:ln w="9525">
            <a:solidFill>
              <a:srgbClr val="4BE0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29D282F-23F4-4E88-BF3D-5709AA218CEC}"/>
              </a:ext>
            </a:extLst>
          </p:cNvPr>
          <p:cNvSpPr>
            <a:spLocks noGrp="1"/>
          </p:cNvSpPr>
          <p:nvPr/>
        </p:nvSpPr>
        <p:spPr>
          <a:xfrm>
            <a:off x="2857500" y="1847850"/>
            <a:ext cx="266700" cy="266700"/>
          </a:xfrm>
          <a:prstGeom prst="ellipse">
            <a:avLst/>
          </a:prstGeom>
          <a:solidFill>
            <a:srgbClr val="4BE0B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974449-1F25-4B35-89F9-567641BA546B}"/>
              </a:ext>
            </a:extLst>
          </p:cNvPr>
          <p:cNvSpPr>
            <a:spLocks noGrp="1"/>
          </p:cNvSpPr>
          <p:nvPr/>
        </p:nvSpPr>
        <p:spPr>
          <a:xfrm>
            <a:off x="2857500" y="1866900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825" b="1" i="0">
                <a:solidFill>
                  <a:srgbClr val="070B1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825" b="1" i="0">
                <a:solidFill>
                  <a:srgbClr val="070B1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070B1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53302A-22B3-47EC-A011-A11F9FA46F7A}"/>
              </a:ext>
            </a:extLst>
          </p:cNvPr>
          <p:cNvSpPr>
            <a:spLocks noGrp="1"/>
          </p:cNvSpPr>
          <p:nvPr/>
        </p:nvSpPr>
        <p:spPr>
          <a:xfrm>
            <a:off x="3219450" y="1885950"/>
            <a:ext cx="1219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88" b="1" i="0">
                <a:solidFill>
                  <a:srgbClr val="4BE0B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788" b="1" i="0">
                <a:solidFill>
                  <a:srgbClr val="4BE0B5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4BE0B5"/>
                </a:solidFill>
                <a:latin typeface="Arial"/>
                <a:ea typeface="Arial"/>
                <a:cs typeface="Arial"/>
              </a:rPr>
              <a:t>PREFILL STATE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CA54927-8F19-4D13-B343-2C22D53C7888}"/>
              </a:ext>
            </a:extLst>
          </p:cNvPr>
          <p:cNvSpPr>
            <a:spLocks noGrp="1"/>
          </p:cNvSpPr>
          <p:nvPr/>
        </p:nvSpPr>
        <p:spPr>
          <a:xfrm>
            <a:off x="2876550" y="2381250"/>
            <a:ext cx="1562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900" b="1" i="0">
                <a:solidFill>
                  <a:srgbClr val="F4F8F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ctr">
              <a:lnSpc>
                <a:spcPct val="105000"/>
              </a:lnSpc>
              <a:buNone/>
              <a:defRPr sz="900" b="1" i="0">
                <a:solidFill>
                  <a:srgbClr val="F4F8FF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F4F8FF"/>
                </a:solidFill>
                <a:latin typeface="Courier New"/>
                <a:ea typeface="Courier New"/>
                <a:cs typeface="Courier New"/>
              </a:rPr>
              <a:t>build reusable KV cache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965880-B4F6-47BE-AA62-C86F3118D386}"/>
              </a:ext>
            </a:extLst>
          </p:cNvPr>
          <p:cNvSpPr>
            <a:spLocks noGrp="1"/>
          </p:cNvSpPr>
          <p:nvPr/>
        </p:nvSpPr>
        <p:spPr>
          <a:xfrm>
            <a:off x="4591050" y="2381250"/>
            <a:ext cx="342900" cy="28575"/>
          </a:xfrm>
          <a:prstGeom prst="rect">
            <a:avLst/>
          </a:prstGeom>
          <a:solidFill>
            <a:srgbClr val="3444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76C9951-B68B-4D93-BCAB-8BA153D8478F}"/>
              </a:ext>
            </a:extLst>
          </p:cNvPr>
          <p:cNvSpPr>
            <a:spLocks noGrp="1"/>
          </p:cNvSpPr>
          <p:nvPr/>
        </p:nvSpPr>
        <p:spPr>
          <a:xfrm>
            <a:off x="4933950" y="1714500"/>
            <a:ext cx="1866900" cy="1352550"/>
          </a:xfrm>
          <a:prstGeom prst="roundRect">
            <a:avLst>
              <a:gd name="adj" fmla="val 8451"/>
            </a:avLst>
          </a:prstGeom>
          <a:solidFill>
            <a:srgbClr val="101826"/>
          </a:solidFill>
          <a:ln w="9525">
            <a:solidFill>
              <a:srgbClr val="AA8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DD9FAEA-5E42-4BA0-9E9A-C62CA364689F}"/>
              </a:ext>
            </a:extLst>
          </p:cNvPr>
          <p:cNvSpPr>
            <a:spLocks noGrp="1"/>
          </p:cNvSpPr>
          <p:nvPr/>
        </p:nvSpPr>
        <p:spPr>
          <a:xfrm>
            <a:off x="5067300" y="1847850"/>
            <a:ext cx="266700" cy="266700"/>
          </a:xfrm>
          <a:prstGeom prst="ellipse">
            <a:avLst/>
          </a:prstGeom>
          <a:solidFill>
            <a:srgbClr val="AA8B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15B2EF-7E97-4D1E-9277-48F2D9D85430}"/>
              </a:ext>
            </a:extLst>
          </p:cNvPr>
          <p:cNvSpPr>
            <a:spLocks noGrp="1"/>
          </p:cNvSpPr>
          <p:nvPr/>
        </p:nvSpPr>
        <p:spPr>
          <a:xfrm>
            <a:off x="5067300" y="1866900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825" b="1" i="0">
                <a:solidFill>
                  <a:srgbClr val="070B1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825" b="1" i="0">
                <a:solidFill>
                  <a:srgbClr val="070B1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070B1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98590E0-C83E-41A9-9E27-172064D9EA57}"/>
              </a:ext>
            </a:extLst>
          </p:cNvPr>
          <p:cNvSpPr>
            <a:spLocks noGrp="1"/>
          </p:cNvSpPr>
          <p:nvPr/>
        </p:nvSpPr>
        <p:spPr>
          <a:xfrm>
            <a:off x="5429250" y="1885950"/>
            <a:ext cx="1219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88" b="1" i="0">
                <a:solidFill>
                  <a:srgbClr val="AA8B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788" b="1" i="0">
                <a:solidFill>
                  <a:srgbClr val="AA8BFF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AA8BFF"/>
                </a:solidFill>
                <a:latin typeface="Arial"/>
                <a:ea typeface="Arial"/>
                <a:cs typeface="Arial"/>
              </a:rPr>
              <a:t>APPEND QUESTION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3EACD66-10D8-4726-A609-084338AD32F5}"/>
              </a:ext>
            </a:extLst>
          </p:cNvPr>
          <p:cNvSpPr>
            <a:spLocks noGrp="1"/>
          </p:cNvSpPr>
          <p:nvPr/>
        </p:nvSpPr>
        <p:spPr>
          <a:xfrm>
            <a:off x="5086350" y="2381250"/>
            <a:ext cx="1562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900" b="1" i="0">
                <a:solidFill>
                  <a:srgbClr val="F4F8F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ctr">
              <a:lnSpc>
                <a:spcPct val="105000"/>
              </a:lnSpc>
              <a:buNone/>
              <a:defRPr sz="900" b="1" i="0">
                <a:solidFill>
                  <a:srgbClr val="F4F8FF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F4F8FF"/>
                </a:solidFill>
                <a:latin typeface="Courier New"/>
                <a:ea typeface="Courier New"/>
                <a:cs typeface="Courier New"/>
              </a:rPr>
              <a:t>one short branch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68D6A8-5873-433A-B277-CABEA67859C3}"/>
              </a:ext>
            </a:extLst>
          </p:cNvPr>
          <p:cNvSpPr>
            <a:spLocks noGrp="1"/>
          </p:cNvSpPr>
          <p:nvPr/>
        </p:nvSpPr>
        <p:spPr>
          <a:xfrm>
            <a:off x="6800850" y="2381250"/>
            <a:ext cx="342900" cy="28575"/>
          </a:xfrm>
          <a:prstGeom prst="rect">
            <a:avLst/>
          </a:prstGeom>
          <a:solidFill>
            <a:srgbClr val="3444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7696AD5-48AE-4B21-8A98-8D481AACCEE9}"/>
              </a:ext>
            </a:extLst>
          </p:cNvPr>
          <p:cNvSpPr>
            <a:spLocks noGrp="1"/>
          </p:cNvSpPr>
          <p:nvPr/>
        </p:nvSpPr>
        <p:spPr>
          <a:xfrm>
            <a:off x="7143750" y="1714500"/>
            <a:ext cx="1866900" cy="1352550"/>
          </a:xfrm>
          <a:prstGeom prst="roundRect">
            <a:avLst>
              <a:gd name="adj" fmla="val 8451"/>
            </a:avLst>
          </a:prstGeom>
          <a:solidFill>
            <a:srgbClr val="101826"/>
          </a:solidFill>
          <a:ln w="9525">
            <a:solidFill>
              <a:srgbClr val="F8C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D9B44D3-D659-4048-B5D7-0577299848A8}"/>
              </a:ext>
            </a:extLst>
          </p:cNvPr>
          <p:cNvSpPr>
            <a:spLocks noGrp="1"/>
          </p:cNvSpPr>
          <p:nvPr/>
        </p:nvSpPr>
        <p:spPr>
          <a:xfrm>
            <a:off x="7277100" y="1847850"/>
            <a:ext cx="266700" cy="266700"/>
          </a:xfrm>
          <a:prstGeom prst="ellipse">
            <a:avLst/>
          </a:prstGeom>
          <a:solidFill>
            <a:srgbClr val="F8C15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FCED169-7F23-403E-AA92-ED3FFF78CE48}"/>
              </a:ext>
            </a:extLst>
          </p:cNvPr>
          <p:cNvSpPr>
            <a:spLocks noGrp="1"/>
          </p:cNvSpPr>
          <p:nvPr/>
        </p:nvSpPr>
        <p:spPr>
          <a:xfrm>
            <a:off x="7277100" y="1866900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825" b="1" i="0">
                <a:solidFill>
                  <a:srgbClr val="070B1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825" b="1" i="0">
                <a:solidFill>
                  <a:srgbClr val="070B1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070B1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F859EC-CD1D-40BE-8044-8A0091C9214F}"/>
              </a:ext>
            </a:extLst>
          </p:cNvPr>
          <p:cNvSpPr>
            <a:spLocks noGrp="1"/>
          </p:cNvSpPr>
          <p:nvPr/>
        </p:nvSpPr>
        <p:spPr>
          <a:xfrm>
            <a:off x="7639050" y="1885950"/>
            <a:ext cx="1219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88" b="1" i="0">
                <a:solidFill>
                  <a:srgbClr val="F8C15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788" b="1" i="0">
                <a:solidFill>
                  <a:srgbClr val="F8C15C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F8C15C"/>
                </a:solidFill>
                <a:latin typeface="Arial"/>
                <a:ea typeface="Arial"/>
                <a:cs typeface="Arial"/>
              </a:rPr>
              <a:t>GATHER LOGITS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A555C8-2DD8-4754-A6CE-86E36FBF31B7}"/>
              </a:ext>
            </a:extLst>
          </p:cNvPr>
          <p:cNvSpPr>
            <a:spLocks noGrp="1"/>
          </p:cNvSpPr>
          <p:nvPr/>
        </p:nvSpPr>
        <p:spPr>
          <a:xfrm>
            <a:off x="7296150" y="2381250"/>
            <a:ext cx="1562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900" b="1" i="0">
                <a:solidFill>
                  <a:srgbClr val="F4F8F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ctr">
              <a:lnSpc>
                <a:spcPct val="105000"/>
              </a:lnSpc>
              <a:buNone/>
              <a:defRPr sz="900" b="1" i="0">
                <a:solidFill>
                  <a:srgbClr val="F4F8FF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F4F8FF"/>
                </a:solidFill>
                <a:latin typeface="Courier New"/>
                <a:ea typeface="Courier New"/>
                <a:cs typeface="Courier New"/>
              </a:rPr>
              <a:t>read A / B / C only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F3F894D-CC5C-4005-9A27-4983D54F8DFD}"/>
              </a:ext>
            </a:extLst>
          </p:cNvPr>
          <p:cNvSpPr>
            <a:spLocks noGrp="1"/>
          </p:cNvSpPr>
          <p:nvPr/>
        </p:nvSpPr>
        <p:spPr>
          <a:xfrm>
            <a:off x="9010650" y="2381250"/>
            <a:ext cx="342900" cy="28575"/>
          </a:xfrm>
          <a:prstGeom prst="rect">
            <a:avLst/>
          </a:prstGeom>
          <a:solidFill>
            <a:srgbClr val="3444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4A4EB90D-DEC2-407E-BE6F-13AC671C4520}"/>
              </a:ext>
            </a:extLst>
          </p:cNvPr>
          <p:cNvSpPr>
            <a:spLocks noGrp="1"/>
          </p:cNvSpPr>
          <p:nvPr/>
        </p:nvSpPr>
        <p:spPr>
          <a:xfrm>
            <a:off x="9353550" y="1714500"/>
            <a:ext cx="1866900" cy="1352550"/>
          </a:xfrm>
          <a:prstGeom prst="roundRect">
            <a:avLst>
              <a:gd name="adj" fmla="val 8451"/>
            </a:avLst>
          </a:prstGeom>
          <a:solidFill>
            <a:srgbClr val="101826"/>
          </a:solidFill>
          <a:ln w="9525">
            <a:solidFill>
              <a:srgbClr val="B9F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58277C4-26BE-494D-85E3-E8203C2C762D}"/>
              </a:ext>
            </a:extLst>
          </p:cNvPr>
          <p:cNvSpPr>
            <a:spLocks noGrp="1"/>
          </p:cNvSpPr>
          <p:nvPr/>
        </p:nvSpPr>
        <p:spPr>
          <a:xfrm>
            <a:off x="9486900" y="1847850"/>
            <a:ext cx="266700" cy="266700"/>
          </a:xfrm>
          <a:prstGeom prst="ellipse">
            <a:avLst/>
          </a:prstGeom>
          <a:solidFill>
            <a:srgbClr val="B9F4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EFA563A-DA15-4C0A-ACC1-DCED44D3B224}"/>
              </a:ext>
            </a:extLst>
          </p:cNvPr>
          <p:cNvSpPr>
            <a:spLocks noGrp="1"/>
          </p:cNvSpPr>
          <p:nvPr/>
        </p:nvSpPr>
        <p:spPr>
          <a:xfrm>
            <a:off x="9486900" y="1866900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825" b="1" i="0">
                <a:solidFill>
                  <a:srgbClr val="070B1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825" b="1" i="0">
                <a:solidFill>
                  <a:srgbClr val="070B1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070B1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9EAA28A-435E-4761-8AD3-F8AC2726E341}"/>
              </a:ext>
            </a:extLst>
          </p:cNvPr>
          <p:cNvSpPr>
            <a:spLocks noGrp="1"/>
          </p:cNvSpPr>
          <p:nvPr/>
        </p:nvSpPr>
        <p:spPr>
          <a:xfrm>
            <a:off x="9848850" y="1885950"/>
            <a:ext cx="1219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88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788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B9F45D"/>
                </a:solidFill>
                <a:latin typeface="Arial"/>
                <a:ea typeface="Arial"/>
                <a:cs typeface="Arial"/>
              </a:rPr>
              <a:t>CALIBRATE + TYPE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4203B08-47CD-4310-8D62-375597EA119E}"/>
              </a:ext>
            </a:extLst>
          </p:cNvPr>
          <p:cNvSpPr>
            <a:spLocks noGrp="1"/>
          </p:cNvSpPr>
          <p:nvPr/>
        </p:nvSpPr>
        <p:spPr>
          <a:xfrm>
            <a:off x="9505950" y="2381250"/>
            <a:ext cx="1562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900" b="1" i="0">
                <a:solidFill>
                  <a:srgbClr val="F4F8F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ctr">
              <a:lnSpc>
                <a:spcPct val="105000"/>
              </a:lnSpc>
              <a:buNone/>
              <a:defRPr sz="900" b="1" i="0">
                <a:solidFill>
                  <a:srgbClr val="F4F8FF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F4F8FF"/>
                </a:solidFill>
                <a:latin typeface="Courier New"/>
                <a:ea typeface="Courier New"/>
                <a:cs typeface="Courier New"/>
              </a:rPr>
              <a:t>softmax(z / T)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E5DE12BD-4082-4C25-9D77-96AB78C94F7E}"/>
              </a:ext>
            </a:extLst>
          </p:cNvPr>
          <p:cNvSpPr>
            <a:spLocks noGrp="1"/>
          </p:cNvSpPr>
          <p:nvPr/>
        </p:nvSpPr>
        <p:spPr>
          <a:xfrm>
            <a:off x="514350" y="3524250"/>
            <a:ext cx="5219700" cy="1066800"/>
          </a:xfrm>
          <a:prstGeom prst="roundRect">
            <a:avLst>
              <a:gd name="adj" fmla="val 10714"/>
            </a:avLst>
          </a:prstGeom>
          <a:solidFill>
            <a:srgbClr val="0C121D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33C3951-CF91-45F6-A958-C73A9C40B401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4876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7E8B9D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lnSpc>
                <a:spcPct val="105000"/>
              </a:lnSpc>
              <a:buNone/>
              <a:defRPr sz="750" b="1" i="0">
                <a:solidFill>
                  <a:srgbClr val="7E8B9D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7E8B9D"/>
                </a:solidFill>
                <a:latin typeface="Courier New"/>
                <a:ea typeface="Courier New"/>
                <a:cs typeface="Courier New"/>
              </a:rPr>
              <a:t>READOUT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FC5842C-DB49-4105-9168-885839E65538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4876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 i="0">
                <a:solidFill>
                  <a:srgbClr val="F4F8F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lnSpc>
                <a:spcPct val="118000"/>
              </a:lnSpc>
              <a:buNone/>
              <a:defRPr sz="1200" b="0" i="0">
                <a:solidFill>
                  <a:srgbClr val="F4F8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F4F8FF"/>
                </a:solidFill>
                <a:latin typeface="Courier New"/>
                <a:ea typeface="Courier New"/>
                <a:cs typeface="Courier New"/>
              </a:rPr>
              <a:t>z = lm_logits[-1, token_ids([A, B, C])]</a:t>
            </a:r>
          </a:p>
          <a:p>
            <a:pPr algn="l">
              <a:lnSpc>
                <a:spcPct val="118000"/>
              </a:lnSpc>
              <a:buNone/>
              <a:defRPr sz="1200" b="0" i="0">
                <a:solidFill>
                  <a:srgbClr val="F4F8FF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F4F8FF"/>
                </a:solidFill>
                <a:latin typeface="Courier New"/>
                <a:ea typeface="Courier New"/>
                <a:cs typeface="Courier New"/>
              </a:rPr>
              <a:t>p = softmax(z / fitted_temperature)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D258433A-DB90-4A40-9CC1-D1642A0CE9FD}"/>
              </a:ext>
            </a:extLst>
          </p:cNvPr>
          <p:cNvSpPr>
            <a:spLocks noGrp="1"/>
          </p:cNvSpPr>
          <p:nvPr/>
        </p:nvSpPr>
        <p:spPr>
          <a:xfrm>
            <a:off x="6191250" y="3524250"/>
            <a:ext cx="5143500" cy="1066800"/>
          </a:xfrm>
          <a:prstGeom prst="roundRect">
            <a:avLst>
              <a:gd name="adj" fmla="val 10714"/>
            </a:avLst>
          </a:prstGeom>
          <a:solidFill>
            <a:srgbClr val="101826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5A89347-3C9C-42F8-9D9E-89B3E5DE8187}"/>
              </a:ext>
            </a:extLst>
          </p:cNvPr>
          <p:cNvSpPr>
            <a:spLocks noGrp="1"/>
          </p:cNvSpPr>
          <p:nvPr/>
        </p:nvSpPr>
        <p:spPr>
          <a:xfrm>
            <a:off x="6381750" y="3676650"/>
            <a:ext cx="323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750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8B9D"/>
                </a:solidFill>
                <a:latin typeface="Arial"/>
                <a:ea typeface="Arial"/>
                <a:cs typeface="Arial"/>
              </a:rPr>
              <a:t>TRAINING IS OPTIONAL, THEN INCREMENTAL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7F5909D-A7B3-415E-BD48-6337C232C47E}"/>
              </a:ext>
            </a:extLst>
          </p:cNvPr>
          <p:cNvSpPr>
            <a:spLocks noGrp="1"/>
          </p:cNvSpPr>
          <p:nvPr/>
        </p:nvSpPr>
        <p:spPr>
          <a:xfrm>
            <a:off x="6381750" y="403860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825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4D6FF"/>
                </a:solidFill>
                <a:latin typeface="Arial"/>
                <a:ea typeface="Arial"/>
                <a:cs typeface="Arial"/>
              </a:rPr>
              <a:t>zero-shot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F7116EA-67BC-4781-8433-D1D5727684B2}"/>
              </a:ext>
            </a:extLst>
          </p:cNvPr>
          <p:cNvSpPr>
            <a:spLocks noGrp="1"/>
          </p:cNvSpPr>
          <p:nvPr/>
        </p:nvSpPr>
        <p:spPr>
          <a:xfrm>
            <a:off x="6381750" y="4267200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13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lnSpc>
                <a:spcPct val="105000"/>
              </a:lnSpc>
              <a:buNone/>
              <a:defRPr sz="713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pPr>
            <a:r>
              <a:rPr sz="713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rPr>
              <a:t>base semantics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8548295-A240-45AE-B9B8-F223E77CD791}"/>
              </a:ext>
            </a:extLst>
          </p:cNvPr>
          <p:cNvSpPr>
            <a:spLocks noGrp="1"/>
          </p:cNvSpPr>
          <p:nvPr/>
        </p:nvSpPr>
        <p:spPr>
          <a:xfrm>
            <a:off x="7962900" y="403860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1" i="0">
                <a:solidFill>
                  <a:srgbClr val="AA8B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825" b="1" i="0">
                <a:solidFill>
                  <a:srgbClr val="AA8B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AA8BFF"/>
                </a:solidFill>
                <a:latin typeface="Arial"/>
                <a:ea typeface="Arial"/>
                <a:cs typeface="Arial"/>
              </a:rPr>
              <a:t>LoRA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83AFB08-FCF3-441E-A1B9-77E3046BD811}"/>
              </a:ext>
            </a:extLst>
          </p:cNvPr>
          <p:cNvSpPr>
            <a:spLocks noGrp="1"/>
          </p:cNvSpPr>
          <p:nvPr/>
        </p:nvSpPr>
        <p:spPr>
          <a:xfrm>
            <a:off x="7962900" y="4267200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13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lnSpc>
                <a:spcPct val="105000"/>
              </a:lnSpc>
              <a:buNone/>
              <a:defRPr sz="713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pPr>
            <a:r>
              <a:rPr sz="713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rPr>
              <a:t>schema + order invariance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0D1DA80-AE9C-41CD-BF1D-389F5E7A525B}"/>
              </a:ext>
            </a:extLst>
          </p:cNvPr>
          <p:cNvSpPr>
            <a:spLocks noGrp="1"/>
          </p:cNvSpPr>
          <p:nvPr/>
        </p:nvSpPr>
        <p:spPr>
          <a:xfrm>
            <a:off x="9544050" y="403860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825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B9F45D"/>
                </a:solidFill>
                <a:latin typeface="Arial"/>
                <a:ea typeface="Arial"/>
                <a:cs typeface="Arial"/>
              </a:rPr>
              <a:t>temperature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8FA205E-9E57-4737-9F42-9893D7D85D85}"/>
              </a:ext>
            </a:extLst>
          </p:cNvPr>
          <p:cNvSpPr>
            <a:spLocks noGrp="1"/>
          </p:cNvSpPr>
          <p:nvPr/>
        </p:nvSpPr>
        <p:spPr>
          <a:xfrm>
            <a:off x="9544050" y="4267200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13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lnSpc>
                <a:spcPct val="105000"/>
              </a:lnSpc>
              <a:buNone/>
              <a:defRPr sz="713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pPr>
            <a:r>
              <a:rPr sz="713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rPr>
              <a:t>probability sharpness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B95513A2-5E00-4CCD-9D96-0F08A39E8E23}"/>
              </a:ext>
            </a:extLst>
          </p:cNvPr>
          <p:cNvSpPr>
            <a:spLocks noGrp="1"/>
          </p:cNvSpPr>
          <p:nvPr/>
        </p:nvSpPr>
        <p:spPr>
          <a:xfrm>
            <a:off x="514350" y="5010149"/>
            <a:ext cx="10820400" cy="1066799"/>
          </a:xfrm>
          <a:prstGeom prst="roundRect">
            <a:avLst>
              <a:gd name="adj" fmla="val 16667"/>
            </a:avLst>
          </a:prstGeom>
          <a:solidFill>
            <a:srgbClr val="0C121D"/>
          </a:solidFill>
          <a:ln w="9525">
            <a:solidFill>
              <a:srgbClr val="3444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F658F26-9DDE-4D15-B539-3338718386AF}"/>
              </a:ext>
            </a:extLst>
          </p:cNvPr>
          <p:cNvSpPr>
            <a:spLocks noGrp="1"/>
          </p:cNvSpPr>
          <p:nvPr/>
        </p:nvSpPr>
        <p:spPr>
          <a:xfrm>
            <a:off x="723900" y="5162550"/>
            <a:ext cx="838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4BE0B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750" b="1" i="0">
                <a:solidFill>
                  <a:srgbClr val="4BE0B5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4BE0B5"/>
                </a:solidFill>
                <a:latin typeface="Arial"/>
                <a:ea typeface="Arial"/>
                <a:cs typeface="Arial"/>
              </a:rPr>
              <a:t>UNCHANGED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BFEFB26-42CF-4033-8D2D-7C6B005EB8F5}"/>
              </a:ext>
            </a:extLst>
          </p:cNvPr>
          <p:cNvSpPr>
            <a:spLocks noGrp="1"/>
          </p:cNvSpPr>
          <p:nvPr/>
        </p:nvSpPr>
        <p:spPr>
          <a:xfrm>
            <a:off x="1562100" y="5148099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38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lnSpc>
                <a:spcPct val="105000"/>
              </a:lnSpc>
              <a:buNone/>
              <a:defRPr sz="938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pPr>
            <a:r>
              <a:rPr sz="938" b="0" i="0" dirty="0">
                <a:solidFill>
                  <a:srgbClr val="C7D1DF"/>
                </a:solidFill>
                <a:latin typeface="Courier New"/>
                <a:ea typeface="Courier New"/>
                <a:cs typeface="Courier New"/>
              </a:rPr>
              <a:t>transformer · tokenizer · LM head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6EF087E-FE3A-44F1-80C9-C7C877327008}"/>
              </a:ext>
            </a:extLst>
          </p:cNvPr>
          <p:cNvSpPr>
            <a:spLocks noGrp="1"/>
          </p:cNvSpPr>
          <p:nvPr/>
        </p:nvSpPr>
        <p:spPr>
          <a:xfrm>
            <a:off x="723900" y="5420054"/>
            <a:ext cx="742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FF7D7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750" b="1" i="0">
                <a:solidFill>
                  <a:srgbClr val="FF7D70"/>
                </a:solidFill>
                <a:latin typeface="Arial"/>
                <a:ea typeface="Arial"/>
                <a:cs typeface="Arial"/>
              </a:defRPr>
            </a:pPr>
            <a:r>
              <a:rPr sz="750" b="1" i="0" dirty="0">
                <a:solidFill>
                  <a:srgbClr val="FF7D70"/>
                </a:solidFill>
                <a:latin typeface="Arial"/>
                <a:ea typeface="Arial"/>
                <a:cs typeface="Arial"/>
              </a:rPr>
              <a:t>REMOVED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E4312FC-050A-4038-8688-6D537FA189E0}"/>
              </a:ext>
            </a:extLst>
          </p:cNvPr>
          <p:cNvSpPr>
            <a:spLocks noGrp="1"/>
          </p:cNvSpPr>
          <p:nvPr/>
        </p:nvSpPr>
        <p:spPr>
          <a:xfrm>
            <a:off x="1562100" y="54483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38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lnSpc>
                <a:spcPct val="105000"/>
              </a:lnSpc>
              <a:buNone/>
              <a:defRPr sz="938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pPr>
            <a:r>
              <a:rPr sz="938" b="0" i="0" dirty="0">
                <a:solidFill>
                  <a:srgbClr val="C7D1DF"/>
                </a:solidFill>
                <a:latin typeface="Courier New"/>
                <a:ea typeface="Courier New"/>
                <a:cs typeface="Courier New"/>
              </a:rPr>
              <a:t>autoregressive decode loop · JSON parser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A5C83EF-C53C-4A2F-BFC4-350A76162028}"/>
              </a:ext>
            </a:extLst>
          </p:cNvPr>
          <p:cNvSpPr>
            <a:spLocks noGrp="1"/>
          </p:cNvSpPr>
          <p:nvPr/>
        </p:nvSpPr>
        <p:spPr>
          <a:xfrm>
            <a:off x="723900" y="5748501"/>
            <a:ext cx="838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7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pPr>
            <a:r>
              <a:rPr sz="750" b="1" i="0" dirty="0">
                <a:solidFill>
                  <a:srgbClr val="B9F45D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075CB62-D1B1-4DE0-9287-9952B1D400CC}"/>
              </a:ext>
            </a:extLst>
          </p:cNvPr>
          <p:cNvSpPr>
            <a:spLocks noGrp="1"/>
          </p:cNvSpPr>
          <p:nvPr/>
        </p:nvSpPr>
        <p:spPr>
          <a:xfrm>
            <a:off x="1562100" y="5748501"/>
            <a:ext cx="6572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F4F8F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lnSpc>
                <a:spcPct val="105000"/>
              </a:lnSpc>
              <a:buNone/>
              <a:defRPr sz="975" b="1" i="0">
                <a:solidFill>
                  <a:srgbClr val="F4F8FF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 dirty="0">
                <a:solidFill>
                  <a:srgbClr val="F4F8FF"/>
                </a:solidFill>
                <a:latin typeface="Courier New"/>
                <a:ea typeface="Courier New"/>
                <a:cs typeface="Courier New"/>
              </a:rPr>
              <a:t>one bounded distribution per typed question</a:t>
            </a:r>
          </a:p>
        </p:txBody>
      </p:sp>
    </p:spTree>
    <p:extLst>
      <p:ext uri="{BB962C8B-B14F-4D97-AF65-F5344CB8AC3E}">
        <p14:creationId xmlns:p14="http://schemas.microsoft.com/office/powerpoint/2010/main" val="1083592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C51CE6FC-87B3-4251-846B-FF94A12D07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B9F4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A7A21F-8A6C-4B87-B9E6-067A7A18B5F6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7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B9F45D"/>
                </a:solidFill>
                <a:latin typeface="Arial"/>
                <a:ea typeface="Arial"/>
                <a:cs typeface="Arial"/>
              </a:rPr>
              <a:t>DESIGN SPACE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151C94-B957-47D8-92F0-6C6B4346D531}"/>
              </a:ext>
            </a:extLst>
          </p:cNvPr>
          <p:cNvSpPr>
            <a:spLocks noGrp="1"/>
          </p:cNvSpPr>
          <p:nvPr/>
        </p:nvSpPr>
        <p:spPr>
          <a:xfrm>
            <a:off x="514350" y="5905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32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32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325" b="1" i="0" dirty="0">
                <a:solidFill>
                  <a:srgbClr val="F4F8FF"/>
                </a:solidFill>
                <a:latin typeface="Arial"/>
                <a:ea typeface="Arial"/>
                <a:cs typeface="Arial"/>
              </a:rPr>
              <a:t>The </a:t>
            </a:r>
            <a:r>
              <a:rPr lang="en-US" sz="2325" b="1" i="0" dirty="0">
                <a:solidFill>
                  <a:srgbClr val="F4F8FF"/>
                </a:solidFill>
                <a:latin typeface="Arial"/>
                <a:ea typeface="Arial"/>
                <a:cs typeface="Arial"/>
              </a:rPr>
              <a:t>open source community</a:t>
            </a:r>
            <a:r>
              <a:rPr sz="2325" b="1" i="0" dirty="0">
                <a:solidFill>
                  <a:srgbClr val="F4F8FF"/>
                </a:solidFill>
                <a:latin typeface="Arial"/>
                <a:ea typeface="Arial"/>
                <a:cs typeface="Arial"/>
              </a:rPr>
              <a:t> has explored four architecture families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784174-404B-455C-B0C1-046D01D272B9}"/>
              </a:ext>
            </a:extLst>
          </p:cNvPr>
          <p:cNvSpPr>
            <a:spLocks noGrp="1"/>
          </p:cNvSpPr>
          <p:nvPr/>
        </p:nvSpPr>
        <p:spPr>
          <a:xfrm>
            <a:off x="514350" y="1304925"/>
            <a:ext cx="11163300" cy="9525"/>
          </a:xfrm>
          <a:prstGeom prst="rect">
            <a:avLst/>
          </a:prstGeom>
          <a:solidFill>
            <a:srgbClr val="26344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F63100-7626-46B7-9B1C-C5A6DC69FC3D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675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675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7E8B9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1ADC478-DB5F-4137-81B9-4634BE41AAD6}"/>
              </a:ext>
            </a:extLst>
          </p:cNvPr>
          <p:cNvSpPr>
            <a:spLocks noGrp="1"/>
          </p:cNvSpPr>
          <p:nvPr/>
        </p:nvSpPr>
        <p:spPr>
          <a:xfrm>
            <a:off x="514350" y="1676400"/>
            <a:ext cx="5219700" cy="1638300"/>
          </a:xfrm>
          <a:prstGeom prst="roundRect">
            <a:avLst>
              <a:gd name="adj" fmla="val 6977"/>
            </a:avLst>
          </a:prstGeom>
          <a:solidFill>
            <a:srgbClr val="101826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8461C0-5947-4873-9552-5E0CCA3B40C3}"/>
              </a:ext>
            </a:extLst>
          </p:cNvPr>
          <p:cNvSpPr>
            <a:spLocks noGrp="1"/>
          </p:cNvSpPr>
          <p:nvPr/>
        </p:nvSpPr>
        <p:spPr>
          <a:xfrm>
            <a:off x="723900" y="1866900"/>
            <a:ext cx="2019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050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4D6FF"/>
                </a:solidFill>
                <a:latin typeface="Arial"/>
                <a:ea typeface="Arial"/>
                <a:cs typeface="Arial"/>
              </a:rPr>
              <a:t>DECODER LOGITS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F1F600-FBBC-46CC-ADB1-C9E111D37C82}"/>
              </a:ext>
            </a:extLst>
          </p:cNvPr>
          <p:cNvSpPr>
            <a:spLocks noGrp="1"/>
          </p:cNvSpPr>
          <p:nvPr/>
        </p:nvSpPr>
        <p:spPr>
          <a:xfrm>
            <a:off x="723900" y="22860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42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Reuse the LLM vocabulary head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757CBD-4CFF-45BE-A325-53CBF2D8BE5C}"/>
              </a:ext>
            </a:extLst>
          </p:cNvPr>
          <p:cNvSpPr>
            <a:spLocks noGrp="1"/>
          </p:cNvSpPr>
          <p:nvPr/>
        </p:nvSpPr>
        <p:spPr>
          <a:xfrm>
            <a:off x="723900" y="2838450"/>
            <a:ext cx="4762500" cy="9525"/>
          </a:xfrm>
          <a:prstGeom prst="rect">
            <a:avLst/>
          </a:prstGeom>
          <a:solidFill>
            <a:srgbClr val="3444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8E0FD7-DCC6-444F-9CD7-BA536E2DCD76}"/>
              </a:ext>
            </a:extLst>
          </p:cNvPr>
          <p:cNvSpPr>
            <a:spLocks noGrp="1"/>
          </p:cNvSpPr>
          <p:nvPr/>
        </p:nvSpPr>
        <p:spPr>
          <a:xfrm>
            <a:off x="723900" y="299085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lnSpc>
                <a:spcPct val="105000"/>
              </a:lnSpc>
              <a:buNone/>
              <a:defRPr sz="90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rPr>
              <a:t>best zero-shot baseline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A12BF72-0F02-4546-8930-646FBBE6CCA1}"/>
              </a:ext>
            </a:extLst>
          </p:cNvPr>
          <p:cNvSpPr>
            <a:spLocks noGrp="1"/>
          </p:cNvSpPr>
          <p:nvPr/>
        </p:nvSpPr>
        <p:spPr>
          <a:xfrm>
            <a:off x="6019800" y="1676400"/>
            <a:ext cx="5219700" cy="1638300"/>
          </a:xfrm>
          <a:prstGeom prst="roundRect">
            <a:avLst>
              <a:gd name="adj" fmla="val 6977"/>
            </a:avLst>
          </a:prstGeom>
          <a:solidFill>
            <a:srgbClr val="101826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9F2F51-2D9F-4C40-8918-CAE8A800CA77}"/>
              </a:ext>
            </a:extLst>
          </p:cNvPr>
          <p:cNvSpPr>
            <a:spLocks noGrp="1"/>
          </p:cNvSpPr>
          <p:nvPr/>
        </p:nvSpPr>
        <p:spPr>
          <a:xfrm>
            <a:off x="6229350" y="1866900"/>
            <a:ext cx="2019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1" i="0">
                <a:solidFill>
                  <a:srgbClr val="F8C15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050" b="1" i="0">
                <a:solidFill>
                  <a:srgbClr val="F8C15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8C15C"/>
                </a:solidFill>
                <a:latin typeface="Arial"/>
                <a:ea typeface="Arial"/>
                <a:cs typeface="Arial"/>
              </a:rPr>
              <a:t>DECISION HEAD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E01674-8AAD-49F0-98D2-4DAB34AD8728}"/>
              </a:ext>
            </a:extLst>
          </p:cNvPr>
          <p:cNvSpPr>
            <a:spLocks noGrp="1"/>
          </p:cNvSpPr>
          <p:nvPr/>
        </p:nvSpPr>
        <p:spPr>
          <a:xfrm>
            <a:off x="6229350" y="22860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42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Add a learned schema readout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7C8971-8D18-427F-8EDC-70750046447A}"/>
              </a:ext>
            </a:extLst>
          </p:cNvPr>
          <p:cNvSpPr>
            <a:spLocks noGrp="1"/>
          </p:cNvSpPr>
          <p:nvPr/>
        </p:nvSpPr>
        <p:spPr>
          <a:xfrm>
            <a:off x="6229350" y="2838450"/>
            <a:ext cx="4762500" cy="9525"/>
          </a:xfrm>
          <a:prstGeom prst="rect">
            <a:avLst/>
          </a:prstGeom>
          <a:solidFill>
            <a:srgbClr val="3444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41250D-9303-481A-A2B4-71E51AE55DD2}"/>
              </a:ext>
            </a:extLst>
          </p:cNvPr>
          <p:cNvSpPr>
            <a:spLocks noGrp="1"/>
          </p:cNvSpPr>
          <p:nvPr/>
        </p:nvSpPr>
        <p:spPr>
          <a:xfrm>
            <a:off x="6229350" y="299085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lnSpc>
                <a:spcPct val="105000"/>
              </a:lnSpc>
              <a:buNone/>
              <a:defRPr sz="90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rPr>
              <a:t>efficient parallel scoring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5F3B180-4A48-4E94-92B7-87E6CFBAB7B7}"/>
              </a:ext>
            </a:extLst>
          </p:cNvPr>
          <p:cNvSpPr>
            <a:spLocks noGrp="1"/>
          </p:cNvSpPr>
          <p:nvPr/>
        </p:nvSpPr>
        <p:spPr>
          <a:xfrm>
            <a:off x="514350" y="3619500"/>
            <a:ext cx="5219700" cy="1638300"/>
          </a:xfrm>
          <a:prstGeom prst="roundRect">
            <a:avLst>
              <a:gd name="adj" fmla="val 6977"/>
            </a:avLst>
          </a:prstGeom>
          <a:solidFill>
            <a:srgbClr val="101826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6EEA8D-C4C9-4797-92B5-3C48675B9233}"/>
              </a:ext>
            </a:extLst>
          </p:cNvPr>
          <p:cNvSpPr>
            <a:spLocks noGrp="1"/>
          </p:cNvSpPr>
          <p:nvPr/>
        </p:nvSpPr>
        <p:spPr>
          <a:xfrm>
            <a:off x="723900" y="3810000"/>
            <a:ext cx="2019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1" i="0">
                <a:solidFill>
                  <a:srgbClr val="4BE0B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050" b="1" i="0">
                <a:solidFill>
                  <a:srgbClr val="4BE0B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BE0B5"/>
                </a:solidFill>
                <a:latin typeface="Arial"/>
                <a:ea typeface="Arial"/>
                <a:cs typeface="Arial"/>
              </a:rPr>
              <a:t>DUAL ENCODER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CC6611-E45B-4F35-9062-70B62CD9A716}"/>
              </a:ext>
            </a:extLst>
          </p:cNvPr>
          <p:cNvSpPr>
            <a:spLocks noGrp="1"/>
          </p:cNvSpPr>
          <p:nvPr/>
        </p:nvSpPr>
        <p:spPr>
          <a:xfrm>
            <a:off x="723900" y="42291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42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Embed state and candidates separately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B8DA43-2E21-4E72-AE1F-BDADDD04C1CF}"/>
              </a:ext>
            </a:extLst>
          </p:cNvPr>
          <p:cNvSpPr>
            <a:spLocks noGrp="1"/>
          </p:cNvSpPr>
          <p:nvPr/>
        </p:nvSpPr>
        <p:spPr>
          <a:xfrm>
            <a:off x="723900" y="4781550"/>
            <a:ext cx="4762500" cy="9525"/>
          </a:xfrm>
          <a:prstGeom prst="rect">
            <a:avLst/>
          </a:prstGeom>
          <a:solidFill>
            <a:srgbClr val="3444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ABD266-F5DE-4631-AAE0-B95B1426878B}"/>
              </a:ext>
            </a:extLst>
          </p:cNvPr>
          <p:cNvSpPr>
            <a:spLocks noGrp="1"/>
          </p:cNvSpPr>
          <p:nvPr/>
        </p:nvSpPr>
        <p:spPr>
          <a:xfrm>
            <a:off x="723900" y="493395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lnSpc>
                <a:spcPct val="105000"/>
              </a:lnSpc>
              <a:buNone/>
              <a:defRPr sz="90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rPr>
              <a:t>cache repeated candidates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CE340A9-4942-44B7-831D-47230ECE0217}"/>
              </a:ext>
            </a:extLst>
          </p:cNvPr>
          <p:cNvSpPr>
            <a:spLocks noGrp="1"/>
          </p:cNvSpPr>
          <p:nvPr/>
        </p:nvSpPr>
        <p:spPr>
          <a:xfrm>
            <a:off x="6019800" y="3619500"/>
            <a:ext cx="5219700" cy="1638300"/>
          </a:xfrm>
          <a:prstGeom prst="roundRect">
            <a:avLst>
              <a:gd name="adj" fmla="val 6977"/>
            </a:avLst>
          </a:prstGeom>
          <a:solidFill>
            <a:srgbClr val="101826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1D58CE3-D5BE-4DB2-B93D-2C390F2E4711}"/>
              </a:ext>
            </a:extLst>
          </p:cNvPr>
          <p:cNvSpPr>
            <a:spLocks noGrp="1"/>
          </p:cNvSpPr>
          <p:nvPr/>
        </p:nvSpPr>
        <p:spPr>
          <a:xfrm>
            <a:off x="6229350" y="3810000"/>
            <a:ext cx="2019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1" i="0">
                <a:solidFill>
                  <a:srgbClr val="AA8B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050" b="1" i="0">
                <a:solidFill>
                  <a:srgbClr val="AA8B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8BFF"/>
                </a:solidFill>
                <a:latin typeface="Arial"/>
                <a:ea typeface="Arial"/>
                <a:cs typeface="Arial"/>
              </a:rPr>
              <a:t>SMALL ENCODER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DEA3E4-F3E3-41D1-A011-058FD2C4DCCD}"/>
              </a:ext>
            </a:extLst>
          </p:cNvPr>
          <p:cNvSpPr>
            <a:spLocks noGrp="1"/>
          </p:cNvSpPr>
          <p:nvPr/>
        </p:nvSpPr>
        <p:spPr>
          <a:xfrm>
            <a:off x="6229350" y="42291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42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Train directly for typed decisions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C1FB341-0005-44C0-92FB-F91366E0B57B}"/>
              </a:ext>
            </a:extLst>
          </p:cNvPr>
          <p:cNvSpPr>
            <a:spLocks noGrp="1"/>
          </p:cNvSpPr>
          <p:nvPr/>
        </p:nvSpPr>
        <p:spPr>
          <a:xfrm>
            <a:off x="6229350" y="4781550"/>
            <a:ext cx="4762500" cy="9525"/>
          </a:xfrm>
          <a:prstGeom prst="rect">
            <a:avLst/>
          </a:prstGeom>
          <a:solidFill>
            <a:srgbClr val="3444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C74B484-D50E-4DCE-9471-93EF2A0C0DF9}"/>
              </a:ext>
            </a:extLst>
          </p:cNvPr>
          <p:cNvSpPr>
            <a:spLocks noGrp="1"/>
          </p:cNvSpPr>
          <p:nvPr/>
        </p:nvSpPr>
        <p:spPr>
          <a:xfrm>
            <a:off x="6229350" y="4933950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lnSpc>
                <a:spcPct val="105000"/>
              </a:lnSpc>
              <a:buNone/>
              <a:defRPr sz="90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rPr>
              <a:t>fast domain specialization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2494A9-2053-4110-AE25-4C95BB57A967}"/>
              </a:ext>
            </a:extLst>
          </p:cNvPr>
          <p:cNvSpPr>
            <a:spLocks noGrp="1"/>
          </p:cNvSpPr>
          <p:nvPr/>
        </p:nvSpPr>
        <p:spPr>
          <a:xfrm>
            <a:off x="514350" y="5657850"/>
            <a:ext cx="10820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7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127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The best architecture depends on breadth, repeated candidates, modality, and latency targets.</a:t>
            </a:r>
          </a:p>
        </p:txBody>
      </p:sp>
    </p:spTree>
    <p:extLst>
      <p:ext uri="{BB962C8B-B14F-4D97-AF65-F5344CB8AC3E}">
        <p14:creationId xmlns:p14="http://schemas.microsoft.com/office/powerpoint/2010/main" val="390181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C171984C-0D6D-421D-B386-CE93098B1B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B9F4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289342-B6D1-4341-9B2C-39366DA4B36E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7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B9F45D"/>
                </a:solidFill>
                <a:latin typeface="Arial"/>
                <a:ea typeface="Arial"/>
                <a:cs typeface="Arial"/>
              </a:rPr>
              <a:t>OPEN ECOSYSTEM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4878D9-7CCE-4EF8-BE98-DE88A8BF2C1D}"/>
              </a:ext>
            </a:extLst>
          </p:cNvPr>
          <p:cNvSpPr>
            <a:spLocks noGrp="1"/>
          </p:cNvSpPr>
          <p:nvPr/>
        </p:nvSpPr>
        <p:spPr>
          <a:xfrm>
            <a:off x="514350" y="5905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550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The public API triggered a rapid design search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F9F4EB-CDA4-4E8C-958B-A29B215638BC}"/>
              </a:ext>
            </a:extLst>
          </p:cNvPr>
          <p:cNvSpPr>
            <a:spLocks noGrp="1"/>
          </p:cNvSpPr>
          <p:nvPr/>
        </p:nvSpPr>
        <p:spPr>
          <a:xfrm>
            <a:off x="514350" y="1304925"/>
            <a:ext cx="11163300" cy="9525"/>
          </a:xfrm>
          <a:prstGeom prst="rect">
            <a:avLst/>
          </a:prstGeom>
          <a:solidFill>
            <a:srgbClr val="26344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B2644D-6C4E-4926-8558-430383A25322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675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675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pPr>
            <a:r>
              <a:rPr lang="en-US" sz="675" b="1" i="0" dirty="0">
                <a:solidFill>
                  <a:srgbClr val="7E8B9D"/>
                </a:solidFill>
                <a:latin typeface="Arial"/>
                <a:ea typeface="Arial"/>
                <a:cs typeface="Arial"/>
              </a:rPr>
              <a:t>08</a:t>
            </a:r>
            <a:endParaRPr sz="675" b="1" i="0" dirty="0">
              <a:solidFill>
                <a:srgbClr val="7E8B9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07E424-0E6C-4962-903A-B694F8AFF6FA}"/>
              </a:ext>
            </a:extLst>
          </p:cNvPr>
          <p:cNvSpPr>
            <a:spLocks noGrp="1"/>
          </p:cNvSpPr>
          <p:nvPr/>
        </p:nvSpPr>
        <p:spPr>
          <a:xfrm>
            <a:off x="876300" y="3390900"/>
            <a:ext cx="10191750" cy="38100"/>
          </a:xfrm>
          <a:prstGeom prst="rect">
            <a:avLst/>
          </a:prstGeom>
          <a:solidFill>
            <a:srgbClr val="3444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9260C8C-5511-4250-9940-00CF44FE70FF}"/>
              </a:ext>
            </a:extLst>
          </p:cNvPr>
          <p:cNvSpPr>
            <a:spLocks noGrp="1"/>
          </p:cNvSpPr>
          <p:nvPr/>
        </p:nvSpPr>
        <p:spPr>
          <a:xfrm>
            <a:off x="1066800" y="3314700"/>
            <a:ext cx="190500" cy="190500"/>
          </a:xfrm>
          <a:prstGeom prst="ellipse">
            <a:avLst/>
          </a:prstGeom>
          <a:solidFill>
            <a:srgbClr val="54D6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546799-360B-4954-BDAE-0DDE6E77D4B2}"/>
              </a:ext>
            </a:extLst>
          </p:cNvPr>
          <p:cNvSpPr>
            <a:spLocks noGrp="1"/>
          </p:cNvSpPr>
          <p:nvPr/>
        </p:nvSpPr>
        <p:spPr>
          <a:xfrm>
            <a:off x="1143000" y="3048000"/>
            <a:ext cx="19050" cy="990600"/>
          </a:xfrm>
          <a:prstGeom prst="rect">
            <a:avLst/>
          </a:prstGeom>
          <a:solidFill>
            <a:srgbClr val="54D6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CC4A2A6-05A2-4324-9398-D33CF2F68D8D}"/>
              </a:ext>
            </a:extLst>
          </p:cNvPr>
          <p:cNvSpPr>
            <a:spLocks noGrp="1"/>
          </p:cNvSpPr>
          <p:nvPr/>
        </p:nvSpPr>
        <p:spPr>
          <a:xfrm>
            <a:off x="552450" y="2324100"/>
            <a:ext cx="1219200" cy="723900"/>
          </a:xfrm>
          <a:prstGeom prst="roundRect">
            <a:avLst>
              <a:gd name="adj" fmla="val 15789"/>
            </a:avLst>
          </a:prstGeom>
          <a:solidFill>
            <a:srgbClr val="101826"/>
          </a:solidFill>
          <a:ln w="9525">
            <a:solidFill>
              <a:srgbClr val="54D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5EE9E0-466E-429A-9C30-584330525CE6}"/>
              </a:ext>
            </a:extLst>
          </p:cNvPr>
          <p:cNvSpPr>
            <a:spLocks noGrp="1"/>
          </p:cNvSpPr>
          <p:nvPr/>
        </p:nvSpPr>
        <p:spPr>
          <a:xfrm>
            <a:off x="647700" y="2457450"/>
            <a:ext cx="1028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975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975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4D6FF"/>
                </a:solidFill>
                <a:latin typeface="Arial"/>
                <a:ea typeface="Arial"/>
                <a:cs typeface="Arial"/>
              </a:rPr>
              <a:t>OpenJev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5766BE-F428-4AB9-8CBB-7FF67669BDFF}"/>
              </a:ext>
            </a:extLst>
          </p:cNvPr>
          <p:cNvSpPr>
            <a:spLocks noGrp="1"/>
          </p:cNvSpPr>
          <p:nvPr/>
        </p:nvSpPr>
        <p:spPr>
          <a:xfrm>
            <a:off x="647700" y="2733675"/>
            <a:ext cx="1028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75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ctr">
              <a:lnSpc>
                <a:spcPct val="105000"/>
              </a:lnSpc>
              <a:buNone/>
              <a:defRPr sz="75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pPr>
            <a:r>
              <a:rPr sz="75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rPr>
              <a:t>decoder logits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6B4DC3C-15D3-45E8-90D7-343C453B114A}"/>
              </a:ext>
            </a:extLst>
          </p:cNvPr>
          <p:cNvSpPr>
            <a:spLocks noGrp="1"/>
          </p:cNvSpPr>
          <p:nvPr/>
        </p:nvSpPr>
        <p:spPr>
          <a:xfrm>
            <a:off x="2895600" y="3314700"/>
            <a:ext cx="190500" cy="190500"/>
          </a:xfrm>
          <a:prstGeom prst="ellipse">
            <a:avLst/>
          </a:prstGeom>
          <a:solidFill>
            <a:srgbClr val="B9F4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65FC39-FE24-4AAC-8734-7E9F1CFD4852}"/>
              </a:ext>
            </a:extLst>
          </p:cNvPr>
          <p:cNvSpPr>
            <a:spLocks noGrp="1"/>
          </p:cNvSpPr>
          <p:nvPr/>
        </p:nvSpPr>
        <p:spPr>
          <a:xfrm>
            <a:off x="2971800" y="3505200"/>
            <a:ext cx="19050" cy="381000"/>
          </a:xfrm>
          <a:prstGeom prst="rect">
            <a:avLst/>
          </a:prstGeom>
          <a:solidFill>
            <a:srgbClr val="B9F4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32B1D39-73E8-4CDE-BFFA-FD7D4DC4110D}"/>
              </a:ext>
            </a:extLst>
          </p:cNvPr>
          <p:cNvSpPr>
            <a:spLocks noGrp="1"/>
          </p:cNvSpPr>
          <p:nvPr/>
        </p:nvSpPr>
        <p:spPr>
          <a:xfrm>
            <a:off x="2381250" y="3886200"/>
            <a:ext cx="1219200" cy="723900"/>
          </a:xfrm>
          <a:prstGeom prst="roundRect">
            <a:avLst>
              <a:gd name="adj" fmla="val 15789"/>
            </a:avLst>
          </a:prstGeom>
          <a:solidFill>
            <a:srgbClr val="101826"/>
          </a:solidFill>
          <a:ln w="9525">
            <a:solidFill>
              <a:srgbClr val="B9F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32DEC2-D28F-4FD9-A859-FEB094854C82}"/>
              </a:ext>
            </a:extLst>
          </p:cNvPr>
          <p:cNvSpPr>
            <a:spLocks noGrp="1"/>
          </p:cNvSpPr>
          <p:nvPr/>
        </p:nvSpPr>
        <p:spPr>
          <a:xfrm>
            <a:off x="2476500" y="4019550"/>
            <a:ext cx="1028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975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975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9F45D"/>
                </a:solidFill>
                <a:latin typeface="Arial"/>
                <a:ea typeface="Arial"/>
                <a:cs typeface="Arial"/>
              </a:rPr>
              <a:t>Nimble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9E308D-E4B7-49B6-83AB-F6729321A011}"/>
              </a:ext>
            </a:extLst>
          </p:cNvPr>
          <p:cNvSpPr>
            <a:spLocks noGrp="1"/>
          </p:cNvSpPr>
          <p:nvPr/>
        </p:nvSpPr>
        <p:spPr>
          <a:xfrm>
            <a:off x="2476500" y="4295775"/>
            <a:ext cx="1028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75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ctr">
              <a:lnSpc>
                <a:spcPct val="105000"/>
              </a:lnSpc>
              <a:buNone/>
              <a:defRPr sz="75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pPr>
            <a:r>
              <a:rPr sz="75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rPr>
              <a:t>9B LoRA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2F90C37-093D-48CC-AED4-BA51FDF8343E}"/>
              </a:ext>
            </a:extLst>
          </p:cNvPr>
          <p:cNvSpPr>
            <a:spLocks noGrp="1"/>
          </p:cNvSpPr>
          <p:nvPr/>
        </p:nvSpPr>
        <p:spPr>
          <a:xfrm>
            <a:off x="4724400" y="3314700"/>
            <a:ext cx="190500" cy="190500"/>
          </a:xfrm>
          <a:prstGeom prst="ellipse">
            <a:avLst/>
          </a:prstGeom>
          <a:solidFill>
            <a:srgbClr val="F8C15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739E82-A772-47D8-B88C-D3E09BD94A35}"/>
              </a:ext>
            </a:extLst>
          </p:cNvPr>
          <p:cNvSpPr>
            <a:spLocks noGrp="1"/>
          </p:cNvSpPr>
          <p:nvPr/>
        </p:nvSpPr>
        <p:spPr>
          <a:xfrm>
            <a:off x="4800600" y="3048000"/>
            <a:ext cx="19050" cy="990600"/>
          </a:xfrm>
          <a:prstGeom prst="rect">
            <a:avLst/>
          </a:prstGeom>
          <a:solidFill>
            <a:srgbClr val="F8C15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2E64340-B72A-4133-812A-51C0B86C8FDB}"/>
              </a:ext>
            </a:extLst>
          </p:cNvPr>
          <p:cNvSpPr>
            <a:spLocks noGrp="1"/>
          </p:cNvSpPr>
          <p:nvPr/>
        </p:nvSpPr>
        <p:spPr>
          <a:xfrm>
            <a:off x="4210050" y="2324100"/>
            <a:ext cx="1219200" cy="723900"/>
          </a:xfrm>
          <a:prstGeom prst="roundRect">
            <a:avLst>
              <a:gd name="adj" fmla="val 15789"/>
            </a:avLst>
          </a:prstGeom>
          <a:solidFill>
            <a:srgbClr val="101826"/>
          </a:solidFill>
          <a:ln w="9525">
            <a:solidFill>
              <a:srgbClr val="F8C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E20D89-DD7E-4991-BBD5-BBBB6074B5B2}"/>
              </a:ext>
            </a:extLst>
          </p:cNvPr>
          <p:cNvSpPr>
            <a:spLocks noGrp="1"/>
          </p:cNvSpPr>
          <p:nvPr/>
        </p:nvSpPr>
        <p:spPr>
          <a:xfrm>
            <a:off x="4305300" y="2457450"/>
            <a:ext cx="1028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975" b="1" i="0">
                <a:solidFill>
                  <a:srgbClr val="F8C1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975" b="1" i="0">
                <a:solidFill>
                  <a:srgbClr val="F8C15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8C15C"/>
                </a:solidFill>
                <a:latin typeface="Arial"/>
                <a:ea typeface="Arial"/>
                <a:cs typeface="Arial"/>
              </a:rPr>
              <a:t>AutoJev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7782E2-0F62-4428-8431-4FC2492BB319}"/>
              </a:ext>
            </a:extLst>
          </p:cNvPr>
          <p:cNvSpPr>
            <a:spLocks noGrp="1"/>
          </p:cNvSpPr>
          <p:nvPr/>
        </p:nvSpPr>
        <p:spPr>
          <a:xfrm>
            <a:off x="4305300" y="2733675"/>
            <a:ext cx="1028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75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ctr">
              <a:lnSpc>
                <a:spcPct val="105000"/>
              </a:lnSpc>
              <a:buNone/>
              <a:defRPr sz="75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pPr>
            <a:r>
              <a:rPr sz="75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rPr>
              <a:t>27B readout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B0CC07A-72F5-4FA5-8A12-692B72943EAE}"/>
              </a:ext>
            </a:extLst>
          </p:cNvPr>
          <p:cNvSpPr>
            <a:spLocks noGrp="1"/>
          </p:cNvSpPr>
          <p:nvPr/>
        </p:nvSpPr>
        <p:spPr>
          <a:xfrm>
            <a:off x="6553200" y="3314700"/>
            <a:ext cx="190500" cy="190500"/>
          </a:xfrm>
          <a:prstGeom prst="ellipse">
            <a:avLst/>
          </a:prstGeom>
          <a:solidFill>
            <a:srgbClr val="4BE0B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7AF4A0D-C81D-4CDD-871D-4813ABDF7BED}"/>
              </a:ext>
            </a:extLst>
          </p:cNvPr>
          <p:cNvSpPr>
            <a:spLocks noGrp="1"/>
          </p:cNvSpPr>
          <p:nvPr/>
        </p:nvSpPr>
        <p:spPr>
          <a:xfrm>
            <a:off x="6629400" y="3505200"/>
            <a:ext cx="19050" cy="381000"/>
          </a:xfrm>
          <a:prstGeom prst="rect">
            <a:avLst/>
          </a:prstGeom>
          <a:solidFill>
            <a:srgbClr val="4BE0B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2177BFF-C9C6-4BCA-9F44-C21FB26D852D}"/>
              </a:ext>
            </a:extLst>
          </p:cNvPr>
          <p:cNvSpPr>
            <a:spLocks noGrp="1"/>
          </p:cNvSpPr>
          <p:nvPr/>
        </p:nvSpPr>
        <p:spPr>
          <a:xfrm>
            <a:off x="6038850" y="3886200"/>
            <a:ext cx="1219200" cy="723900"/>
          </a:xfrm>
          <a:prstGeom prst="roundRect">
            <a:avLst>
              <a:gd name="adj" fmla="val 15789"/>
            </a:avLst>
          </a:prstGeom>
          <a:solidFill>
            <a:srgbClr val="101826"/>
          </a:solidFill>
          <a:ln w="9525">
            <a:solidFill>
              <a:srgbClr val="4BE0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3B63057-B048-42CD-9DDE-5DC0A980724B}"/>
              </a:ext>
            </a:extLst>
          </p:cNvPr>
          <p:cNvSpPr>
            <a:spLocks noGrp="1"/>
          </p:cNvSpPr>
          <p:nvPr/>
        </p:nvSpPr>
        <p:spPr>
          <a:xfrm>
            <a:off x="6134100" y="4019550"/>
            <a:ext cx="1028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975" b="1" i="0">
                <a:solidFill>
                  <a:srgbClr val="4BE0B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975" b="1" i="0">
                <a:solidFill>
                  <a:srgbClr val="4BE0B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BE0B5"/>
                </a:solidFill>
                <a:latin typeface="Arial"/>
                <a:ea typeface="Arial"/>
                <a:cs typeface="Arial"/>
              </a:rPr>
              <a:t>CLM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2D306C3-3E07-43B5-A90F-5DA3E122BC53}"/>
              </a:ext>
            </a:extLst>
          </p:cNvPr>
          <p:cNvSpPr>
            <a:spLocks noGrp="1"/>
          </p:cNvSpPr>
          <p:nvPr/>
        </p:nvSpPr>
        <p:spPr>
          <a:xfrm>
            <a:off x="6134100" y="4295775"/>
            <a:ext cx="1028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75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ctr">
              <a:lnSpc>
                <a:spcPct val="105000"/>
              </a:lnSpc>
              <a:buNone/>
              <a:defRPr sz="75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pPr>
            <a:r>
              <a:rPr sz="75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rPr>
              <a:t>dual encoder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C765541-C755-4215-BD4C-EAD6FFF92FCB}"/>
              </a:ext>
            </a:extLst>
          </p:cNvPr>
          <p:cNvSpPr>
            <a:spLocks noGrp="1"/>
          </p:cNvSpPr>
          <p:nvPr/>
        </p:nvSpPr>
        <p:spPr>
          <a:xfrm>
            <a:off x="8382000" y="3314700"/>
            <a:ext cx="190500" cy="190500"/>
          </a:xfrm>
          <a:prstGeom prst="ellipse">
            <a:avLst/>
          </a:prstGeom>
          <a:solidFill>
            <a:srgbClr val="AA8B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4B79884-3D4D-495E-8EDB-2334A1EFC254}"/>
              </a:ext>
            </a:extLst>
          </p:cNvPr>
          <p:cNvSpPr>
            <a:spLocks noGrp="1"/>
          </p:cNvSpPr>
          <p:nvPr/>
        </p:nvSpPr>
        <p:spPr>
          <a:xfrm>
            <a:off x="8458200" y="3048000"/>
            <a:ext cx="19050" cy="990600"/>
          </a:xfrm>
          <a:prstGeom prst="rect">
            <a:avLst/>
          </a:prstGeom>
          <a:solidFill>
            <a:srgbClr val="AA8B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78D57E3D-94AF-41F8-BBB7-8F00AE708AA4}"/>
              </a:ext>
            </a:extLst>
          </p:cNvPr>
          <p:cNvSpPr>
            <a:spLocks noGrp="1"/>
          </p:cNvSpPr>
          <p:nvPr/>
        </p:nvSpPr>
        <p:spPr>
          <a:xfrm>
            <a:off x="7867650" y="2324100"/>
            <a:ext cx="1219200" cy="723900"/>
          </a:xfrm>
          <a:prstGeom prst="roundRect">
            <a:avLst>
              <a:gd name="adj" fmla="val 15789"/>
            </a:avLst>
          </a:prstGeom>
          <a:solidFill>
            <a:srgbClr val="101826"/>
          </a:solidFill>
          <a:ln w="9525">
            <a:solidFill>
              <a:srgbClr val="AA8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583926D-A04E-4E1A-844F-BE86DC3BF3A8}"/>
              </a:ext>
            </a:extLst>
          </p:cNvPr>
          <p:cNvSpPr>
            <a:spLocks noGrp="1"/>
          </p:cNvSpPr>
          <p:nvPr/>
        </p:nvSpPr>
        <p:spPr>
          <a:xfrm>
            <a:off x="7962900" y="2457450"/>
            <a:ext cx="1028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975" b="1" i="0">
                <a:solidFill>
                  <a:srgbClr val="AA8B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975" b="1" i="0">
                <a:solidFill>
                  <a:srgbClr val="AA8B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A8BFF"/>
                </a:solidFill>
                <a:latin typeface="Arial"/>
                <a:ea typeface="Arial"/>
                <a:cs typeface="Arial"/>
              </a:rPr>
              <a:t>Laya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53E7228-1334-42F7-A390-4023D48F08D7}"/>
              </a:ext>
            </a:extLst>
          </p:cNvPr>
          <p:cNvSpPr>
            <a:spLocks noGrp="1"/>
          </p:cNvSpPr>
          <p:nvPr/>
        </p:nvSpPr>
        <p:spPr>
          <a:xfrm>
            <a:off x="7962900" y="2733675"/>
            <a:ext cx="1028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75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ctr">
              <a:lnSpc>
                <a:spcPct val="105000"/>
              </a:lnSpc>
              <a:buNone/>
              <a:defRPr sz="75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pPr>
            <a:r>
              <a:rPr sz="75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rPr>
              <a:t>small encoder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62994CF-FD44-4B2D-91D8-7FB1757BEF8D}"/>
              </a:ext>
            </a:extLst>
          </p:cNvPr>
          <p:cNvSpPr>
            <a:spLocks noGrp="1"/>
          </p:cNvSpPr>
          <p:nvPr/>
        </p:nvSpPr>
        <p:spPr>
          <a:xfrm>
            <a:off x="10210800" y="3314700"/>
            <a:ext cx="190500" cy="190500"/>
          </a:xfrm>
          <a:prstGeom prst="ellipse">
            <a:avLst/>
          </a:prstGeom>
          <a:solidFill>
            <a:srgbClr val="FF7D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54D9AD-651B-437C-99AD-BD57DEC7440C}"/>
              </a:ext>
            </a:extLst>
          </p:cNvPr>
          <p:cNvSpPr>
            <a:spLocks noGrp="1"/>
          </p:cNvSpPr>
          <p:nvPr/>
        </p:nvSpPr>
        <p:spPr>
          <a:xfrm>
            <a:off x="10287000" y="3505200"/>
            <a:ext cx="19050" cy="381000"/>
          </a:xfrm>
          <a:prstGeom prst="rect">
            <a:avLst/>
          </a:prstGeom>
          <a:solidFill>
            <a:srgbClr val="FF7D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B78A01BB-5744-4D32-8679-E9713AE60CA2}"/>
              </a:ext>
            </a:extLst>
          </p:cNvPr>
          <p:cNvSpPr>
            <a:spLocks noGrp="1"/>
          </p:cNvSpPr>
          <p:nvPr/>
        </p:nvSpPr>
        <p:spPr>
          <a:xfrm>
            <a:off x="9696450" y="3886200"/>
            <a:ext cx="1219200" cy="723900"/>
          </a:xfrm>
          <a:prstGeom prst="roundRect">
            <a:avLst>
              <a:gd name="adj" fmla="val 15789"/>
            </a:avLst>
          </a:prstGeom>
          <a:solidFill>
            <a:srgbClr val="101826"/>
          </a:solidFill>
          <a:ln w="9525">
            <a:solidFill>
              <a:srgbClr val="FF7D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E858E82-5D2D-4444-84A3-A2FB27F7CC6C}"/>
              </a:ext>
            </a:extLst>
          </p:cNvPr>
          <p:cNvSpPr>
            <a:spLocks noGrp="1"/>
          </p:cNvSpPr>
          <p:nvPr/>
        </p:nvSpPr>
        <p:spPr>
          <a:xfrm>
            <a:off x="9791700" y="4019550"/>
            <a:ext cx="1028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975" b="1" i="0">
                <a:solidFill>
                  <a:srgbClr val="FF7D7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975" b="1" i="0">
                <a:solidFill>
                  <a:srgbClr val="FF7D7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7D70"/>
                </a:solidFill>
                <a:latin typeface="Arial"/>
                <a:ea typeface="Arial"/>
                <a:cs typeface="Arial"/>
              </a:rPr>
              <a:t>Clef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0AFCD95-17B0-4E43-8CCD-FAFDFF331FA0}"/>
              </a:ext>
            </a:extLst>
          </p:cNvPr>
          <p:cNvSpPr>
            <a:spLocks noGrp="1"/>
          </p:cNvSpPr>
          <p:nvPr/>
        </p:nvSpPr>
        <p:spPr>
          <a:xfrm>
            <a:off x="9791700" y="4295775"/>
            <a:ext cx="1028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75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ctr">
              <a:lnSpc>
                <a:spcPct val="105000"/>
              </a:lnSpc>
              <a:buNone/>
              <a:defRPr sz="75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pPr>
            <a:r>
              <a:rPr sz="75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rPr>
              <a:t>multimodal head</a:t>
            </a:r>
          </a:p>
        </p:txBody>
      </p:sp>
    </p:spTree>
    <p:extLst>
      <p:ext uri="{BB962C8B-B14F-4D97-AF65-F5344CB8AC3E}">
        <p14:creationId xmlns:p14="http://schemas.microsoft.com/office/powerpoint/2010/main" val="981927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2794589-9BCC-457B-B6E5-2CD59FE1CF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B9F4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4C74E4-4B44-497D-8FAA-ACD0A6D50C90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7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B9F45D"/>
                </a:solidFill>
                <a:latin typeface="Arial"/>
                <a:ea typeface="Arial"/>
                <a:cs typeface="Arial"/>
              </a:rPr>
              <a:t>DECODER APPROACH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D83E2E-4C24-4168-ADBE-38327DA454FC}"/>
              </a:ext>
            </a:extLst>
          </p:cNvPr>
          <p:cNvSpPr>
            <a:spLocks noGrp="1"/>
          </p:cNvSpPr>
          <p:nvPr/>
        </p:nvSpPr>
        <p:spPr>
          <a:xfrm>
            <a:off x="514350" y="5905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32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32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OpenJev and Nimble reuse the language-model decision surface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DD7124-7903-4786-B213-6AB68C6BFC86}"/>
              </a:ext>
            </a:extLst>
          </p:cNvPr>
          <p:cNvSpPr>
            <a:spLocks noGrp="1"/>
          </p:cNvSpPr>
          <p:nvPr/>
        </p:nvSpPr>
        <p:spPr>
          <a:xfrm>
            <a:off x="514350" y="1304925"/>
            <a:ext cx="11163300" cy="9525"/>
          </a:xfrm>
          <a:prstGeom prst="rect">
            <a:avLst/>
          </a:prstGeom>
          <a:solidFill>
            <a:srgbClr val="26344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DA63F6-38EF-4BA0-B94D-7976DA56A57D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675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675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pPr>
            <a:r>
              <a:rPr lang="en-US" sz="675" b="1" i="0" dirty="0">
                <a:solidFill>
                  <a:srgbClr val="7E8B9D"/>
                </a:solidFill>
                <a:latin typeface="Arial"/>
                <a:ea typeface="Arial"/>
                <a:cs typeface="Arial"/>
              </a:rPr>
              <a:t>09</a:t>
            </a:r>
            <a:endParaRPr sz="675" b="1" i="0" dirty="0">
              <a:solidFill>
                <a:srgbClr val="7E8B9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672E2C8-2B3D-4DA4-836A-E0A4F25532C1}"/>
              </a:ext>
            </a:extLst>
          </p:cNvPr>
          <p:cNvSpPr>
            <a:spLocks noGrp="1"/>
          </p:cNvSpPr>
          <p:nvPr/>
        </p:nvSpPr>
        <p:spPr>
          <a:xfrm>
            <a:off x="514350" y="1752600"/>
            <a:ext cx="5219700" cy="2152650"/>
          </a:xfrm>
          <a:prstGeom prst="roundRect">
            <a:avLst>
              <a:gd name="adj" fmla="val 5310"/>
            </a:avLst>
          </a:prstGeom>
          <a:solidFill>
            <a:srgbClr val="0D2D3A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B44BD7-3CE3-4A83-B55E-1427FC756B70}"/>
              </a:ext>
            </a:extLst>
          </p:cNvPr>
          <p:cNvSpPr>
            <a:spLocks noGrp="1"/>
          </p:cNvSpPr>
          <p:nvPr/>
        </p:nvSpPr>
        <p:spPr>
          <a:xfrm>
            <a:off x="514350" y="1752600"/>
            <a:ext cx="47625" cy="2152650"/>
          </a:xfrm>
          <a:prstGeom prst="rect">
            <a:avLst/>
          </a:prstGeom>
          <a:solidFill>
            <a:srgbClr val="54D6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275B57-6321-4CC2-A819-4DD71ECEB084}"/>
              </a:ext>
            </a:extLst>
          </p:cNvPr>
          <p:cNvSpPr>
            <a:spLocks noGrp="1"/>
          </p:cNvSpPr>
          <p:nvPr/>
        </p:nvSpPr>
        <p:spPr>
          <a:xfrm>
            <a:off x="704850" y="1905000"/>
            <a:ext cx="4876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00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4D6FF"/>
                </a:solidFill>
                <a:latin typeface="Arial"/>
                <a:ea typeface="Arial"/>
                <a:cs typeface="Arial"/>
              </a:rPr>
              <a:t>OPENJEV-SGLANG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153065-8139-4B44-A4DC-098BC52F4407}"/>
              </a:ext>
            </a:extLst>
          </p:cNvPr>
          <p:cNvSpPr>
            <a:spLocks noGrp="1"/>
          </p:cNvSpPr>
          <p:nvPr/>
        </p:nvSpPr>
        <p:spPr>
          <a:xfrm>
            <a:off x="704850" y="2228850"/>
            <a:ext cx="4876800" cy="1543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6000"/>
              </a:lnSpc>
              <a:buNone/>
              <a:defRPr sz="97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Warm the state prefix, append one question, request one-token log probabilities, gather legal candidate codes, and normalize. Little or no training required.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CF2D079-3D25-422B-9FFE-0EB6CDD2B3BE}"/>
              </a:ext>
            </a:extLst>
          </p:cNvPr>
          <p:cNvSpPr>
            <a:spLocks noGrp="1"/>
          </p:cNvSpPr>
          <p:nvPr/>
        </p:nvSpPr>
        <p:spPr>
          <a:xfrm>
            <a:off x="6115050" y="1752600"/>
            <a:ext cx="5219700" cy="2152650"/>
          </a:xfrm>
          <a:prstGeom prst="roundRect">
            <a:avLst>
              <a:gd name="adj" fmla="val 5310"/>
            </a:avLst>
          </a:prstGeom>
          <a:solidFill>
            <a:srgbClr val="1D351B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85AF56-F8F8-4F47-847F-A6B31A6361F9}"/>
              </a:ext>
            </a:extLst>
          </p:cNvPr>
          <p:cNvSpPr>
            <a:spLocks noGrp="1"/>
          </p:cNvSpPr>
          <p:nvPr/>
        </p:nvSpPr>
        <p:spPr>
          <a:xfrm>
            <a:off x="6115050" y="1752600"/>
            <a:ext cx="47625" cy="2152650"/>
          </a:xfrm>
          <a:prstGeom prst="rect">
            <a:avLst/>
          </a:prstGeom>
          <a:solidFill>
            <a:srgbClr val="B9F4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6C618F-2727-46F7-8E2D-A44F31A7ADF0}"/>
              </a:ext>
            </a:extLst>
          </p:cNvPr>
          <p:cNvSpPr>
            <a:spLocks noGrp="1"/>
          </p:cNvSpPr>
          <p:nvPr/>
        </p:nvSpPr>
        <p:spPr>
          <a:xfrm>
            <a:off x="6305550" y="1905000"/>
            <a:ext cx="4876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0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9F45D"/>
                </a:solidFill>
                <a:latin typeface="Arial"/>
                <a:ea typeface="Arial"/>
                <a:cs typeface="Arial"/>
              </a:rPr>
              <a:t>NIMBLE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B49714-D678-4D7C-A88B-2E90FE956A98}"/>
              </a:ext>
            </a:extLst>
          </p:cNvPr>
          <p:cNvSpPr>
            <a:spLocks noGrp="1"/>
          </p:cNvSpPr>
          <p:nvPr/>
        </p:nvSpPr>
        <p:spPr>
          <a:xfrm>
            <a:off x="6305550" y="2228850"/>
            <a:ext cx="4876800" cy="1543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6000"/>
              </a:lnSpc>
              <a:buNone/>
              <a:defRPr sz="97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Start with Qwen3.5-9B, train a LoRA on typed decision examples, randomize candidate order and label codes, then fit calibration on held-out data.</a:t>
            </a:r>
          </a:p>
        </p:txBody>
      </p:sp>
    </p:spTree>
    <p:extLst>
      <p:ext uri="{BB962C8B-B14F-4D97-AF65-F5344CB8AC3E}">
        <p14:creationId xmlns:p14="http://schemas.microsoft.com/office/powerpoint/2010/main" val="45363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E467A7FD-5B61-420F-B99D-B362F5104E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B9F4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034F7C-FDD3-41FD-BA7B-28D7CBB07A04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7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B9F45D"/>
                </a:solidFill>
                <a:latin typeface="Arial"/>
                <a:ea typeface="Arial"/>
                <a:cs typeface="Arial"/>
              </a:rPr>
              <a:t>DECISION-HEAD APPROACH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3CED05-99E5-4DEA-B6BF-939C09FBF4D5}"/>
              </a:ext>
            </a:extLst>
          </p:cNvPr>
          <p:cNvSpPr>
            <a:spLocks noGrp="1"/>
          </p:cNvSpPr>
          <p:nvPr/>
        </p:nvSpPr>
        <p:spPr>
          <a:xfrm>
            <a:off x="514350" y="5905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32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32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AutoJev and Clef train a dedicated decision readout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88F726-7238-4F92-8468-2ED93B7814A2}"/>
              </a:ext>
            </a:extLst>
          </p:cNvPr>
          <p:cNvSpPr>
            <a:spLocks noGrp="1"/>
          </p:cNvSpPr>
          <p:nvPr/>
        </p:nvSpPr>
        <p:spPr>
          <a:xfrm>
            <a:off x="514350" y="1304925"/>
            <a:ext cx="11163300" cy="9525"/>
          </a:xfrm>
          <a:prstGeom prst="rect">
            <a:avLst/>
          </a:prstGeom>
          <a:solidFill>
            <a:srgbClr val="26344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25F87C-CCA9-4777-BA06-A9087973EE75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675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675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pPr>
            <a:r>
              <a:rPr lang="en-US" sz="675" b="1" i="0" dirty="0">
                <a:solidFill>
                  <a:srgbClr val="7E8B9D"/>
                </a:solidFill>
                <a:latin typeface="Arial"/>
                <a:ea typeface="Arial"/>
                <a:cs typeface="Arial"/>
              </a:rPr>
              <a:t>10</a:t>
            </a:r>
          </a:p>
          <a:p>
            <a:pPr algn="r">
              <a:lnSpc>
                <a:spcPct val="105000"/>
              </a:lnSpc>
              <a:buNone/>
              <a:defRPr sz="675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pPr>
            <a:endParaRPr sz="675" b="1" i="0" dirty="0">
              <a:solidFill>
                <a:srgbClr val="7E8B9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7F087B3-03EF-442A-AB21-97E57A6071ED}"/>
              </a:ext>
            </a:extLst>
          </p:cNvPr>
          <p:cNvSpPr>
            <a:spLocks noGrp="1"/>
          </p:cNvSpPr>
          <p:nvPr/>
        </p:nvSpPr>
        <p:spPr>
          <a:xfrm>
            <a:off x="514350" y="2286000"/>
            <a:ext cx="2247900" cy="990600"/>
          </a:xfrm>
          <a:prstGeom prst="roundRect">
            <a:avLst>
              <a:gd name="adj" fmla="val 11538"/>
            </a:avLst>
          </a:prstGeom>
          <a:solidFill>
            <a:srgbClr val="101826"/>
          </a:solidFill>
          <a:ln w="11430">
            <a:solidFill>
              <a:srgbClr val="54D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49340C-4E00-4AD8-B7DA-58556152D86F}"/>
              </a:ext>
            </a:extLst>
          </p:cNvPr>
          <p:cNvSpPr>
            <a:spLocks noGrp="1"/>
          </p:cNvSpPr>
          <p:nvPr/>
        </p:nvSpPr>
        <p:spPr>
          <a:xfrm>
            <a:off x="647700" y="2400300"/>
            <a:ext cx="1981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125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4D6FF"/>
                </a:solidFill>
                <a:latin typeface="Arial"/>
                <a:ea typeface="Arial"/>
                <a:cs typeface="Arial"/>
              </a:rPr>
              <a:t>BACKBONE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5A3573-2075-482A-9513-2B98D1229E1A}"/>
              </a:ext>
            </a:extLst>
          </p:cNvPr>
          <p:cNvSpPr>
            <a:spLocks noGrp="1"/>
          </p:cNvSpPr>
          <p:nvPr/>
        </p:nvSpPr>
        <p:spPr>
          <a:xfrm>
            <a:off x="647700" y="2667000"/>
            <a:ext cx="1981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82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Qwen hidden states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041338C-B506-4B37-B4FC-E84D275FC5C1}"/>
              </a:ext>
            </a:extLst>
          </p:cNvPr>
          <p:cNvSpPr>
            <a:spLocks noGrp="1"/>
          </p:cNvSpPr>
          <p:nvPr/>
        </p:nvSpPr>
        <p:spPr>
          <a:xfrm>
            <a:off x="3486150" y="2286000"/>
            <a:ext cx="2247900" cy="990600"/>
          </a:xfrm>
          <a:prstGeom prst="roundRect">
            <a:avLst>
              <a:gd name="adj" fmla="val 11538"/>
            </a:avLst>
          </a:prstGeom>
          <a:solidFill>
            <a:srgbClr val="101826"/>
          </a:solidFill>
          <a:ln w="11430">
            <a:solidFill>
              <a:srgbClr val="AA8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F18FB9-9610-4C21-B975-AC18C1DCDD03}"/>
              </a:ext>
            </a:extLst>
          </p:cNvPr>
          <p:cNvSpPr>
            <a:spLocks noGrp="1"/>
          </p:cNvSpPr>
          <p:nvPr/>
        </p:nvSpPr>
        <p:spPr>
          <a:xfrm>
            <a:off x="3619500" y="2400300"/>
            <a:ext cx="1981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 i="0">
                <a:solidFill>
                  <a:srgbClr val="AA8B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125" b="1" i="0">
                <a:solidFill>
                  <a:srgbClr val="AA8B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AA8BFF"/>
                </a:solidFill>
                <a:latin typeface="Arial"/>
                <a:ea typeface="Arial"/>
                <a:cs typeface="Arial"/>
              </a:rPr>
              <a:t>QUESTION FEATURES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702EA1-F853-4C3E-A5F6-1C7B7BB69C13}"/>
              </a:ext>
            </a:extLst>
          </p:cNvPr>
          <p:cNvSpPr>
            <a:spLocks noGrp="1"/>
          </p:cNvSpPr>
          <p:nvPr/>
        </p:nvSpPr>
        <p:spPr>
          <a:xfrm>
            <a:off x="3619500" y="2667000"/>
            <a:ext cx="1981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82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one representation per question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826C281-2423-49A2-84F2-2762558828E1}"/>
              </a:ext>
            </a:extLst>
          </p:cNvPr>
          <p:cNvSpPr>
            <a:spLocks noGrp="1"/>
          </p:cNvSpPr>
          <p:nvPr/>
        </p:nvSpPr>
        <p:spPr>
          <a:xfrm>
            <a:off x="6457950" y="2286000"/>
            <a:ext cx="2247900" cy="990600"/>
          </a:xfrm>
          <a:prstGeom prst="roundRect">
            <a:avLst>
              <a:gd name="adj" fmla="val 11538"/>
            </a:avLst>
          </a:prstGeom>
          <a:solidFill>
            <a:srgbClr val="101826"/>
          </a:solidFill>
          <a:ln w="11430">
            <a:solidFill>
              <a:srgbClr val="F8C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64CDE7-9690-4C18-A5C8-D09F391828F6}"/>
              </a:ext>
            </a:extLst>
          </p:cNvPr>
          <p:cNvSpPr>
            <a:spLocks noGrp="1"/>
          </p:cNvSpPr>
          <p:nvPr/>
        </p:nvSpPr>
        <p:spPr>
          <a:xfrm>
            <a:off x="6591300" y="2400300"/>
            <a:ext cx="1981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 i="0">
                <a:solidFill>
                  <a:srgbClr val="F8C15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125" b="1" i="0">
                <a:solidFill>
                  <a:srgbClr val="F8C15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8C15C"/>
                </a:solidFill>
                <a:latin typeface="Arial"/>
                <a:ea typeface="Arial"/>
                <a:cs typeface="Arial"/>
              </a:rPr>
              <a:t>DECISION HEAD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B0B531-A598-4F72-ADDB-4D8A8BFF9922}"/>
              </a:ext>
            </a:extLst>
          </p:cNvPr>
          <p:cNvSpPr>
            <a:spLocks noGrp="1"/>
          </p:cNvSpPr>
          <p:nvPr/>
        </p:nvSpPr>
        <p:spPr>
          <a:xfrm>
            <a:off x="6591300" y="2667000"/>
            <a:ext cx="1981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82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score every legal option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8FFE770-B9BE-4E32-9742-85224578DD61}"/>
              </a:ext>
            </a:extLst>
          </p:cNvPr>
          <p:cNvSpPr>
            <a:spLocks noGrp="1"/>
          </p:cNvSpPr>
          <p:nvPr/>
        </p:nvSpPr>
        <p:spPr>
          <a:xfrm>
            <a:off x="9429750" y="2286000"/>
            <a:ext cx="1905000" cy="990600"/>
          </a:xfrm>
          <a:prstGeom prst="roundRect">
            <a:avLst>
              <a:gd name="adj" fmla="val 11538"/>
            </a:avLst>
          </a:prstGeom>
          <a:solidFill>
            <a:srgbClr val="1D351B"/>
          </a:solidFill>
          <a:ln w="11430">
            <a:solidFill>
              <a:srgbClr val="B9F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81CB2D-DD0A-4B38-B9BC-29666C133C44}"/>
              </a:ext>
            </a:extLst>
          </p:cNvPr>
          <p:cNvSpPr>
            <a:spLocks noGrp="1"/>
          </p:cNvSpPr>
          <p:nvPr/>
        </p:nvSpPr>
        <p:spPr>
          <a:xfrm>
            <a:off x="9563100" y="2400300"/>
            <a:ext cx="1638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125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9F45D"/>
                </a:solidFill>
                <a:latin typeface="Arial"/>
                <a:ea typeface="Arial"/>
                <a:cs typeface="Arial"/>
              </a:rPr>
              <a:t>PROBABILITIES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FA38AF-3BA4-44A0-9405-ECAD7E72A424}"/>
              </a:ext>
            </a:extLst>
          </p:cNvPr>
          <p:cNvSpPr>
            <a:spLocks noGrp="1"/>
          </p:cNvSpPr>
          <p:nvPr/>
        </p:nvSpPr>
        <p:spPr>
          <a:xfrm>
            <a:off x="9563100" y="2667000"/>
            <a:ext cx="1638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82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masked and calibrated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BE61C32-830F-4FD8-8067-82CB1DC4D1F2}"/>
              </a:ext>
            </a:extLst>
          </p:cNvPr>
          <p:cNvSpPr>
            <a:spLocks noGrp="1"/>
          </p:cNvSpPr>
          <p:nvPr/>
        </p:nvSpPr>
        <p:spPr>
          <a:xfrm>
            <a:off x="2762250" y="2781300"/>
            <a:ext cx="723900" cy="28575"/>
          </a:xfrm>
          <a:prstGeom prst="rect">
            <a:avLst/>
          </a:prstGeom>
          <a:solidFill>
            <a:srgbClr val="3444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185604-E207-48AA-AD94-16DBCDA63118}"/>
              </a:ext>
            </a:extLst>
          </p:cNvPr>
          <p:cNvSpPr>
            <a:spLocks noGrp="1"/>
          </p:cNvSpPr>
          <p:nvPr/>
        </p:nvSpPr>
        <p:spPr>
          <a:xfrm>
            <a:off x="5734050" y="2781300"/>
            <a:ext cx="723900" cy="28575"/>
          </a:xfrm>
          <a:prstGeom prst="rect">
            <a:avLst/>
          </a:prstGeom>
          <a:solidFill>
            <a:srgbClr val="3444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C503632-E806-4F3D-ADF8-B7B9CF4E22BF}"/>
              </a:ext>
            </a:extLst>
          </p:cNvPr>
          <p:cNvSpPr>
            <a:spLocks noGrp="1"/>
          </p:cNvSpPr>
          <p:nvPr/>
        </p:nvSpPr>
        <p:spPr>
          <a:xfrm>
            <a:off x="8705850" y="2781300"/>
            <a:ext cx="723900" cy="28575"/>
          </a:xfrm>
          <a:prstGeom prst="rect">
            <a:avLst/>
          </a:prstGeom>
          <a:solidFill>
            <a:srgbClr val="3444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6BDE2EA-3FAB-474C-AF7A-4F7C3A1787A6}"/>
              </a:ext>
            </a:extLst>
          </p:cNvPr>
          <p:cNvSpPr>
            <a:spLocks noGrp="1"/>
          </p:cNvSpPr>
          <p:nvPr/>
        </p:nvSpPr>
        <p:spPr>
          <a:xfrm>
            <a:off x="514350" y="4095750"/>
            <a:ext cx="5219700" cy="1295400"/>
          </a:xfrm>
          <a:prstGeom prst="roundRect">
            <a:avLst>
              <a:gd name="adj" fmla="val 8824"/>
            </a:avLst>
          </a:prstGeom>
          <a:solidFill>
            <a:srgbClr val="382B14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6155B3B-823F-4869-B54E-97012D57F12F}"/>
              </a:ext>
            </a:extLst>
          </p:cNvPr>
          <p:cNvSpPr>
            <a:spLocks noGrp="1"/>
          </p:cNvSpPr>
          <p:nvPr/>
        </p:nvSpPr>
        <p:spPr>
          <a:xfrm>
            <a:off x="514350" y="4095750"/>
            <a:ext cx="47625" cy="1295400"/>
          </a:xfrm>
          <a:prstGeom prst="rect">
            <a:avLst/>
          </a:prstGeom>
          <a:solidFill>
            <a:srgbClr val="F8C15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B77262-E4B4-4697-AD76-C7870CCB9BEE}"/>
              </a:ext>
            </a:extLst>
          </p:cNvPr>
          <p:cNvSpPr>
            <a:spLocks noGrp="1"/>
          </p:cNvSpPr>
          <p:nvPr/>
        </p:nvSpPr>
        <p:spPr>
          <a:xfrm>
            <a:off x="704850" y="4248150"/>
            <a:ext cx="4876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 i="0">
                <a:solidFill>
                  <a:srgbClr val="F8C15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00" b="1" i="0">
                <a:solidFill>
                  <a:srgbClr val="F8C15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8C15C"/>
                </a:solidFill>
                <a:latin typeface="Arial"/>
                <a:ea typeface="Arial"/>
                <a:cs typeface="Arial"/>
              </a:rPr>
              <a:t>AutoJev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59C4114-0CF2-44E4-B810-3F450C84EACC}"/>
              </a:ext>
            </a:extLst>
          </p:cNvPr>
          <p:cNvSpPr>
            <a:spLocks noGrp="1"/>
          </p:cNvSpPr>
          <p:nvPr/>
        </p:nvSpPr>
        <p:spPr>
          <a:xfrm>
            <a:off x="704850" y="4572000"/>
            <a:ext cx="4876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6000"/>
              </a:lnSpc>
              <a:buNone/>
              <a:defRPr sz="97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Qwen3.8-27B, full-weight supervised training, about 73k examples, and a learned readout. The exact curated corpus is not public.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FF792FD2-C103-4916-8A13-87701EA9DE70}"/>
              </a:ext>
            </a:extLst>
          </p:cNvPr>
          <p:cNvSpPr>
            <a:spLocks noGrp="1"/>
          </p:cNvSpPr>
          <p:nvPr/>
        </p:nvSpPr>
        <p:spPr>
          <a:xfrm>
            <a:off x="6115050" y="4095750"/>
            <a:ext cx="5219700" cy="1295400"/>
          </a:xfrm>
          <a:prstGeom prst="roundRect">
            <a:avLst>
              <a:gd name="adj" fmla="val 8824"/>
            </a:avLst>
          </a:prstGeom>
          <a:solidFill>
            <a:srgbClr val="3A1C20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070FFA3-B9BB-4D0C-99D6-D20E6B45FB93}"/>
              </a:ext>
            </a:extLst>
          </p:cNvPr>
          <p:cNvSpPr>
            <a:spLocks noGrp="1"/>
          </p:cNvSpPr>
          <p:nvPr/>
        </p:nvSpPr>
        <p:spPr>
          <a:xfrm>
            <a:off x="6115050" y="4095750"/>
            <a:ext cx="47625" cy="1295400"/>
          </a:xfrm>
          <a:prstGeom prst="rect">
            <a:avLst/>
          </a:prstGeom>
          <a:solidFill>
            <a:srgbClr val="FF7D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623C727-2DCA-4481-9AA8-66A9B7BB3FF5}"/>
              </a:ext>
            </a:extLst>
          </p:cNvPr>
          <p:cNvSpPr>
            <a:spLocks noGrp="1"/>
          </p:cNvSpPr>
          <p:nvPr/>
        </p:nvSpPr>
        <p:spPr>
          <a:xfrm>
            <a:off x="6305550" y="4248150"/>
            <a:ext cx="4876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 i="0">
                <a:solidFill>
                  <a:srgbClr val="FF7D7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00" b="1" i="0">
                <a:solidFill>
                  <a:srgbClr val="FF7D7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7D70"/>
                </a:solidFill>
                <a:latin typeface="Arial"/>
                <a:ea typeface="Arial"/>
                <a:cs typeface="Arial"/>
              </a:rPr>
              <a:t>Clef-Flash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E914843-CC97-48B3-A035-52355F8A218C}"/>
              </a:ext>
            </a:extLst>
          </p:cNvPr>
          <p:cNvSpPr>
            <a:spLocks noGrp="1"/>
          </p:cNvSpPr>
          <p:nvPr/>
        </p:nvSpPr>
        <p:spPr>
          <a:xfrm>
            <a:off x="6305550" y="4572000"/>
            <a:ext cx="4876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6000"/>
              </a:lnSpc>
              <a:buNone/>
              <a:defRPr sz="97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Qwen3.5-9B with a joint schema head and vision support. It routes evidence from shared state to every question.</a:t>
            </a:r>
          </a:p>
        </p:txBody>
      </p:sp>
    </p:spTree>
    <p:extLst>
      <p:ext uri="{BB962C8B-B14F-4D97-AF65-F5344CB8AC3E}">
        <p14:creationId xmlns:p14="http://schemas.microsoft.com/office/powerpoint/2010/main" val="284824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95BBA72-0564-484D-B88C-BAC6D2864B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B9F4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36F317-DCB1-4C06-96FF-0D493A402AB5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7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B9F45D"/>
                </a:solidFill>
                <a:latin typeface="Arial"/>
                <a:ea typeface="Arial"/>
                <a:cs typeface="Arial"/>
              </a:rPr>
              <a:t>EFFICIENCY APPROACHES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E595CB-C6AE-4B6F-8C7E-6ECA1BE9376B}"/>
              </a:ext>
            </a:extLst>
          </p:cNvPr>
          <p:cNvSpPr>
            <a:spLocks noGrp="1"/>
          </p:cNvSpPr>
          <p:nvPr/>
        </p:nvSpPr>
        <p:spPr>
          <a:xfrm>
            <a:off x="514350" y="5905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32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32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CLM and Laya move further away from a generative LLM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BFE963-FA44-4AFA-8C6E-56850A6F90E2}"/>
              </a:ext>
            </a:extLst>
          </p:cNvPr>
          <p:cNvSpPr>
            <a:spLocks noGrp="1"/>
          </p:cNvSpPr>
          <p:nvPr/>
        </p:nvSpPr>
        <p:spPr>
          <a:xfrm>
            <a:off x="514350" y="1304925"/>
            <a:ext cx="11163300" cy="9525"/>
          </a:xfrm>
          <a:prstGeom prst="rect">
            <a:avLst/>
          </a:prstGeom>
          <a:solidFill>
            <a:srgbClr val="26344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C66B8D-B070-4BBF-A510-07E2EEC79FEB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675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675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pPr>
            <a:r>
              <a:rPr lang="en-US" sz="675" b="1" i="0" dirty="0">
                <a:solidFill>
                  <a:srgbClr val="7E8B9D"/>
                </a:solidFill>
                <a:latin typeface="Arial"/>
                <a:ea typeface="Arial"/>
                <a:cs typeface="Arial"/>
              </a:rPr>
              <a:t>11</a:t>
            </a:r>
          </a:p>
          <a:p>
            <a:pPr algn="r">
              <a:lnSpc>
                <a:spcPct val="105000"/>
              </a:lnSpc>
              <a:buNone/>
              <a:defRPr sz="675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pPr>
            <a:endParaRPr sz="675" b="1" i="0" dirty="0">
              <a:solidFill>
                <a:srgbClr val="7E8B9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C17A7E4-6599-45F3-9854-A1A36788AD99}"/>
              </a:ext>
            </a:extLst>
          </p:cNvPr>
          <p:cNvSpPr>
            <a:spLocks noGrp="1"/>
          </p:cNvSpPr>
          <p:nvPr/>
        </p:nvSpPr>
        <p:spPr>
          <a:xfrm>
            <a:off x="514350" y="1752600"/>
            <a:ext cx="5219700" cy="3371850"/>
          </a:xfrm>
          <a:prstGeom prst="roundRect">
            <a:avLst>
              <a:gd name="adj" fmla="val 3390"/>
            </a:avLst>
          </a:prstGeom>
          <a:solidFill>
            <a:srgbClr val="101826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C87E40-F912-4CB0-A04B-D3A46201BE5E}"/>
              </a:ext>
            </a:extLst>
          </p:cNvPr>
          <p:cNvSpPr>
            <a:spLocks noGrp="1"/>
          </p:cNvSpPr>
          <p:nvPr/>
        </p:nvSpPr>
        <p:spPr>
          <a:xfrm>
            <a:off x="742950" y="19621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1" i="0">
                <a:solidFill>
                  <a:srgbClr val="4BE0B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900" b="1" i="0">
                <a:solidFill>
                  <a:srgbClr val="4BE0B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4BE0B5"/>
                </a:solidFill>
                <a:latin typeface="Arial"/>
                <a:ea typeface="Arial"/>
                <a:cs typeface="Arial"/>
              </a:rPr>
              <a:t>CONTRASTIVE LM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023972-9E45-4FBB-97B7-5020556AA589}"/>
              </a:ext>
            </a:extLst>
          </p:cNvPr>
          <p:cNvSpPr>
            <a:spLocks noGrp="1"/>
          </p:cNvSpPr>
          <p:nvPr/>
        </p:nvSpPr>
        <p:spPr>
          <a:xfrm>
            <a:off x="742950" y="2476500"/>
            <a:ext cx="1733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State embedding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B3A624-3B01-4772-9D29-27BD671DCF5E}"/>
              </a:ext>
            </a:extLst>
          </p:cNvPr>
          <p:cNvSpPr>
            <a:spLocks noGrp="1"/>
          </p:cNvSpPr>
          <p:nvPr/>
        </p:nvSpPr>
        <p:spPr>
          <a:xfrm>
            <a:off x="2609850" y="2476500"/>
            <a:ext cx="304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650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1650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7E8B9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348237-E772-4504-84CE-303B8033883A}"/>
              </a:ext>
            </a:extLst>
          </p:cNvPr>
          <p:cNvSpPr>
            <a:spLocks noGrp="1"/>
          </p:cNvSpPr>
          <p:nvPr/>
        </p:nvSpPr>
        <p:spPr>
          <a:xfrm>
            <a:off x="3048000" y="2476500"/>
            <a:ext cx="2324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candidate embeddings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2ECC3D-7CFC-45CC-BCE6-756E311F6BDD}"/>
              </a:ext>
            </a:extLst>
          </p:cNvPr>
          <p:cNvSpPr>
            <a:spLocks noGrp="1"/>
          </p:cNvSpPr>
          <p:nvPr/>
        </p:nvSpPr>
        <p:spPr>
          <a:xfrm>
            <a:off x="971550" y="3086100"/>
            <a:ext cx="4076700" cy="19050"/>
          </a:xfrm>
          <a:prstGeom prst="rect">
            <a:avLst/>
          </a:prstGeom>
          <a:solidFill>
            <a:srgbClr val="3444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EE45BF-2B68-4DAE-B29D-1B6DAE84A293}"/>
              </a:ext>
            </a:extLst>
          </p:cNvPr>
          <p:cNvSpPr>
            <a:spLocks noGrp="1"/>
          </p:cNvSpPr>
          <p:nvPr/>
        </p:nvSpPr>
        <p:spPr>
          <a:xfrm>
            <a:off x="742950" y="3333750"/>
            <a:ext cx="4629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941"/>
          </a:bodyPr>
          <a:lstStyle>
            <a:defPPr algn="ctr">
              <a:defRPr sz="2025" b="1" i="0">
                <a:solidFill>
                  <a:srgbClr val="4BE0B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2025" b="1" i="0">
                <a:solidFill>
                  <a:srgbClr val="4BE0B5"/>
                </a:solidFill>
                <a:latin typeface="Arial"/>
                <a:ea typeface="Arial"/>
                <a:cs typeface="Arial"/>
              </a:defRPr>
            </a:pPr>
            <a:r>
              <a:rPr sz="2025" b="1" i="0" dirty="0">
                <a:solidFill>
                  <a:srgbClr val="4BE0B5"/>
                </a:solidFill>
                <a:latin typeface="Arial"/>
                <a:ea typeface="Arial"/>
                <a:cs typeface="Arial"/>
              </a:rPr>
              <a:t>dot products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FB6522-071E-4AC1-9334-DB056486A056}"/>
              </a:ext>
            </a:extLst>
          </p:cNvPr>
          <p:cNvSpPr>
            <a:spLocks noGrp="1"/>
          </p:cNvSpPr>
          <p:nvPr/>
        </p:nvSpPr>
        <p:spPr>
          <a:xfrm>
            <a:off x="742950" y="4019550"/>
            <a:ext cx="46291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8000"/>
              </a:lnSpc>
              <a:buNone/>
              <a:defRPr sz="1050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Candidate vectors can be cached. Cross-interaction is weaker, so domain-matched contrastive data matters.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C8A3354-290F-4A87-9BBE-9E6D2C24D2CD}"/>
              </a:ext>
            </a:extLst>
          </p:cNvPr>
          <p:cNvSpPr>
            <a:spLocks noGrp="1"/>
          </p:cNvSpPr>
          <p:nvPr/>
        </p:nvSpPr>
        <p:spPr>
          <a:xfrm>
            <a:off x="6115050" y="1752600"/>
            <a:ext cx="5219700" cy="3371850"/>
          </a:xfrm>
          <a:prstGeom prst="roundRect">
            <a:avLst>
              <a:gd name="adj" fmla="val 3390"/>
            </a:avLst>
          </a:prstGeom>
          <a:solidFill>
            <a:srgbClr val="101826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312459-4ACA-49FD-8E0C-3480A5C343A5}"/>
              </a:ext>
            </a:extLst>
          </p:cNvPr>
          <p:cNvSpPr>
            <a:spLocks noGrp="1"/>
          </p:cNvSpPr>
          <p:nvPr/>
        </p:nvSpPr>
        <p:spPr>
          <a:xfrm>
            <a:off x="6343650" y="19621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1" i="0">
                <a:solidFill>
                  <a:srgbClr val="AA8B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900" b="1" i="0">
                <a:solidFill>
                  <a:srgbClr val="AA8B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A8BFF"/>
                </a:solidFill>
                <a:latin typeface="Arial"/>
                <a:ea typeface="Arial"/>
                <a:cs typeface="Arial"/>
              </a:rPr>
              <a:t>LAYA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345EE7-6B00-4088-BA87-A9FAAC7E1595}"/>
              </a:ext>
            </a:extLst>
          </p:cNvPr>
          <p:cNvSpPr>
            <a:spLocks noGrp="1"/>
          </p:cNvSpPr>
          <p:nvPr/>
        </p:nvSpPr>
        <p:spPr>
          <a:xfrm>
            <a:off x="6343650" y="2381250"/>
            <a:ext cx="2190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50" b="1" i="0">
                <a:solidFill>
                  <a:srgbClr val="AA8B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550" b="1" i="0">
                <a:solidFill>
                  <a:srgbClr val="AA8B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AA8BFF"/>
                </a:solidFill>
                <a:latin typeface="Arial"/>
                <a:ea typeface="Arial"/>
                <a:cs typeface="Arial"/>
              </a:rPr>
              <a:t>322–421M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8E3723-1BFD-45E0-BCE5-0A5D43A969AE}"/>
              </a:ext>
            </a:extLst>
          </p:cNvPr>
          <p:cNvSpPr>
            <a:spLocks noGrp="1"/>
          </p:cNvSpPr>
          <p:nvPr/>
        </p:nvSpPr>
        <p:spPr>
          <a:xfrm>
            <a:off x="6343650" y="289560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97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parameters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1804BF-A7A5-46CF-A508-BD5C08D448DB}"/>
              </a:ext>
            </a:extLst>
          </p:cNvPr>
          <p:cNvSpPr>
            <a:spLocks noGrp="1"/>
          </p:cNvSpPr>
          <p:nvPr/>
        </p:nvSpPr>
        <p:spPr>
          <a:xfrm>
            <a:off x="8858250" y="2381250"/>
            <a:ext cx="2190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5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B9F45D"/>
                </a:solidFill>
                <a:latin typeface="Arial"/>
                <a:ea typeface="Arial"/>
                <a:cs typeface="Arial"/>
              </a:rPr>
              <a:t>32.8 ms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91DB653-9589-41A0-B16D-7F093040BCAE}"/>
              </a:ext>
            </a:extLst>
          </p:cNvPr>
          <p:cNvSpPr>
            <a:spLocks noGrp="1"/>
          </p:cNvSpPr>
          <p:nvPr/>
        </p:nvSpPr>
        <p:spPr>
          <a:xfrm>
            <a:off x="8858250" y="289560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97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reported latency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F427C0-22C8-4A1E-823A-FBB1FB4994AF}"/>
              </a:ext>
            </a:extLst>
          </p:cNvPr>
          <p:cNvSpPr>
            <a:spLocks noGrp="1"/>
          </p:cNvSpPr>
          <p:nvPr/>
        </p:nvSpPr>
        <p:spPr>
          <a:xfrm>
            <a:off x="6343650" y="3562350"/>
            <a:ext cx="4762500" cy="9525"/>
          </a:xfrm>
          <a:prstGeom prst="rect">
            <a:avLst/>
          </a:prstGeom>
          <a:solidFill>
            <a:srgbClr val="3444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3973E5-A899-4AC9-AB23-101AE310F6D8}"/>
              </a:ext>
            </a:extLst>
          </p:cNvPr>
          <p:cNvSpPr>
            <a:spLocks noGrp="1"/>
          </p:cNvSpPr>
          <p:nvPr/>
        </p:nvSpPr>
        <p:spPr>
          <a:xfrm>
            <a:off x="6343650" y="3905250"/>
            <a:ext cx="4762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8000"/>
              </a:lnSpc>
              <a:buNone/>
              <a:defRPr sz="1050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ModernBERT or mmBERT plus a typed decision head. Very fast after domain fine-tuning; weaker broad zero-shot behavior.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2ACF15E-4C4A-4510-AF3F-1A5565AA7B3D}"/>
              </a:ext>
            </a:extLst>
          </p:cNvPr>
          <p:cNvSpPr>
            <a:spLocks noGrp="1"/>
          </p:cNvSpPr>
          <p:nvPr/>
        </p:nvSpPr>
        <p:spPr>
          <a:xfrm>
            <a:off x="514350" y="5581650"/>
            <a:ext cx="10820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7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127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275" b="1" i="0" dirty="0">
                <a:solidFill>
                  <a:srgbClr val="F4F8FF"/>
                </a:solidFill>
                <a:latin typeface="Arial"/>
                <a:ea typeface="Arial"/>
                <a:cs typeface="Arial"/>
              </a:rPr>
              <a:t>These designs trade general pretrained breadth for better serving economics.</a:t>
            </a:r>
          </a:p>
        </p:txBody>
      </p:sp>
    </p:spTree>
    <p:extLst>
      <p:ext uri="{BB962C8B-B14F-4D97-AF65-F5344CB8AC3E}">
        <p14:creationId xmlns:p14="http://schemas.microsoft.com/office/powerpoint/2010/main" val="1485459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FFA94B7D-7FC8-4B54-810D-31966797F9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B9F4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ABF8AB-7548-4DE9-8200-28850AC5C06D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7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B9F45D"/>
                </a:solidFill>
                <a:latin typeface="Arial"/>
                <a:ea typeface="Arial"/>
                <a:cs typeface="Arial"/>
              </a:rPr>
              <a:t>PRACTICAL TRADE-OFFS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09AD9F-3FBA-4533-BC3B-563A36AF6898}"/>
              </a:ext>
            </a:extLst>
          </p:cNvPr>
          <p:cNvSpPr>
            <a:spLocks noGrp="1"/>
          </p:cNvSpPr>
          <p:nvPr/>
        </p:nvSpPr>
        <p:spPr>
          <a:xfrm>
            <a:off x="514350" y="5905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550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Choose the architecture from the workload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AC729-FDFF-4BB9-9A29-A4C5BBF4AFC0}"/>
              </a:ext>
            </a:extLst>
          </p:cNvPr>
          <p:cNvSpPr>
            <a:spLocks noGrp="1"/>
          </p:cNvSpPr>
          <p:nvPr/>
        </p:nvSpPr>
        <p:spPr>
          <a:xfrm>
            <a:off x="514350" y="1304925"/>
            <a:ext cx="11163300" cy="9525"/>
          </a:xfrm>
          <a:prstGeom prst="rect">
            <a:avLst/>
          </a:prstGeom>
          <a:solidFill>
            <a:srgbClr val="26344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FE6880-1DDA-46C4-92C2-D3006DB7D5BC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675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675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pPr>
            <a:r>
              <a:rPr lang="en-US" sz="675" b="1" i="0" dirty="0">
                <a:solidFill>
                  <a:srgbClr val="7E8B9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E1CBCCF-5185-421D-9DB3-1E53D254514B}"/>
              </a:ext>
            </a:extLst>
          </p:cNvPr>
          <p:cNvSpPr>
            <a:spLocks noGrp="1"/>
          </p:cNvSpPr>
          <p:nvPr/>
        </p:nvSpPr>
        <p:spPr>
          <a:xfrm>
            <a:off x="514350" y="1562100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101826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55FC54-603C-4844-822C-F577E0DAD489}"/>
              </a:ext>
            </a:extLst>
          </p:cNvPr>
          <p:cNvSpPr>
            <a:spLocks noGrp="1"/>
          </p:cNvSpPr>
          <p:nvPr/>
        </p:nvSpPr>
        <p:spPr>
          <a:xfrm>
            <a:off x="704850" y="1724025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97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broad zero-shot decisions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014891-A5E1-42B9-B33D-DB113652BA94}"/>
              </a:ext>
            </a:extLst>
          </p:cNvPr>
          <p:cNvSpPr>
            <a:spLocks noGrp="1"/>
          </p:cNvSpPr>
          <p:nvPr/>
        </p:nvSpPr>
        <p:spPr>
          <a:xfrm>
            <a:off x="4152900" y="1724025"/>
            <a:ext cx="2876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975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4D6FF"/>
                </a:solidFill>
                <a:latin typeface="Arial"/>
                <a:ea typeface="Arial"/>
                <a:cs typeface="Arial"/>
              </a:rPr>
              <a:t>decoder logits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C3D25D-F1C6-413B-A320-572976D989CE}"/>
              </a:ext>
            </a:extLst>
          </p:cNvPr>
          <p:cNvSpPr>
            <a:spLocks noGrp="1"/>
          </p:cNvSpPr>
          <p:nvPr/>
        </p:nvSpPr>
        <p:spPr>
          <a:xfrm>
            <a:off x="7239000" y="1724025"/>
            <a:ext cx="3829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lnSpc>
                <a:spcPct val="105000"/>
              </a:lnSpc>
              <a:buNone/>
              <a:defRPr sz="90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rPr>
              <a:t>OpenJev or raw Qwen/Gemma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479B318-C685-4D9C-B909-6FA462E81F95}"/>
              </a:ext>
            </a:extLst>
          </p:cNvPr>
          <p:cNvSpPr>
            <a:spLocks noGrp="1"/>
          </p:cNvSpPr>
          <p:nvPr/>
        </p:nvSpPr>
        <p:spPr>
          <a:xfrm>
            <a:off x="514350" y="2247900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0C121D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BF95CD-8B4C-463D-BB49-E39DE1E8D056}"/>
              </a:ext>
            </a:extLst>
          </p:cNvPr>
          <p:cNvSpPr>
            <a:spLocks noGrp="1"/>
          </p:cNvSpPr>
          <p:nvPr/>
        </p:nvSpPr>
        <p:spPr>
          <a:xfrm>
            <a:off x="704850" y="2409825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97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balanced local deployment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5707B6-608D-4E25-9534-D43634B65C05}"/>
              </a:ext>
            </a:extLst>
          </p:cNvPr>
          <p:cNvSpPr>
            <a:spLocks noGrp="1"/>
          </p:cNvSpPr>
          <p:nvPr/>
        </p:nvSpPr>
        <p:spPr>
          <a:xfrm>
            <a:off x="4152900" y="2409825"/>
            <a:ext cx="2876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975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9F45D"/>
                </a:solidFill>
                <a:latin typeface="Arial"/>
                <a:ea typeface="Arial"/>
                <a:cs typeface="Arial"/>
              </a:rPr>
              <a:t>9B LoRA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E75422-E8C1-4EC5-A4A0-74EE92EC8867}"/>
              </a:ext>
            </a:extLst>
          </p:cNvPr>
          <p:cNvSpPr>
            <a:spLocks noGrp="1"/>
          </p:cNvSpPr>
          <p:nvPr/>
        </p:nvSpPr>
        <p:spPr>
          <a:xfrm>
            <a:off x="7239000" y="2409825"/>
            <a:ext cx="3829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lnSpc>
                <a:spcPct val="105000"/>
              </a:lnSpc>
              <a:buNone/>
              <a:defRPr sz="90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rPr>
              <a:t>Nimble-style model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408906E-6062-4901-9C9E-A84112AB02B9}"/>
              </a:ext>
            </a:extLst>
          </p:cNvPr>
          <p:cNvSpPr>
            <a:spLocks noGrp="1"/>
          </p:cNvSpPr>
          <p:nvPr/>
        </p:nvSpPr>
        <p:spPr>
          <a:xfrm>
            <a:off x="514350" y="2933700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101826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790E88-276F-477E-8B37-F530067D48CE}"/>
              </a:ext>
            </a:extLst>
          </p:cNvPr>
          <p:cNvSpPr>
            <a:spLocks noGrp="1"/>
          </p:cNvSpPr>
          <p:nvPr/>
        </p:nvSpPr>
        <p:spPr>
          <a:xfrm>
            <a:off x="704850" y="3095625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97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maximum trained capability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B6EF49-ACBA-4F2F-9815-D8262A76241D}"/>
              </a:ext>
            </a:extLst>
          </p:cNvPr>
          <p:cNvSpPr>
            <a:spLocks noGrp="1"/>
          </p:cNvSpPr>
          <p:nvPr/>
        </p:nvSpPr>
        <p:spPr>
          <a:xfrm>
            <a:off x="4152900" y="3095625"/>
            <a:ext cx="2876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F8C15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975" b="1" i="0">
                <a:solidFill>
                  <a:srgbClr val="F8C15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8C15C"/>
                </a:solidFill>
                <a:latin typeface="Arial"/>
                <a:ea typeface="Arial"/>
                <a:cs typeface="Arial"/>
              </a:rPr>
              <a:t>full model + readout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C6C65A-5D24-4E2E-8B3D-738A9D6010A8}"/>
              </a:ext>
            </a:extLst>
          </p:cNvPr>
          <p:cNvSpPr>
            <a:spLocks noGrp="1"/>
          </p:cNvSpPr>
          <p:nvPr/>
        </p:nvSpPr>
        <p:spPr>
          <a:xfrm>
            <a:off x="7239000" y="3095625"/>
            <a:ext cx="3829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lnSpc>
                <a:spcPct val="105000"/>
              </a:lnSpc>
              <a:buNone/>
              <a:defRPr sz="90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rPr>
              <a:t>AutoJev-style model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1DF1DD2-2AD2-4BE3-B338-FB9DCFA92D8F}"/>
              </a:ext>
            </a:extLst>
          </p:cNvPr>
          <p:cNvSpPr>
            <a:spLocks noGrp="1"/>
          </p:cNvSpPr>
          <p:nvPr/>
        </p:nvSpPr>
        <p:spPr>
          <a:xfrm>
            <a:off x="514350" y="3619500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0C121D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12D109-45E0-4797-9F3D-3A00E62E9CCB}"/>
              </a:ext>
            </a:extLst>
          </p:cNvPr>
          <p:cNvSpPr>
            <a:spLocks noGrp="1"/>
          </p:cNvSpPr>
          <p:nvPr/>
        </p:nvSpPr>
        <p:spPr>
          <a:xfrm>
            <a:off x="704850" y="3781425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97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repeated tool or route sets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3F7A1FC-624E-40AC-AEF6-589A998FD9DB}"/>
              </a:ext>
            </a:extLst>
          </p:cNvPr>
          <p:cNvSpPr>
            <a:spLocks noGrp="1"/>
          </p:cNvSpPr>
          <p:nvPr/>
        </p:nvSpPr>
        <p:spPr>
          <a:xfrm>
            <a:off x="4152900" y="3781425"/>
            <a:ext cx="2876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4BE0B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975" b="1" i="0">
                <a:solidFill>
                  <a:srgbClr val="4BE0B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BE0B5"/>
                </a:solidFill>
                <a:latin typeface="Arial"/>
                <a:ea typeface="Arial"/>
                <a:cs typeface="Arial"/>
              </a:rPr>
              <a:t>dual encoder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73DA06-8D40-47E1-A473-37FDEF5B2545}"/>
              </a:ext>
            </a:extLst>
          </p:cNvPr>
          <p:cNvSpPr>
            <a:spLocks noGrp="1"/>
          </p:cNvSpPr>
          <p:nvPr/>
        </p:nvSpPr>
        <p:spPr>
          <a:xfrm>
            <a:off x="7239000" y="3781425"/>
            <a:ext cx="3829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lnSpc>
                <a:spcPct val="105000"/>
              </a:lnSpc>
              <a:buNone/>
              <a:defRPr sz="90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rPr>
              <a:t>CLM-style cache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EAD09C14-A52B-467E-AF24-A1FA76D25881}"/>
              </a:ext>
            </a:extLst>
          </p:cNvPr>
          <p:cNvSpPr>
            <a:spLocks noGrp="1"/>
          </p:cNvSpPr>
          <p:nvPr/>
        </p:nvSpPr>
        <p:spPr>
          <a:xfrm>
            <a:off x="514350" y="4305300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101826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96DFF98-E2A7-42C6-8798-5809BCE76870}"/>
              </a:ext>
            </a:extLst>
          </p:cNvPr>
          <p:cNvSpPr>
            <a:spLocks noGrp="1"/>
          </p:cNvSpPr>
          <p:nvPr/>
        </p:nvSpPr>
        <p:spPr>
          <a:xfrm>
            <a:off x="704850" y="4467225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97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narrow high-volume domain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F884A2A-72CA-4229-BB21-C93D855D3E39}"/>
              </a:ext>
            </a:extLst>
          </p:cNvPr>
          <p:cNvSpPr>
            <a:spLocks noGrp="1"/>
          </p:cNvSpPr>
          <p:nvPr/>
        </p:nvSpPr>
        <p:spPr>
          <a:xfrm>
            <a:off x="4152900" y="4467225"/>
            <a:ext cx="2876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AA8B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975" b="1" i="0">
                <a:solidFill>
                  <a:srgbClr val="AA8B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A8BFF"/>
                </a:solidFill>
                <a:latin typeface="Arial"/>
                <a:ea typeface="Arial"/>
                <a:cs typeface="Arial"/>
              </a:rPr>
              <a:t>small encoder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4B7428A-890F-4CEA-A86A-18A9D4C05455}"/>
              </a:ext>
            </a:extLst>
          </p:cNvPr>
          <p:cNvSpPr>
            <a:spLocks noGrp="1"/>
          </p:cNvSpPr>
          <p:nvPr/>
        </p:nvSpPr>
        <p:spPr>
          <a:xfrm>
            <a:off x="7239000" y="4467225"/>
            <a:ext cx="3829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lnSpc>
                <a:spcPct val="105000"/>
              </a:lnSpc>
              <a:buNone/>
              <a:defRPr sz="90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rPr>
              <a:t>Laya-style specialization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88028C7-1176-4F02-A4BC-8A3C214FC17B}"/>
              </a:ext>
            </a:extLst>
          </p:cNvPr>
          <p:cNvSpPr>
            <a:spLocks noGrp="1"/>
          </p:cNvSpPr>
          <p:nvPr/>
        </p:nvSpPr>
        <p:spPr>
          <a:xfrm>
            <a:off x="514350" y="4991100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0C121D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6A6FE01-5EAA-45B8-A149-7C296E618914}"/>
              </a:ext>
            </a:extLst>
          </p:cNvPr>
          <p:cNvSpPr>
            <a:spLocks noGrp="1"/>
          </p:cNvSpPr>
          <p:nvPr/>
        </p:nvSpPr>
        <p:spPr>
          <a:xfrm>
            <a:off x="704850" y="5153025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97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images and video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E9C69B3-9DD3-487A-9BAC-B163EF324DFB}"/>
              </a:ext>
            </a:extLst>
          </p:cNvPr>
          <p:cNvSpPr>
            <a:spLocks noGrp="1"/>
          </p:cNvSpPr>
          <p:nvPr/>
        </p:nvSpPr>
        <p:spPr>
          <a:xfrm>
            <a:off x="4152900" y="5153025"/>
            <a:ext cx="2876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FF7D7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975" b="1" i="0">
                <a:solidFill>
                  <a:srgbClr val="FF7D7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7D70"/>
                </a:solidFill>
                <a:latin typeface="Arial"/>
                <a:ea typeface="Arial"/>
                <a:cs typeface="Arial"/>
              </a:rPr>
              <a:t>multimodal schema head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CA2A26B-5B98-45A9-B9C4-069E24D2C320}"/>
              </a:ext>
            </a:extLst>
          </p:cNvPr>
          <p:cNvSpPr>
            <a:spLocks noGrp="1"/>
          </p:cNvSpPr>
          <p:nvPr/>
        </p:nvSpPr>
        <p:spPr>
          <a:xfrm>
            <a:off x="7239000" y="5153025"/>
            <a:ext cx="3829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lnSpc>
                <a:spcPct val="105000"/>
              </a:lnSpc>
              <a:buNone/>
              <a:defRPr sz="90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rPr>
              <a:t>Clef-style model</a:t>
            </a:r>
          </a:p>
        </p:txBody>
      </p:sp>
    </p:spTree>
    <p:extLst>
      <p:ext uri="{BB962C8B-B14F-4D97-AF65-F5344CB8AC3E}">
        <p14:creationId xmlns:p14="http://schemas.microsoft.com/office/powerpoint/2010/main" val="218755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E9033BA4-3E73-4533-8331-35A2B1EA9B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B9F4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880987-ACCD-4CF3-A17B-2BCB1F26A55D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7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B9F45D"/>
                </a:solidFill>
                <a:latin typeface="Arial"/>
                <a:ea typeface="Arial"/>
                <a:cs typeface="Arial"/>
              </a:rPr>
              <a:t>MULTIMODAL DECISIONS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81E9C0-44D3-4376-854B-B36F6D5296AE}"/>
              </a:ext>
            </a:extLst>
          </p:cNvPr>
          <p:cNvSpPr>
            <a:spLocks noGrp="1"/>
          </p:cNvSpPr>
          <p:nvPr/>
        </p:nvSpPr>
        <p:spPr>
          <a:xfrm>
            <a:off x="514350" y="5905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32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32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Images change the encoder, not the decision contract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9D9832-834D-4EFE-80A9-F010B536866F}"/>
              </a:ext>
            </a:extLst>
          </p:cNvPr>
          <p:cNvSpPr>
            <a:spLocks noGrp="1"/>
          </p:cNvSpPr>
          <p:nvPr/>
        </p:nvSpPr>
        <p:spPr>
          <a:xfrm>
            <a:off x="514350" y="1304925"/>
            <a:ext cx="11163300" cy="9525"/>
          </a:xfrm>
          <a:prstGeom prst="rect">
            <a:avLst/>
          </a:prstGeom>
          <a:solidFill>
            <a:srgbClr val="26344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AABCE3-CA98-4876-8290-EFE553BFCEF9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675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675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pPr>
            <a:r>
              <a:rPr lang="en-US" sz="675" b="1" i="0" dirty="0">
                <a:solidFill>
                  <a:srgbClr val="7E8B9D"/>
                </a:solidFill>
                <a:latin typeface="Arial"/>
                <a:ea typeface="Arial"/>
                <a:cs typeface="Arial"/>
              </a:rPr>
              <a:t>13</a:t>
            </a:r>
            <a:endParaRPr sz="675" b="1" i="0" dirty="0">
              <a:solidFill>
                <a:srgbClr val="7E8B9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A760E82-E5F2-45DA-87D8-740A3EC14B08}"/>
              </a:ext>
            </a:extLst>
          </p:cNvPr>
          <p:cNvSpPr>
            <a:spLocks noGrp="1"/>
          </p:cNvSpPr>
          <p:nvPr/>
        </p:nvSpPr>
        <p:spPr>
          <a:xfrm>
            <a:off x="514350" y="2247900"/>
            <a:ext cx="2038350" cy="876300"/>
          </a:xfrm>
          <a:prstGeom prst="roundRect">
            <a:avLst>
              <a:gd name="adj" fmla="val 13043"/>
            </a:avLst>
          </a:prstGeom>
          <a:solidFill>
            <a:srgbClr val="101826"/>
          </a:solidFill>
          <a:ln w="11430">
            <a:solidFill>
              <a:srgbClr val="54D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A748BB-8BEE-423E-B0CD-5527CA0098E0}"/>
              </a:ext>
            </a:extLst>
          </p:cNvPr>
          <p:cNvSpPr>
            <a:spLocks noGrp="1"/>
          </p:cNvSpPr>
          <p:nvPr/>
        </p:nvSpPr>
        <p:spPr>
          <a:xfrm>
            <a:off x="647700" y="2362200"/>
            <a:ext cx="1771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125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4D6FF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7F0D1E-4B5A-402A-94D2-AA02688C9B61}"/>
              </a:ext>
            </a:extLst>
          </p:cNvPr>
          <p:cNvSpPr>
            <a:spLocks noGrp="1"/>
          </p:cNvSpPr>
          <p:nvPr/>
        </p:nvSpPr>
        <p:spPr>
          <a:xfrm>
            <a:off x="647700" y="2628900"/>
            <a:ext cx="1771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82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messages, fields, policy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31F6505-B97D-417D-8A06-F4E6C65A879E}"/>
              </a:ext>
            </a:extLst>
          </p:cNvPr>
          <p:cNvSpPr>
            <a:spLocks noGrp="1"/>
          </p:cNvSpPr>
          <p:nvPr/>
        </p:nvSpPr>
        <p:spPr>
          <a:xfrm>
            <a:off x="514350" y="3581400"/>
            <a:ext cx="2038350" cy="876300"/>
          </a:xfrm>
          <a:prstGeom prst="roundRect">
            <a:avLst>
              <a:gd name="adj" fmla="val 13043"/>
            </a:avLst>
          </a:prstGeom>
          <a:solidFill>
            <a:srgbClr val="101826"/>
          </a:solidFill>
          <a:ln w="11430">
            <a:solidFill>
              <a:srgbClr val="AA8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1DBCB3-3431-49F1-8C43-8590A161FD41}"/>
              </a:ext>
            </a:extLst>
          </p:cNvPr>
          <p:cNvSpPr>
            <a:spLocks noGrp="1"/>
          </p:cNvSpPr>
          <p:nvPr/>
        </p:nvSpPr>
        <p:spPr>
          <a:xfrm>
            <a:off x="647700" y="3695700"/>
            <a:ext cx="1771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 i="0">
                <a:solidFill>
                  <a:srgbClr val="AA8B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125" b="1" i="0">
                <a:solidFill>
                  <a:srgbClr val="AA8B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AA8BFF"/>
                </a:solidFill>
                <a:latin typeface="Arial"/>
                <a:ea typeface="Arial"/>
                <a:cs typeface="Arial"/>
              </a:rPr>
              <a:t>IMAGES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7D70-77A2-4321-9A97-281E37F1CC24}"/>
              </a:ext>
            </a:extLst>
          </p:cNvPr>
          <p:cNvSpPr>
            <a:spLocks noGrp="1"/>
          </p:cNvSpPr>
          <p:nvPr/>
        </p:nvSpPr>
        <p:spPr>
          <a:xfrm>
            <a:off x="647700" y="3962400"/>
            <a:ext cx="1771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82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documents, screenshots, products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1CB3F1C-1CDD-4040-9764-022306EDEAA6}"/>
              </a:ext>
            </a:extLst>
          </p:cNvPr>
          <p:cNvSpPr>
            <a:spLocks noGrp="1"/>
          </p:cNvSpPr>
          <p:nvPr/>
        </p:nvSpPr>
        <p:spPr>
          <a:xfrm>
            <a:off x="3638550" y="2724150"/>
            <a:ext cx="2857500" cy="1257300"/>
          </a:xfrm>
          <a:prstGeom prst="roundRect">
            <a:avLst>
              <a:gd name="adj" fmla="val 9091"/>
            </a:avLst>
          </a:prstGeom>
          <a:solidFill>
            <a:srgbClr val="1D351B"/>
          </a:solidFill>
          <a:ln w="11430">
            <a:solidFill>
              <a:srgbClr val="B9F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25394D-F1E6-49B1-AE77-56D152FA003F}"/>
              </a:ext>
            </a:extLst>
          </p:cNvPr>
          <p:cNvSpPr>
            <a:spLocks noGrp="1"/>
          </p:cNvSpPr>
          <p:nvPr/>
        </p:nvSpPr>
        <p:spPr>
          <a:xfrm>
            <a:off x="3771900" y="2838450"/>
            <a:ext cx="2590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125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9F45D"/>
                </a:solidFill>
                <a:latin typeface="Arial"/>
                <a:ea typeface="Arial"/>
                <a:cs typeface="Arial"/>
              </a:rPr>
              <a:t>MULTIMODAL BACKBONE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788429-8638-4B0A-A65C-285D3ED0DC9C}"/>
              </a:ext>
            </a:extLst>
          </p:cNvPr>
          <p:cNvSpPr>
            <a:spLocks noGrp="1"/>
          </p:cNvSpPr>
          <p:nvPr/>
        </p:nvSpPr>
        <p:spPr>
          <a:xfrm>
            <a:off x="3771900" y="3105150"/>
            <a:ext cx="25908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82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joint evidence representation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F0DE143-65DC-4E7B-ADDF-5AE55DCCEB27}"/>
              </a:ext>
            </a:extLst>
          </p:cNvPr>
          <p:cNvSpPr>
            <a:spLocks noGrp="1"/>
          </p:cNvSpPr>
          <p:nvPr/>
        </p:nvSpPr>
        <p:spPr>
          <a:xfrm>
            <a:off x="7600950" y="2724150"/>
            <a:ext cx="1984484" cy="1257300"/>
          </a:xfrm>
          <a:prstGeom prst="roundRect">
            <a:avLst>
              <a:gd name="adj" fmla="val 9091"/>
            </a:avLst>
          </a:prstGeom>
          <a:solidFill>
            <a:srgbClr val="382B14"/>
          </a:solidFill>
          <a:ln w="11430">
            <a:solidFill>
              <a:srgbClr val="F8C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73CF06-000C-4BE3-B150-B9DA82EB4C4E}"/>
              </a:ext>
            </a:extLst>
          </p:cNvPr>
          <p:cNvSpPr>
            <a:spLocks noGrp="1"/>
          </p:cNvSpPr>
          <p:nvPr/>
        </p:nvSpPr>
        <p:spPr>
          <a:xfrm>
            <a:off x="7734300" y="2838450"/>
            <a:ext cx="2114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 i="0">
                <a:solidFill>
                  <a:srgbClr val="F8C15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125" b="1" i="0">
                <a:solidFill>
                  <a:srgbClr val="F8C15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8C15C"/>
                </a:solidFill>
                <a:latin typeface="Arial"/>
                <a:ea typeface="Arial"/>
                <a:cs typeface="Arial"/>
              </a:rPr>
              <a:t>TYPED QUESTIONS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911FEF-DBD9-4436-A55E-22671051CCA8}"/>
              </a:ext>
            </a:extLst>
          </p:cNvPr>
          <p:cNvSpPr>
            <a:spLocks noGrp="1"/>
          </p:cNvSpPr>
          <p:nvPr/>
        </p:nvSpPr>
        <p:spPr>
          <a:xfrm>
            <a:off x="7734300" y="3105150"/>
            <a:ext cx="21145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82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same Choice, Noul, Score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B258E12-8181-4789-B213-55AD8486C699}"/>
              </a:ext>
            </a:extLst>
          </p:cNvPr>
          <p:cNvSpPr>
            <a:spLocks noGrp="1"/>
          </p:cNvSpPr>
          <p:nvPr/>
        </p:nvSpPr>
        <p:spPr>
          <a:xfrm>
            <a:off x="10152008" y="2724150"/>
            <a:ext cx="1392292" cy="1257300"/>
          </a:xfrm>
          <a:prstGeom prst="roundRect">
            <a:avLst>
              <a:gd name="adj" fmla="val 13636"/>
            </a:avLst>
          </a:prstGeom>
          <a:solidFill>
            <a:srgbClr val="12362F"/>
          </a:solidFill>
          <a:ln w="11430">
            <a:solidFill>
              <a:srgbClr val="4BE0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51D53CE-CF4D-40E8-B578-A7CB157FEA11}"/>
              </a:ext>
            </a:extLst>
          </p:cNvPr>
          <p:cNvSpPr>
            <a:spLocks noGrp="1"/>
          </p:cNvSpPr>
          <p:nvPr/>
        </p:nvSpPr>
        <p:spPr>
          <a:xfrm>
            <a:off x="10348090" y="2838450"/>
            <a:ext cx="9866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992"/>
          </a:bodyPr>
          <a:lstStyle>
            <a:defPPr algn="l">
              <a:defRPr sz="1125" b="1" i="0">
                <a:solidFill>
                  <a:srgbClr val="4BE0B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125" b="1" i="0">
                <a:solidFill>
                  <a:srgbClr val="4BE0B5"/>
                </a:solidFill>
                <a:latin typeface="Arial"/>
                <a:ea typeface="Arial"/>
                <a:cs typeface="Arial"/>
              </a:defRPr>
            </a:pPr>
            <a:r>
              <a:rPr sz="1125" b="1" i="0" dirty="0">
                <a:solidFill>
                  <a:srgbClr val="4BE0B5"/>
                </a:solidFill>
                <a:latin typeface="Arial"/>
                <a:ea typeface="Arial"/>
                <a:cs typeface="Arial"/>
              </a:rPr>
              <a:t>PROBABILITIES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6C5FC32-0216-44C7-B278-C126254973CF}"/>
              </a:ext>
            </a:extLst>
          </p:cNvPr>
          <p:cNvSpPr>
            <a:spLocks noGrp="1"/>
          </p:cNvSpPr>
          <p:nvPr/>
        </p:nvSpPr>
        <p:spPr>
          <a:xfrm>
            <a:off x="10348090" y="3138323"/>
            <a:ext cx="571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82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825" b="0" i="0" dirty="0">
                <a:solidFill>
                  <a:srgbClr val="C7D1DF"/>
                </a:solidFill>
                <a:latin typeface="Arial"/>
                <a:ea typeface="Arial"/>
                <a:cs typeface="Arial"/>
              </a:rPr>
              <a:t>same application interface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D869D0-1715-427D-8761-1F24AC5C6552}"/>
              </a:ext>
            </a:extLst>
          </p:cNvPr>
          <p:cNvSpPr>
            <a:spLocks noGrp="1"/>
          </p:cNvSpPr>
          <p:nvPr/>
        </p:nvSpPr>
        <p:spPr>
          <a:xfrm>
            <a:off x="2552700" y="2686050"/>
            <a:ext cx="542925" cy="19050"/>
          </a:xfrm>
          <a:prstGeom prst="rect">
            <a:avLst/>
          </a:prstGeom>
          <a:solidFill>
            <a:srgbClr val="3444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168F949-7B21-46FD-B78C-7541F045C73E}"/>
              </a:ext>
            </a:extLst>
          </p:cNvPr>
          <p:cNvSpPr>
            <a:spLocks noGrp="1"/>
          </p:cNvSpPr>
          <p:nvPr/>
        </p:nvSpPr>
        <p:spPr>
          <a:xfrm>
            <a:off x="3095625" y="2686050"/>
            <a:ext cx="19050" cy="533400"/>
          </a:xfrm>
          <a:prstGeom prst="rect">
            <a:avLst/>
          </a:prstGeom>
          <a:solidFill>
            <a:srgbClr val="3444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5347C79-69CC-4891-82A5-951C907F8544}"/>
              </a:ext>
            </a:extLst>
          </p:cNvPr>
          <p:cNvSpPr>
            <a:spLocks noGrp="1"/>
          </p:cNvSpPr>
          <p:nvPr/>
        </p:nvSpPr>
        <p:spPr>
          <a:xfrm>
            <a:off x="3095625" y="3219450"/>
            <a:ext cx="542925" cy="19050"/>
          </a:xfrm>
          <a:prstGeom prst="rect">
            <a:avLst/>
          </a:prstGeom>
          <a:solidFill>
            <a:srgbClr val="3444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BF65CD5-1799-4C26-B6B0-3F3AB044DFE8}"/>
              </a:ext>
            </a:extLst>
          </p:cNvPr>
          <p:cNvSpPr>
            <a:spLocks noGrp="1"/>
          </p:cNvSpPr>
          <p:nvPr/>
        </p:nvSpPr>
        <p:spPr>
          <a:xfrm>
            <a:off x="2552700" y="4019550"/>
            <a:ext cx="542925" cy="19050"/>
          </a:xfrm>
          <a:prstGeom prst="rect">
            <a:avLst/>
          </a:prstGeom>
          <a:solidFill>
            <a:srgbClr val="3444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8E4D806-A294-4983-91B6-3F15EF86FE4B}"/>
              </a:ext>
            </a:extLst>
          </p:cNvPr>
          <p:cNvSpPr>
            <a:spLocks noGrp="1"/>
          </p:cNvSpPr>
          <p:nvPr/>
        </p:nvSpPr>
        <p:spPr>
          <a:xfrm>
            <a:off x="3095625" y="3486150"/>
            <a:ext cx="19050" cy="533400"/>
          </a:xfrm>
          <a:prstGeom prst="rect">
            <a:avLst/>
          </a:prstGeom>
          <a:solidFill>
            <a:srgbClr val="3444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1B071F9-88BA-47D4-9671-02B5A6F42FF8}"/>
              </a:ext>
            </a:extLst>
          </p:cNvPr>
          <p:cNvSpPr>
            <a:spLocks noGrp="1"/>
          </p:cNvSpPr>
          <p:nvPr/>
        </p:nvSpPr>
        <p:spPr>
          <a:xfrm>
            <a:off x="3095625" y="3486150"/>
            <a:ext cx="542925" cy="19050"/>
          </a:xfrm>
          <a:prstGeom prst="rect">
            <a:avLst/>
          </a:prstGeom>
          <a:solidFill>
            <a:srgbClr val="3444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FDB8088-72D6-4BA3-BD00-AC3E1B7E87D9}"/>
              </a:ext>
            </a:extLst>
          </p:cNvPr>
          <p:cNvSpPr>
            <a:spLocks noGrp="1"/>
          </p:cNvSpPr>
          <p:nvPr/>
        </p:nvSpPr>
        <p:spPr>
          <a:xfrm>
            <a:off x="6496050" y="3352800"/>
            <a:ext cx="1104900" cy="28575"/>
          </a:xfrm>
          <a:prstGeom prst="rect">
            <a:avLst/>
          </a:prstGeom>
          <a:solidFill>
            <a:srgbClr val="B9F4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0E82639-5B14-4EFB-B4C1-3C556D6EFF6C}"/>
              </a:ext>
            </a:extLst>
          </p:cNvPr>
          <p:cNvSpPr>
            <a:spLocks noGrp="1"/>
          </p:cNvSpPr>
          <p:nvPr/>
        </p:nvSpPr>
        <p:spPr>
          <a:xfrm>
            <a:off x="9591675" y="3352800"/>
            <a:ext cx="514350" cy="28575"/>
          </a:xfrm>
          <a:prstGeom prst="rect">
            <a:avLst/>
          </a:prstGeom>
          <a:solidFill>
            <a:srgbClr val="3444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51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1759C2D8-3340-4D3F-BD9F-03C4E75E653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B9F4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90CB8C-D346-47AC-BC94-924293A3C50D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7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B9F45D"/>
                </a:solidFill>
                <a:latin typeface="Arial"/>
                <a:ea typeface="Arial"/>
                <a:cs typeface="Arial"/>
              </a:rPr>
              <a:t>REPRODUCTION RECIPE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0FD9D6-358D-4B60-BC83-056F6E6191FD}"/>
              </a:ext>
            </a:extLst>
          </p:cNvPr>
          <p:cNvSpPr>
            <a:spLocks noGrp="1"/>
          </p:cNvSpPr>
          <p:nvPr/>
        </p:nvSpPr>
        <p:spPr>
          <a:xfrm>
            <a:off x="514350" y="5905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550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Training your own model is a six-stage pipeline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59F96D-5B43-4214-B2BC-980049BECC70}"/>
              </a:ext>
            </a:extLst>
          </p:cNvPr>
          <p:cNvSpPr>
            <a:spLocks noGrp="1"/>
          </p:cNvSpPr>
          <p:nvPr/>
        </p:nvSpPr>
        <p:spPr>
          <a:xfrm>
            <a:off x="514350" y="1304925"/>
            <a:ext cx="11163300" cy="9525"/>
          </a:xfrm>
          <a:prstGeom prst="rect">
            <a:avLst/>
          </a:prstGeom>
          <a:solidFill>
            <a:srgbClr val="26344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A145BA-6EDD-466B-AFFA-0549D3776FBD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675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675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pPr>
            <a:r>
              <a:rPr lang="en-US" sz="675" b="1" dirty="0">
                <a:solidFill>
                  <a:srgbClr val="7E8B9D"/>
                </a:solidFill>
                <a:latin typeface="Arial"/>
                <a:ea typeface="Arial"/>
                <a:cs typeface="Arial"/>
              </a:rPr>
              <a:t>14</a:t>
            </a:r>
            <a:endParaRPr sz="675" b="1" i="0" dirty="0">
              <a:solidFill>
                <a:srgbClr val="7E8B9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E983A40-B912-4F34-A6AE-FBF57F3E26DA}"/>
              </a:ext>
            </a:extLst>
          </p:cNvPr>
          <p:cNvSpPr>
            <a:spLocks noGrp="1"/>
          </p:cNvSpPr>
          <p:nvPr/>
        </p:nvSpPr>
        <p:spPr>
          <a:xfrm>
            <a:off x="514350" y="1638300"/>
            <a:ext cx="3429000" cy="1638300"/>
          </a:xfrm>
          <a:prstGeom prst="roundRect">
            <a:avLst>
              <a:gd name="adj" fmla="val 6977"/>
            </a:avLst>
          </a:prstGeom>
          <a:solidFill>
            <a:srgbClr val="101826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6D272D8-02C6-4458-9E53-C1A7936C7DB6}"/>
              </a:ext>
            </a:extLst>
          </p:cNvPr>
          <p:cNvSpPr>
            <a:spLocks noGrp="1"/>
          </p:cNvSpPr>
          <p:nvPr/>
        </p:nvSpPr>
        <p:spPr>
          <a:xfrm>
            <a:off x="704850" y="1828800"/>
            <a:ext cx="323850" cy="323850"/>
          </a:xfrm>
          <a:prstGeom prst="ellipse">
            <a:avLst/>
          </a:prstGeom>
          <a:solidFill>
            <a:srgbClr val="54D6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3F271B-0BEF-4E90-9E5F-7FE29564B6BB}"/>
              </a:ext>
            </a:extLst>
          </p:cNvPr>
          <p:cNvSpPr>
            <a:spLocks noGrp="1"/>
          </p:cNvSpPr>
          <p:nvPr/>
        </p:nvSpPr>
        <p:spPr>
          <a:xfrm>
            <a:off x="704850" y="1857375"/>
            <a:ext cx="323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975" b="1" i="0">
                <a:solidFill>
                  <a:srgbClr val="070B1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975" b="1" i="0">
                <a:solidFill>
                  <a:srgbClr val="070B1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70B1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ABE74F-0038-4280-85D5-E7684E5F3784}"/>
              </a:ext>
            </a:extLst>
          </p:cNvPr>
          <p:cNvSpPr>
            <a:spLocks noGrp="1"/>
          </p:cNvSpPr>
          <p:nvPr/>
        </p:nvSpPr>
        <p:spPr>
          <a:xfrm>
            <a:off x="1200150" y="184785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4D6FF"/>
                </a:solidFill>
                <a:latin typeface="Arial"/>
                <a:ea typeface="Arial"/>
                <a:cs typeface="Arial"/>
              </a:rPr>
              <a:t>Choose backbone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D45D9B-1C68-4D55-8D9F-F976FEDA0755}"/>
              </a:ext>
            </a:extLst>
          </p:cNvPr>
          <p:cNvSpPr>
            <a:spLocks noGrp="1"/>
          </p:cNvSpPr>
          <p:nvPr/>
        </p:nvSpPr>
        <p:spPr>
          <a:xfrm>
            <a:off x="704850" y="2438400"/>
            <a:ext cx="30099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8000"/>
              </a:lnSpc>
              <a:buNone/>
              <a:defRPr sz="1050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9B decoder is the practical default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63138C0-FE19-4278-9258-2B9F01CF9006}"/>
              </a:ext>
            </a:extLst>
          </p:cNvPr>
          <p:cNvSpPr>
            <a:spLocks noGrp="1"/>
          </p:cNvSpPr>
          <p:nvPr/>
        </p:nvSpPr>
        <p:spPr>
          <a:xfrm>
            <a:off x="4229100" y="1638300"/>
            <a:ext cx="3429000" cy="1638300"/>
          </a:xfrm>
          <a:prstGeom prst="roundRect">
            <a:avLst>
              <a:gd name="adj" fmla="val 6977"/>
            </a:avLst>
          </a:prstGeom>
          <a:solidFill>
            <a:srgbClr val="101826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A11F515-D1B7-4C0B-90E2-FD535B00147D}"/>
              </a:ext>
            </a:extLst>
          </p:cNvPr>
          <p:cNvSpPr>
            <a:spLocks noGrp="1"/>
          </p:cNvSpPr>
          <p:nvPr/>
        </p:nvSpPr>
        <p:spPr>
          <a:xfrm>
            <a:off x="4419600" y="1828800"/>
            <a:ext cx="323850" cy="323850"/>
          </a:xfrm>
          <a:prstGeom prst="ellipse">
            <a:avLst/>
          </a:prstGeom>
          <a:solidFill>
            <a:srgbClr val="AA8B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8B6490-567E-4C48-A7C0-9BABD50B3729}"/>
              </a:ext>
            </a:extLst>
          </p:cNvPr>
          <p:cNvSpPr>
            <a:spLocks noGrp="1"/>
          </p:cNvSpPr>
          <p:nvPr/>
        </p:nvSpPr>
        <p:spPr>
          <a:xfrm>
            <a:off x="4419600" y="1857375"/>
            <a:ext cx="323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975" b="1" i="0">
                <a:solidFill>
                  <a:srgbClr val="070B1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975" b="1" i="0">
                <a:solidFill>
                  <a:srgbClr val="070B1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70B1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9FE12E-286C-4B56-A8D8-2CBFD5A99677}"/>
              </a:ext>
            </a:extLst>
          </p:cNvPr>
          <p:cNvSpPr>
            <a:spLocks noGrp="1"/>
          </p:cNvSpPr>
          <p:nvPr/>
        </p:nvSpPr>
        <p:spPr>
          <a:xfrm>
            <a:off x="4914900" y="184785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 i="0">
                <a:solidFill>
                  <a:srgbClr val="AA8B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1" i="0">
                <a:solidFill>
                  <a:srgbClr val="AA8B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AA8BFF"/>
                </a:solidFill>
                <a:latin typeface="Arial"/>
                <a:ea typeface="Arial"/>
                <a:cs typeface="Arial"/>
              </a:rPr>
              <a:t>Define schema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EF97D3-4C79-44BE-9AB9-7A1417E40925}"/>
              </a:ext>
            </a:extLst>
          </p:cNvPr>
          <p:cNvSpPr>
            <a:spLocks noGrp="1"/>
          </p:cNvSpPr>
          <p:nvPr/>
        </p:nvSpPr>
        <p:spPr>
          <a:xfrm>
            <a:off x="4419600" y="2438400"/>
            <a:ext cx="30099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8000"/>
              </a:lnSpc>
              <a:buNone/>
              <a:defRPr sz="1050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stable prompts and opaque candidate codes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CD048B4-068B-4F97-97D7-4AA948B970AC}"/>
              </a:ext>
            </a:extLst>
          </p:cNvPr>
          <p:cNvSpPr>
            <a:spLocks noGrp="1"/>
          </p:cNvSpPr>
          <p:nvPr/>
        </p:nvSpPr>
        <p:spPr>
          <a:xfrm>
            <a:off x="7943850" y="1638300"/>
            <a:ext cx="3429000" cy="1638300"/>
          </a:xfrm>
          <a:prstGeom prst="roundRect">
            <a:avLst>
              <a:gd name="adj" fmla="val 6977"/>
            </a:avLst>
          </a:prstGeom>
          <a:solidFill>
            <a:srgbClr val="101826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408A82D-D3B9-4ACD-9E19-1818866E5C79}"/>
              </a:ext>
            </a:extLst>
          </p:cNvPr>
          <p:cNvSpPr>
            <a:spLocks noGrp="1"/>
          </p:cNvSpPr>
          <p:nvPr/>
        </p:nvSpPr>
        <p:spPr>
          <a:xfrm>
            <a:off x="8134350" y="1828800"/>
            <a:ext cx="323850" cy="323850"/>
          </a:xfrm>
          <a:prstGeom prst="ellipse">
            <a:avLst/>
          </a:prstGeom>
          <a:solidFill>
            <a:srgbClr val="B9F4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4650021-ADF4-417E-BC15-90BF382B89F9}"/>
              </a:ext>
            </a:extLst>
          </p:cNvPr>
          <p:cNvSpPr>
            <a:spLocks noGrp="1"/>
          </p:cNvSpPr>
          <p:nvPr/>
        </p:nvSpPr>
        <p:spPr>
          <a:xfrm>
            <a:off x="8134350" y="1857375"/>
            <a:ext cx="323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975" b="1" i="0">
                <a:solidFill>
                  <a:srgbClr val="070B1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975" b="1" i="0">
                <a:solidFill>
                  <a:srgbClr val="070B1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70B1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CA657C-957B-40B0-809D-7A8B36905F44}"/>
              </a:ext>
            </a:extLst>
          </p:cNvPr>
          <p:cNvSpPr>
            <a:spLocks noGrp="1"/>
          </p:cNvSpPr>
          <p:nvPr/>
        </p:nvSpPr>
        <p:spPr>
          <a:xfrm>
            <a:off x="8629650" y="184785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9F45D"/>
                </a:solidFill>
                <a:latin typeface="Arial"/>
                <a:ea typeface="Arial"/>
                <a:cs typeface="Arial"/>
              </a:rPr>
              <a:t>Build data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887D251-FD7E-4617-A593-621C952F57A0}"/>
              </a:ext>
            </a:extLst>
          </p:cNvPr>
          <p:cNvSpPr>
            <a:spLocks noGrp="1"/>
          </p:cNvSpPr>
          <p:nvPr/>
        </p:nvSpPr>
        <p:spPr>
          <a:xfrm>
            <a:off x="8134350" y="2438400"/>
            <a:ext cx="30099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8000"/>
              </a:lnSpc>
              <a:buNone/>
              <a:defRPr sz="1050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broad examples plus target-domain decisions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AA334C5-A859-45A3-BAA5-882E27C71F8D}"/>
              </a:ext>
            </a:extLst>
          </p:cNvPr>
          <p:cNvSpPr>
            <a:spLocks noGrp="1"/>
          </p:cNvSpPr>
          <p:nvPr/>
        </p:nvSpPr>
        <p:spPr>
          <a:xfrm>
            <a:off x="514350" y="3600450"/>
            <a:ext cx="3429000" cy="1638300"/>
          </a:xfrm>
          <a:prstGeom prst="roundRect">
            <a:avLst>
              <a:gd name="adj" fmla="val 6977"/>
            </a:avLst>
          </a:prstGeom>
          <a:solidFill>
            <a:srgbClr val="101826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8F2EBD5-DDEA-4859-A1D1-079CD3D0262B}"/>
              </a:ext>
            </a:extLst>
          </p:cNvPr>
          <p:cNvSpPr>
            <a:spLocks noGrp="1"/>
          </p:cNvSpPr>
          <p:nvPr/>
        </p:nvSpPr>
        <p:spPr>
          <a:xfrm>
            <a:off x="704850" y="3790950"/>
            <a:ext cx="323850" cy="323850"/>
          </a:xfrm>
          <a:prstGeom prst="ellipse">
            <a:avLst/>
          </a:prstGeom>
          <a:solidFill>
            <a:srgbClr val="F8C15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EC4E3ED-4786-4299-B2A6-AC449732FB0E}"/>
              </a:ext>
            </a:extLst>
          </p:cNvPr>
          <p:cNvSpPr>
            <a:spLocks noGrp="1"/>
          </p:cNvSpPr>
          <p:nvPr/>
        </p:nvSpPr>
        <p:spPr>
          <a:xfrm>
            <a:off x="704850" y="3819525"/>
            <a:ext cx="323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975" b="1" i="0">
                <a:solidFill>
                  <a:srgbClr val="070B1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975" b="1" i="0">
                <a:solidFill>
                  <a:srgbClr val="070B1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70B1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F1EB615-67DE-4376-8F22-3DF441D176AB}"/>
              </a:ext>
            </a:extLst>
          </p:cNvPr>
          <p:cNvSpPr>
            <a:spLocks noGrp="1"/>
          </p:cNvSpPr>
          <p:nvPr/>
        </p:nvSpPr>
        <p:spPr>
          <a:xfrm>
            <a:off x="1200150" y="381000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 i="0">
                <a:solidFill>
                  <a:srgbClr val="F8C15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1" i="0">
                <a:solidFill>
                  <a:srgbClr val="F8C15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8C15C"/>
                </a:solidFill>
                <a:latin typeface="Arial"/>
                <a:ea typeface="Arial"/>
                <a:cs typeface="Arial"/>
              </a:rPr>
              <a:t>Tune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E04F81-54DF-4D20-847A-0A4B92CDCCD7}"/>
              </a:ext>
            </a:extLst>
          </p:cNvPr>
          <p:cNvSpPr>
            <a:spLocks noGrp="1"/>
          </p:cNvSpPr>
          <p:nvPr/>
        </p:nvSpPr>
        <p:spPr>
          <a:xfrm>
            <a:off x="704850" y="4400550"/>
            <a:ext cx="30099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8000"/>
              </a:lnSpc>
              <a:buNone/>
              <a:defRPr sz="1050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LoRA first; full tuning only when justified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97181E3-0BEB-47A1-A27F-BB5F2CC00C8F}"/>
              </a:ext>
            </a:extLst>
          </p:cNvPr>
          <p:cNvSpPr>
            <a:spLocks noGrp="1"/>
          </p:cNvSpPr>
          <p:nvPr/>
        </p:nvSpPr>
        <p:spPr>
          <a:xfrm>
            <a:off x="4229100" y="3600450"/>
            <a:ext cx="3429000" cy="1638300"/>
          </a:xfrm>
          <a:prstGeom prst="roundRect">
            <a:avLst>
              <a:gd name="adj" fmla="val 6977"/>
            </a:avLst>
          </a:prstGeom>
          <a:solidFill>
            <a:srgbClr val="101826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CD52425-1EB9-4A95-8805-FFFCE50C25A0}"/>
              </a:ext>
            </a:extLst>
          </p:cNvPr>
          <p:cNvSpPr>
            <a:spLocks noGrp="1"/>
          </p:cNvSpPr>
          <p:nvPr/>
        </p:nvSpPr>
        <p:spPr>
          <a:xfrm>
            <a:off x="4419600" y="3790950"/>
            <a:ext cx="323850" cy="323850"/>
          </a:xfrm>
          <a:prstGeom prst="ellipse">
            <a:avLst/>
          </a:prstGeom>
          <a:solidFill>
            <a:srgbClr val="4BE0B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D9AC3E2-FC1A-402B-A8EA-2C3E4681B1E1}"/>
              </a:ext>
            </a:extLst>
          </p:cNvPr>
          <p:cNvSpPr>
            <a:spLocks noGrp="1"/>
          </p:cNvSpPr>
          <p:nvPr/>
        </p:nvSpPr>
        <p:spPr>
          <a:xfrm>
            <a:off x="4419600" y="3819525"/>
            <a:ext cx="323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975" b="1" i="0">
                <a:solidFill>
                  <a:srgbClr val="070B1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975" b="1" i="0">
                <a:solidFill>
                  <a:srgbClr val="070B1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70B1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AC12AB4-BF23-4FCE-B0BD-2809320FE86E}"/>
              </a:ext>
            </a:extLst>
          </p:cNvPr>
          <p:cNvSpPr>
            <a:spLocks noGrp="1"/>
          </p:cNvSpPr>
          <p:nvPr/>
        </p:nvSpPr>
        <p:spPr>
          <a:xfrm>
            <a:off x="4914900" y="381000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 i="0">
                <a:solidFill>
                  <a:srgbClr val="4BE0B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1" i="0">
                <a:solidFill>
                  <a:srgbClr val="4BE0B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4BE0B5"/>
                </a:solidFill>
                <a:latin typeface="Arial"/>
                <a:ea typeface="Arial"/>
                <a:cs typeface="Arial"/>
              </a:rPr>
              <a:t>Calibrate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24F4019-851B-4904-901A-414D650D52C0}"/>
              </a:ext>
            </a:extLst>
          </p:cNvPr>
          <p:cNvSpPr>
            <a:spLocks noGrp="1"/>
          </p:cNvSpPr>
          <p:nvPr/>
        </p:nvSpPr>
        <p:spPr>
          <a:xfrm>
            <a:off x="4419600" y="4400550"/>
            <a:ext cx="30099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8000"/>
              </a:lnSpc>
              <a:buNone/>
              <a:defRPr sz="1050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fit temperature on a separate fold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8A871E99-33E3-47BD-BE66-BC6440455FFF}"/>
              </a:ext>
            </a:extLst>
          </p:cNvPr>
          <p:cNvSpPr>
            <a:spLocks noGrp="1"/>
          </p:cNvSpPr>
          <p:nvPr/>
        </p:nvSpPr>
        <p:spPr>
          <a:xfrm>
            <a:off x="7943850" y="3600450"/>
            <a:ext cx="3429000" cy="1638300"/>
          </a:xfrm>
          <a:prstGeom prst="roundRect">
            <a:avLst>
              <a:gd name="adj" fmla="val 6977"/>
            </a:avLst>
          </a:prstGeom>
          <a:solidFill>
            <a:srgbClr val="101826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F4B44CA-13FB-4FF1-BD2D-DFA7B9CF0CA2}"/>
              </a:ext>
            </a:extLst>
          </p:cNvPr>
          <p:cNvSpPr>
            <a:spLocks noGrp="1"/>
          </p:cNvSpPr>
          <p:nvPr/>
        </p:nvSpPr>
        <p:spPr>
          <a:xfrm>
            <a:off x="8134350" y="3790950"/>
            <a:ext cx="323850" cy="323850"/>
          </a:xfrm>
          <a:prstGeom prst="ellipse">
            <a:avLst/>
          </a:prstGeom>
          <a:solidFill>
            <a:srgbClr val="FF7D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D028E3C-DEEC-4177-9929-76253BEA11B2}"/>
              </a:ext>
            </a:extLst>
          </p:cNvPr>
          <p:cNvSpPr>
            <a:spLocks noGrp="1"/>
          </p:cNvSpPr>
          <p:nvPr/>
        </p:nvSpPr>
        <p:spPr>
          <a:xfrm>
            <a:off x="8134350" y="3819525"/>
            <a:ext cx="323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975" b="1" i="0">
                <a:solidFill>
                  <a:srgbClr val="070B12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975" b="1" i="0">
                <a:solidFill>
                  <a:srgbClr val="070B1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70B12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D0B1299-41A2-4ADB-8B7E-1D2EDE61156E}"/>
              </a:ext>
            </a:extLst>
          </p:cNvPr>
          <p:cNvSpPr>
            <a:spLocks noGrp="1"/>
          </p:cNvSpPr>
          <p:nvPr/>
        </p:nvSpPr>
        <p:spPr>
          <a:xfrm>
            <a:off x="8629650" y="3810000"/>
            <a:ext cx="2514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 i="0">
                <a:solidFill>
                  <a:srgbClr val="FF7D7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1" i="0">
                <a:solidFill>
                  <a:srgbClr val="FF7D7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7D70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B5E9C35-4E35-4B75-B97A-CAC86C930573}"/>
              </a:ext>
            </a:extLst>
          </p:cNvPr>
          <p:cNvSpPr>
            <a:spLocks noGrp="1"/>
          </p:cNvSpPr>
          <p:nvPr/>
        </p:nvSpPr>
        <p:spPr>
          <a:xfrm>
            <a:off x="8134350" y="4400550"/>
            <a:ext cx="30099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50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8000"/>
              </a:lnSpc>
              <a:buNone/>
              <a:defRPr sz="1050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private accuracy, risk, latency, and cost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D3F086F-8976-40D0-8AFF-0ABA54100014}"/>
              </a:ext>
            </a:extLst>
          </p:cNvPr>
          <p:cNvSpPr>
            <a:spLocks noGrp="1"/>
          </p:cNvSpPr>
          <p:nvPr/>
        </p:nvSpPr>
        <p:spPr>
          <a:xfrm>
            <a:off x="514350" y="5772150"/>
            <a:ext cx="10820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050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1050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050" b="1" i="0" dirty="0">
                <a:solidFill>
                  <a:srgbClr val="F4F8FF"/>
                </a:solidFill>
                <a:latin typeface="Arial"/>
                <a:ea typeface="Arial"/>
                <a:cs typeface="Arial"/>
              </a:rPr>
              <a:t>Treat calibration and evaluation as first-class stages, not cleanup after training.</a:t>
            </a:r>
          </a:p>
        </p:txBody>
      </p:sp>
    </p:spTree>
    <p:extLst>
      <p:ext uri="{BB962C8B-B14F-4D97-AF65-F5344CB8AC3E}">
        <p14:creationId xmlns:p14="http://schemas.microsoft.com/office/powerpoint/2010/main" val="879235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49C419A-C913-49B6-92BC-959DF98D87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B9F4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6CD491-7A62-4B08-9769-98B22FAC74DD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7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B9F45D"/>
                </a:solidFill>
                <a:latin typeface="Arial"/>
                <a:ea typeface="Arial"/>
                <a:cs typeface="Arial"/>
              </a:rPr>
              <a:t>TRAINING DATA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730894-A223-4486-94FA-2FAADA09CF02}"/>
              </a:ext>
            </a:extLst>
          </p:cNvPr>
          <p:cNvSpPr>
            <a:spLocks noGrp="1"/>
          </p:cNvSpPr>
          <p:nvPr/>
        </p:nvSpPr>
        <p:spPr>
          <a:xfrm>
            <a:off x="514350" y="5905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32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32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The dataset looks like the runtime contract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406F84-9672-4EDA-8555-B2CE0486B606}"/>
              </a:ext>
            </a:extLst>
          </p:cNvPr>
          <p:cNvSpPr>
            <a:spLocks noGrp="1"/>
          </p:cNvSpPr>
          <p:nvPr/>
        </p:nvSpPr>
        <p:spPr>
          <a:xfrm>
            <a:off x="514350" y="1304925"/>
            <a:ext cx="11163300" cy="9525"/>
          </a:xfrm>
          <a:prstGeom prst="rect">
            <a:avLst/>
          </a:prstGeom>
          <a:solidFill>
            <a:srgbClr val="26344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DE04F3-BEF7-43A6-A47E-6919EE5350B1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675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675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pPr>
            <a:r>
              <a:rPr lang="en-US" sz="675" b="1" i="0" dirty="0">
                <a:solidFill>
                  <a:srgbClr val="7E8B9D"/>
                </a:solidFill>
                <a:latin typeface="Arial"/>
                <a:ea typeface="Arial"/>
                <a:cs typeface="Arial"/>
              </a:rPr>
              <a:t>15</a:t>
            </a:r>
            <a:endParaRPr sz="675" b="1" i="0" dirty="0">
              <a:solidFill>
                <a:srgbClr val="7E8B9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955FF2E-B153-4F4A-A77C-7EFD39DA14FF}"/>
              </a:ext>
            </a:extLst>
          </p:cNvPr>
          <p:cNvSpPr>
            <a:spLocks noGrp="1"/>
          </p:cNvSpPr>
          <p:nvPr/>
        </p:nvSpPr>
        <p:spPr>
          <a:xfrm>
            <a:off x="514350" y="1619250"/>
            <a:ext cx="5524500" cy="4000500"/>
          </a:xfrm>
          <a:prstGeom prst="roundRect">
            <a:avLst>
              <a:gd name="adj" fmla="val 2857"/>
            </a:avLst>
          </a:prstGeom>
          <a:solidFill>
            <a:srgbClr val="0C121D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3D5711-132F-47BA-AA67-E4BFC7C94BBB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5181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7E8B9D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lnSpc>
                <a:spcPct val="105000"/>
              </a:lnSpc>
              <a:buNone/>
              <a:defRPr sz="750" b="1" i="0">
                <a:solidFill>
                  <a:srgbClr val="7E8B9D"/>
                </a:solidFill>
                <a:latin typeface="Courier New"/>
                <a:ea typeface="Courier New"/>
                <a:cs typeface="Courier New"/>
              </a:defRPr>
            </a:pPr>
            <a:r>
              <a:rPr sz="750" b="1" i="0">
                <a:solidFill>
                  <a:srgbClr val="7E8B9D"/>
                </a:solidFill>
                <a:latin typeface="Courier New"/>
                <a:ea typeface="Courier New"/>
                <a:cs typeface="Courier New"/>
              </a:rPr>
              <a:t>ONE DECISION EXAMPLE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40CBE4-37C5-42B3-9DE4-66278C5D842E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5181600" cy="3505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lnSpc>
                <a:spcPct val="118000"/>
              </a:lnSpc>
              <a:buNone/>
              <a:defRPr sz="975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rPr>
              <a:t>state:</a:t>
            </a:r>
          </a:p>
          <a:p>
            <a:pPr algn="l">
              <a:lnSpc>
                <a:spcPct val="118000"/>
              </a:lnSpc>
              <a:buNone/>
              <a:defRPr sz="975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rPr>
              <a:t>  transaction: {amount: 8700, country: SG}</a:t>
            </a:r>
          </a:p>
          <a:p>
            <a:pPr algn="l">
              <a:lnSpc>
                <a:spcPct val="118000"/>
              </a:lnSpc>
              <a:buNone/>
              <a:defRPr sz="975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rPr>
              <a:t>  account: {age_days: 12, kyc: partial}</a:t>
            </a:r>
          </a:p>
          <a:p>
            <a:endParaRPr sz="975" b="0" i="0">
              <a:solidFill>
                <a:srgbClr val="C7D1DF"/>
              </a:solidFill>
              <a:latin typeface="Courier New"/>
              <a:ea typeface="Courier New"/>
              <a:cs typeface="Courier New"/>
            </a:endParaRPr>
          </a:p>
          <a:p>
            <a:pPr algn="l">
              <a:lnSpc>
                <a:spcPct val="118000"/>
              </a:lnSpc>
              <a:buNone/>
              <a:defRPr sz="975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rPr>
              <a:t>question:</a:t>
            </a:r>
          </a:p>
          <a:p>
            <a:pPr algn="l">
              <a:lnSpc>
                <a:spcPct val="118000"/>
              </a:lnSpc>
              <a:buNone/>
              <a:defRPr sz="975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rPr>
              <a:t>  type: choice</a:t>
            </a:r>
          </a:p>
          <a:p>
            <a:pPr algn="l">
              <a:lnSpc>
                <a:spcPct val="118000"/>
              </a:lnSpc>
              <a:buNone/>
              <a:defRPr sz="975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rPr>
              <a:t>  instructions: Select the next action under policy v17.</a:t>
            </a:r>
          </a:p>
          <a:p>
            <a:pPr algn="l">
              <a:lnSpc>
                <a:spcPct val="118000"/>
              </a:lnSpc>
              <a:buNone/>
              <a:defRPr sz="975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rPr>
              <a:t>  criteria: [approve, manual_review, decline]</a:t>
            </a:r>
          </a:p>
          <a:p>
            <a:endParaRPr sz="975" b="0" i="0">
              <a:solidFill>
                <a:srgbClr val="C7D1DF"/>
              </a:solidFill>
              <a:latin typeface="Courier New"/>
              <a:ea typeface="Courier New"/>
              <a:cs typeface="Courier New"/>
            </a:endParaRPr>
          </a:p>
          <a:p>
            <a:pPr algn="l">
              <a:lnSpc>
                <a:spcPct val="118000"/>
              </a:lnSpc>
              <a:buNone/>
              <a:defRPr sz="975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rPr>
              <a:t>target:</a:t>
            </a:r>
          </a:p>
          <a:p>
            <a:pPr algn="l">
              <a:lnSpc>
                <a:spcPct val="118000"/>
              </a:lnSpc>
              <a:buNone/>
              <a:defRPr sz="975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rPr>
              <a:t>  approve: 0.03</a:t>
            </a:r>
          </a:p>
          <a:p>
            <a:pPr algn="l">
              <a:lnSpc>
                <a:spcPct val="118000"/>
              </a:lnSpc>
              <a:buNone/>
              <a:defRPr sz="975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rPr>
              <a:t>  manual_review: 0.82</a:t>
            </a:r>
          </a:p>
          <a:p>
            <a:pPr algn="l">
              <a:lnSpc>
                <a:spcPct val="118000"/>
              </a:lnSpc>
              <a:buNone/>
              <a:defRPr sz="975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rPr>
              <a:t>  decline: 0.15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E8C716E-630F-448E-A53C-698EE27AFA20}"/>
              </a:ext>
            </a:extLst>
          </p:cNvPr>
          <p:cNvSpPr>
            <a:spLocks noGrp="1"/>
          </p:cNvSpPr>
          <p:nvPr/>
        </p:nvSpPr>
        <p:spPr>
          <a:xfrm>
            <a:off x="6572250" y="1619250"/>
            <a:ext cx="4762500" cy="857250"/>
          </a:xfrm>
          <a:prstGeom prst="roundRect">
            <a:avLst>
              <a:gd name="adj" fmla="val 13333"/>
            </a:avLst>
          </a:prstGeom>
          <a:solidFill>
            <a:srgbClr val="0D2D3A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82284-F030-4BAC-B49F-72A52AE5ADD2}"/>
              </a:ext>
            </a:extLst>
          </p:cNvPr>
          <p:cNvSpPr>
            <a:spLocks noGrp="1"/>
          </p:cNvSpPr>
          <p:nvPr/>
        </p:nvSpPr>
        <p:spPr>
          <a:xfrm>
            <a:off x="6572250" y="1619250"/>
            <a:ext cx="47625" cy="857250"/>
          </a:xfrm>
          <a:prstGeom prst="rect">
            <a:avLst/>
          </a:prstGeom>
          <a:solidFill>
            <a:srgbClr val="54D6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6F9FAD-BE2F-4378-8B4E-D2B8069E4D9C}"/>
              </a:ext>
            </a:extLst>
          </p:cNvPr>
          <p:cNvSpPr>
            <a:spLocks noGrp="1"/>
          </p:cNvSpPr>
          <p:nvPr/>
        </p:nvSpPr>
        <p:spPr>
          <a:xfrm>
            <a:off x="6762750" y="1771650"/>
            <a:ext cx="4419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00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4D6FF"/>
                </a:solidFill>
                <a:latin typeface="Arial"/>
                <a:ea typeface="Arial"/>
                <a:cs typeface="Arial"/>
              </a:rPr>
              <a:t>Hard labels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D05F7D-D840-464C-962E-EBC34DE192C3}"/>
              </a:ext>
            </a:extLst>
          </p:cNvPr>
          <p:cNvSpPr>
            <a:spLocks noGrp="1"/>
          </p:cNvSpPr>
          <p:nvPr/>
        </p:nvSpPr>
        <p:spPr>
          <a:xfrm>
            <a:off x="6762750" y="2095500"/>
            <a:ext cx="4419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6000"/>
              </a:lnSpc>
              <a:buNone/>
              <a:defRPr sz="97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Use when policy or ground truth determines one answer.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6B8DAD3-AD9E-4536-9523-D23668F08265}"/>
              </a:ext>
            </a:extLst>
          </p:cNvPr>
          <p:cNvSpPr>
            <a:spLocks noGrp="1"/>
          </p:cNvSpPr>
          <p:nvPr/>
        </p:nvSpPr>
        <p:spPr>
          <a:xfrm>
            <a:off x="6572250" y="2724150"/>
            <a:ext cx="4762500" cy="952500"/>
          </a:xfrm>
          <a:prstGeom prst="roundRect">
            <a:avLst>
              <a:gd name="adj" fmla="val 12000"/>
            </a:avLst>
          </a:prstGeom>
          <a:solidFill>
            <a:srgbClr val="251F40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4AC546-B64F-4C47-A3A5-F9FDB3927C98}"/>
              </a:ext>
            </a:extLst>
          </p:cNvPr>
          <p:cNvSpPr>
            <a:spLocks noGrp="1"/>
          </p:cNvSpPr>
          <p:nvPr/>
        </p:nvSpPr>
        <p:spPr>
          <a:xfrm>
            <a:off x="6572250" y="2724150"/>
            <a:ext cx="47625" cy="952500"/>
          </a:xfrm>
          <a:prstGeom prst="rect">
            <a:avLst/>
          </a:prstGeom>
          <a:solidFill>
            <a:srgbClr val="AA8B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389AFE-B5F2-45E1-8A8B-3BBE9238A6EE}"/>
              </a:ext>
            </a:extLst>
          </p:cNvPr>
          <p:cNvSpPr>
            <a:spLocks noGrp="1"/>
          </p:cNvSpPr>
          <p:nvPr/>
        </p:nvSpPr>
        <p:spPr>
          <a:xfrm>
            <a:off x="6762750" y="2876550"/>
            <a:ext cx="4419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 i="0">
                <a:solidFill>
                  <a:srgbClr val="AA8B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00" b="1" i="0">
                <a:solidFill>
                  <a:srgbClr val="AA8B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AA8BFF"/>
                </a:solidFill>
                <a:latin typeface="Arial"/>
                <a:ea typeface="Arial"/>
                <a:cs typeface="Arial"/>
              </a:rPr>
              <a:t>Soft distributions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F8E81E-5E21-4A01-AE19-9FC16B783AD8}"/>
              </a:ext>
            </a:extLst>
          </p:cNvPr>
          <p:cNvSpPr>
            <a:spLocks noGrp="1"/>
          </p:cNvSpPr>
          <p:nvPr/>
        </p:nvSpPr>
        <p:spPr>
          <a:xfrm>
            <a:off x="6762750" y="3200400"/>
            <a:ext cx="4419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6000"/>
              </a:lnSpc>
              <a:buNone/>
              <a:defRPr sz="97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Use reviewer frequencies or teacher ensembles when ambiguity is real.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75E1279-2B36-4D38-9391-CB821E95B058}"/>
              </a:ext>
            </a:extLst>
          </p:cNvPr>
          <p:cNvSpPr>
            <a:spLocks noGrp="1"/>
          </p:cNvSpPr>
          <p:nvPr/>
        </p:nvSpPr>
        <p:spPr>
          <a:xfrm>
            <a:off x="6572250" y="3924300"/>
            <a:ext cx="4762500" cy="857250"/>
          </a:xfrm>
          <a:prstGeom prst="roundRect">
            <a:avLst>
              <a:gd name="adj" fmla="val 13333"/>
            </a:avLst>
          </a:prstGeom>
          <a:solidFill>
            <a:srgbClr val="12362F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0839CC0-9AA9-406F-9B36-BBBB973CF499}"/>
              </a:ext>
            </a:extLst>
          </p:cNvPr>
          <p:cNvSpPr>
            <a:spLocks noGrp="1"/>
          </p:cNvSpPr>
          <p:nvPr/>
        </p:nvSpPr>
        <p:spPr>
          <a:xfrm>
            <a:off x="6572250" y="3924300"/>
            <a:ext cx="47625" cy="857250"/>
          </a:xfrm>
          <a:prstGeom prst="rect">
            <a:avLst/>
          </a:prstGeom>
          <a:solidFill>
            <a:srgbClr val="4BE0B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9AA8144-0A26-415A-9E52-CA18EFBCF084}"/>
              </a:ext>
            </a:extLst>
          </p:cNvPr>
          <p:cNvSpPr>
            <a:spLocks noGrp="1"/>
          </p:cNvSpPr>
          <p:nvPr/>
        </p:nvSpPr>
        <p:spPr>
          <a:xfrm>
            <a:off x="6762750" y="4076700"/>
            <a:ext cx="4419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 i="0">
                <a:solidFill>
                  <a:srgbClr val="4BE0B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00" b="1" i="0">
                <a:solidFill>
                  <a:srgbClr val="4BE0B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BE0B5"/>
                </a:solidFill>
                <a:latin typeface="Arial"/>
                <a:ea typeface="Arial"/>
                <a:cs typeface="Arial"/>
              </a:rPr>
              <a:t>Provenance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8E7BC2-EDBB-466D-93BA-706555814358}"/>
              </a:ext>
            </a:extLst>
          </p:cNvPr>
          <p:cNvSpPr>
            <a:spLocks noGrp="1"/>
          </p:cNvSpPr>
          <p:nvPr/>
        </p:nvSpPr>
        <p:spPr>
          <a:xfrm>
            <a:off x="6762750" y="4400550"/>
            <a:ext cx="4419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6000"/>
              </a:lnSpc>
              <a:buNone/>
              <a:defRPr sz="97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Store policy version, source, timestamps, and generation recipe.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8E0D6C4-D0D3-4628-AFD4-1DF76FC05A36}"/>
              </a:ext>
            </a:extLst>
          </p:cNvPr>
          <p:cNvSpPr>
            <a:spLocks noGrp="1"/>
          </p:cNvSpPr>
          <p:nvPr/>
        </p:nvSpPr>
        <p:spPr>
          <a:xfrm>
            <a:off x="6572250" y="4953000"/>
            <a:ext cx="4762500" cy="800100"/>
          </a:xfrm>
          <a:prstGeom prst="roundRect">
            <a:avLst>
              <a:gd name="adj" fmla="val 14286"/>
            </a:avLst>
          </a:prstGeom>
          <a:solidFill>
            <a:srgbClr val="1D351B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B5ED901-EFED-4B40-9A02-42856AC422F4}"/>
              </a:ext>
            </a:extLst>
          </p:cNvPr>
          <p:cNvSpPr>
            <a:spLocks noGrp="1"/>
          </p:cNvSpPr>
          <p:nvPr/>
        </p:nvSpPr>
        <p:spPr>
          <a:xfrm>
            <a:off x="6572250" y="4953000"/>
            <a:ext cx="47625" cy="800100"/>
          </a:xfrm>
          <a:prstGeom prst="rect">
            <a:avLst/>
          </a:prstGeom>
          <a:solidFill>
            <a:srgbClr val="B9F4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5FE1BF-187B-4823-9642-1E80C1BFF530}"/>
              </a:ext>
            </a:extLst>
          </p:cNvPr>
          <p:cNvSpPr>
            <a:spLocks noGrp="1"/>
          </p:cNvSpPr>
          <p:nvPr/>
        </p:nvSpPr>
        <p:spPr>
          <a:xfrm>
            <a:off x="6762750" y="5105400"/>
            <a:ext cx="4419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0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9F45D"/>
                </a:solidFill>
                <a:latin typeface="Arial"/>
                <a:ea typeface="Arial"/>
                <a:cs typeface="Arial"/>
              </a:rPr>
              <a:t>Counterfactual groups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4BA99D0-C9C8-46EA-B850-8116CBECAF86}"/>
              </a:ext>
            </a:extLst>
          </p:cNvPr>
          <p:cNvSpPr>
            <a:spLocks noGrp="1"/>
          </p:cNvSpPr>
          <p:nvPr/>
        </p:nvSpPr>
        <p:spPr>
          <a:xfrm>
            <a:off x="6762750" y="5429250"/>
            <a:ext cx="4419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6000"/>
              </a:lnSpc>
              <a:buNone/>
              <a:defRPr sz="97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Keep paraphrases and minimal-pair siblings in the same split.</a:t>
            </a:r>
          </a:p>
        </p:txBody>
      </p:sp>
    </p:spTree>
    <p:extLst>
      <p:ext uri="{BB962C8B-B14F-4D97-AF65-F5344CB8AC3E}">
        <p14:creationId xmlns:p14="http://schemas.microsoft.com/office/powerpoint/2010/main" val="5191763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DCA19DE2-A84A-469B-86E9-204C5CE3BB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B9F4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0F7C53-542F-4A5E-BB01-1106A95938FE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7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B9F45D"/>
                </a:solidFill>
                <a:latin typeface="Arial"/>
                <a:ea typeface="Arial"/>
                <a:cs typeface="Arial"/>
              </a:rPr>
              <a:t>WHAT CALIBRATION MEANS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61AECB-6260-411B-84AD-DB525A2ECD1D}"/>
              </a:ext>
            </a:extLst>
          </p:cNvPr>
          <p:cNvSpPr>
            <a:spLocks noGrp="1"/>
          </p:cNvSpPr>
          <p:nvPr/>
        </p:nvSpPr>
        <p:spPr>
          <a:xfrm>
            <a:off x="514350" y="5905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32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32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A probability is calibrated when it matches observed frequency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AC2B49-1EE9-486F-8DC1-F2F55D26D713}"/>
              </a:ext>
            </a:extLst>
          </p:cNvPr>
          <p:cNvSpPr>
            <a:spLocks noGrp="1"/>
          </p:cNvSpPr>
          <p:nvPr/>
        </p:nvSpPr>
        <p:spPr>
          <a:xfrm>
            <a:off x="514350" y="1304925"/>
            <a:ext cx="11163300" cy="9525"/>
          </a:xfrm>
          <a:prstGeom prst="rect">
            <a:avLst/>
          </a:prstGeom>
          <a:solidFill>
            <a:srgbClr val="26344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4654A9-5E37-4E67-B2A9-AA645C0EE6E1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675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675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pPr>
            <a:r>
              <a:rPr lang="en-US" sz="675" b="1" i="0" dirty="0">
                <a:solidFill>
                  <a:srgbClr val="7E8B9D"/>
                </a:solidFill>
                <a:latin typeface="Arial"/>
                <a:ea typeface="Arial"/>
                <a:cs typeface="Arial"/>
              </a:rPr>
              <a:t>16</a:t>
            </a:r>
            <a:endParaRPr sz="675" b="1" i="0" dirty="0">
              <a:solidFill>
                <a:srgbClr val="7E8B9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8AE8782-11F0-4483-9534-18EABD15D307}"/>
              </a:ext>
            </a:extLst>
          </p:cNvPr>
          <p:cNvSpPr>
            <a:spLocks noGrp="1"/>
          </p:cNvSpPr>
          <p:nvPr/>
        </p:nvSpPr>
        <p:spPr>
          <a:xfrm>
            <a:off x="514350" y="1676400"/>
            <a:ext cx="4953000" cy="1943100"/>
          </a:xfrm>
          <a:prstGeom prst="roundRect">
            <a:avLst>
              <a:gd name="adj" fmla="val 5882"/>
            </a:avLst>
          </a:prstGeom>
          <a:solidFill>
            <a:srgbClr val="101826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FC3DD8-A5CD-486F-A0F4-2F33601AB6ED}"/>
              </a:ext>
            </a:extLst>
          </p:cNvPr>
          <p:cNvSpPr>
            <a:spLocks noGrp="1"/>
          </p:cNvSpPr>
          <p:nvPr/>
        </p:nvSpPr>
        <p:spPr>
          <a:xfrm>
            <a:off x="742950" y="186690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750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8B9D"/>
                </a:solidFill>
                <a:latin typeface="Arial"/>
                <a:ea typeface="Arial"/>
                <a:cs typeface="Arial"/>
              </a:rPr>
              <a:t>A MODEL OUTPUTS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4B61E2-F7C6-462C-994A-DC8A266F2337}"/>
              </a:ext>
            </a:extLst>
          </p:cNvPr>
          <p:cNvSpPr>
            <a:spLocks noGrp="1"/>
          </p:cNvSpPr>
          <p:nvPr/>
        </p:nvSpPr>
        <p:spPr>
          <a:xfrm>
            <a:off x="742950" y="2247900"/>
            <a:ext cx="1714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450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450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54D6FF"/>
                </a:solidFill>
                <a:latin typeface="Arial"/>
                <a:ea typeface="Arial"/>
                <a:cs typeface="Arial"/>
              </a:rPr>
              <a:t>80%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CA437F-4EF2-4235-AEDE-B271A7FDC343}"/>
              </a:ext>
            </a:extLst>
          </p:cNvPr>
          <p:cNvSpPr>
            <a:spLocks noGrp="1"/>
          </p:cNvSpPr>
          <p:nvPr/>
        </p:nvSpPr>
        <p:spPr>
          <a:xfrm>
            <a:off x="2381250" y="2438400"/>
            <a:ext cx="2705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7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probability for option 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8149C6-02CC-49AB-AF87-8B0E1B6FDD45}"/>
              </a:ext>
            </a:extLst>
          </p:cNvPr>
          <p:cNvSpPr>
            <a:spLocks noGrp="1"/>
          </p:cNvSpPr>
          <p:nvPr/>
        </p:nvSpPr>
        <p:spPr>
          <a:xfrm>
            <a:off x="742950" y="3067050"/>
            <a:ext cx="4343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38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6000"/>
              </a:lnSpc>
              <a:buNone/>
              <a:defRPr sz="938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Softmax guarantees that legal options sum to one. It does not guarantee that the model is correct 80% of the time.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17730AF-187D-44A8-9D74-A8EDBA62FC72}"/>
              </a:ext>
            </a:extLst>
          </p:cNvPr>
          <p:cNvSpPr>
            <a:spLocks noGrp="1"/>
          </p:cNvSpPr>
          <p:nvPr/>
        </p:nvSpPr>
        <p:spPr>
          <a:xfrm>
            <a:off x="5962650" y="1676400"/>
            <a:ext cx="5372100" cy="1943100"/>
          </a:xfrm>
          <a:prstGeom prst="roundRect">
            <a:avLst>
              <a:gd name="adj" fmla="val 5882"/>
            </a:avLst>
          </a:prstGeom>
          <a:solidFill>
            <a:srgbClr val="1D351B"/>
          </a:solidFill>
          <a:ln w="9525">
            <a:solidFill>
              <a:srgbClr val="B9F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6198BD-4637-42CB-87BF-314AC8D4DFBB}"/>
              </a:ext>
            </a:extLst>
          </p:cNvPr>
          <p:cNvSpPr>
            <a:spLocks noGrp="1"/>
          </p:cNvSpPr>
          <p:nvPr/>
        </p:nvSpPr>
        <p:spPr>
          <a:xfrm>
            <a:off x="6191250" y="186690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7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B9F45D"/>
                </a:solidFill>
                <a:latin typeface="Arial"/>
                <a:ea typeface="Arial"/>
                <a:cs typeface="Arial"/>
              </a:rPr>
              <a:t>THE CALIBRATION TEST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06904B-C7D0-49A9-845D-6F745D20D660}"/>
              </a:ext>
            </a:extLst>
          </p:cNvPr>
          <p:cNvSpPr>
            <a:spLocks noGrp="1"/>
          </p:cNvSpPr>
          <p:nvPr/>
        </p:nvSpPr>
        <p:spPr>
          <a:xfrm>
            <a:off x="6191250" y="2266950"/>
            <a:ext cx="1047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3000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01FFC0-C3BC-4288-9F76-4230226E99DF}"/>
              </a:ext>
            </a:extLst>
          </p:cNvPr>
          <p:cNvSpPr>
            <a:spLocks noGrp="1"/>
          </p:cNvSpPr>
          <p:nvPr/>
        </p:nvSpPr>
        <p:spPr>
          <a:xfrm>
            <a:off x="7239000" y="24003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7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cases predicted near 80%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0D8325-F8D8-49AC-A3F6-738081FF52C9}"/>
              </a:ext>
            </a:extLst>
          </p:cNvPr>
          <p:cNvSpPr>
            <a:spLocks noGrp="1"/>
          </p:cNvSpPr>
          <p:nvPr/>
        </p:nvSpPr>
        <p:spPr>
          <a:xfrm>
            <a:off x="6191250" y="2971800"/>
            <a:ext cx="466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0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80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B9F45D"/>
                </a:solidFill>
                <a:latin typeface="Arial"/>
                <a:ea typeface="Arial"/>
                <a:cs typeface="Arial"/>
              </a:rPr>
              <a:t>≈ 80 should be correct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34AD1EE-82AB-4614-BDF9-3A3EE87DBD47}"/>
              </a:ext>
            </a:extLst>
          </p:cNvPr>
          <p:cNvSpPr>
            <a:spLocks noGrp="1"/>
          </p:cNvSpPr>
          <p:nvPr/>
        </p:nvSpPr>
        <p:spPr>
          <a:xfrm>
            <a:off x="514350" y="4019550"/>
            <a:ext cx="3448050" cy="1257300"/>
          </a:xfrm>
          <a:prstGeom prst="roundRect">
            <a:avLst>
              <a:gd name="adj" fmla="val 9091"/>
            </a:avLst>
          </a:prstGeom>
          <a:solidFill>
            <a:srgbClr val="101826"/>
          </a:solidFill>
          <a:ln w="9525">
            <a:solidFill>
              <a:srgbClr val="54D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399927-9BF0-4CB0-9DAD-E8DFE69077D6}"/>
              </a:ext>
            </a:extLst>
          </p:cNvPr>
          <p:cNvSpPr>
            <a:spLocks noGrp="1"/>
          </p:cNvSpPr>
          <p:nvPr/>
        </p:nvSpPr>
        <p:spPr>
          <a:xfrm>
            <a:off x="685800" y="4191000"/>
            <a:ext cx="3105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825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4D6FF"/>
                </a:solidFill>
                <a:latin typeface="Arial"/>
                <a:ea typeface="Arial"/>
                <a:cs typeface="Arial"/>
              </a:rPr>
              <a:t>RAW LM SOFTMAX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5EB7EF-3214-4944-986D-E57A1861F0D5}"/>
              </a:ext>
            </a:extLst>
          </p:cNvPr>
          <p:cNvSpPr>
            <a:spLocks noGrp="1"/>
          </p:cNvSpPr>
          <p:nvPr/>
        </p:nvSpPr>
        <p:spPr>
          <a:xfrm>
            <a:off x="685800" y="4552950"/>
            <a:ext cx="3105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38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6000"/>
              </a:lnSpc>
              <a:buNone/>
              <a:defRPr sz="938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Relative candidate scores. Useful for ranking, but correctness frequency is unconstrained.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F414B4A-44C3-4F2B-B8A6-BD61D2B4E330}"/>
              </a:ext>
            </a:extLst>
          </p:cNvPr>
          <p:cNvSpPr>
            <a:spLocks noGrp="1"/>
          </p:cNvSpPr>
          <p:nvPr/>
        </p:nvSpPr>
        <p:spPr>
          <a:xfrm>
            <a:off x="4267200" y="4019550"/>
            <a:ext cx="3448050" cy="1257300"/>
          </a:xfrm>
          <a:prstGeom prst="roundRect">
            <a:avLst>
              <a:gd name="adj" fmla="val 9091"/>
            </a:avLst>
          </a:prstGeom>
          <a:solidFill>
            <a:srgbClr val="101826"/>
          </a:solidFill>
          <a:ln w="9525">
            <a:solidFill>
              <a:srgbClr val="AA8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9EB48F-0900-4410-98AE-46C8C9AFD0FD}"/>
              </a:ext>
            </a:extLst>
          </p:cNvPr>
          <p:cNvSpPr>
            <a:spLocks noGrp="1"/>
          </p:cNvSpPr>
          <p:nvPr/>
        </p:nvSpPr>
        <p:spPr>
          <a:xfrm>
            <a:off x="4438650" y="4191000"/>
            <a:ext cx="3105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1" i="0">
                <a:solidFill>
                  <a:srgbClr val="AA8B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825" b="1" i="0">
                <a:solidFill>
                  <a:srgbClr val="AA8B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AA8BFF"/>
                </a:solidFill>
                <a:latin typeface="Arial"/>
                <a:ea typeface="Arial"/>
                <a:cs typeface="Arial"/>
              </a:rPr>
              <a:t>TEMPERATURE SCALING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4FCFBBC-526A-4F75-A9A6-0258C3E03D78}"/>
              </a:ext>
            </a:extLst>
          </p:cNvPr>
          <p:cNvSpPr>
            <a:spLocks noGrp="1"/>
          </p:cNvSpPr>
          <p:nvPr/>
        </p:nvSpPr>
        <p:spPr>
          <a:xfrm>
            <a:off x="4438650" y="4552950"/>
            <a:ext cx="3105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38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6000"/>
              </a:lnSpc>
              <a:buNone/>
              <a:defRPr sz="938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Fits sharpness on held-out data. It cannot repair wrong candidate ordering.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5E23D62-2145-47C9-8473-CD47C00415A1}"/>
              </a:ext>
            </a:extLst>
          </p:cNvPr>
          <p:cNvSpPr>
            <a:spLocks noGrp="1"/>
          </p:cNvSpPr>
          <p:nvPr/>
        </p:nvSpPr>
        <p:spPr>
          <a:xfrm>
            <a:off x="8020050" y="4019550"/>
            <a:ext cx="3448050" cy="1257300"/>
          </a:xfrm>
          <a:prstGeom prst="roundRect">
            <a:avLst>
              <a:gd name="adj" fmla="val 9091"/>
            </a:avLst>
          </a:prstGeom>
          <a:solidFill>
            <a:srgbClr val="101826"/>
          </a:solidFill>
          <a:ln w="9525">
            <a:solidFill>
              <a:srgbClr val="B9F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40D5EEF-3274-47AD-89F8-C9E54806B377}"/>
              </a:ext>
            </a:extLst>
          </p:cNvPr>
          <p:cNvSpPr>
            <a:spLocks noGrp="1"/>
          </p:cNvSpPr>
          <p:nvPr/>
        </p:nvSpPr>
        <p:spPr>
          <a:xfrm>
            <a:off x="8191500" y="4191000"/>
            <a:ext cx="3105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825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B9F45D"/>
                </a:solidFill>
                <a:latin typeface="Arial"/>
                <a:ea typeface="Arial"/>
                <a:cs typeface="Arial"/>
              </a:rPr>
              <a:t>JEV + RLCD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7114A8F-9D4C-4B50-B909-FB2854F7DDE2}"/>
              </a:ext>
            </a:extLst>
          </p:cNvPr>
          <p:cNvSpPr>
            <a:spLocks noGrp="1"/>
          </p:cNvSpPr>
          <p:nvPr/>
        </p:nvSpPr>
        <p:spPr>
          <a:xfrm>
            <a:off x="8191500" y="4552950"/>
            <a:ext cx="3105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38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6000"/>
              </a:lnSpc>
              <a:buNone/>
              <a:defRPr sz="938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TypeSafe trains with calibrated decisions as the objective, rather than adding probabilities only at inference.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6B5C63D-9880-4629-AF83-B0A9D0DC1BFD}"/>
              </a:ext>
            </a:extLst>
          </p:cNvPr>
          <p:cNvSpPr>
            <a:spLocks noGrp="1"/>
          </p:cNvSpPr>
          <p:nvPr/>
        </p:nvSpPr>
        <p:spPr>
          <a:xfrm>
            <a:off x="514350" y="5562600"/>
            <a:ext cx="10820400" cy="400050"/>
          </a:xfrm>
          <a:prstGeom prst="roundRect">
            <a:avLst>
              <a:gd name="adj" fmla="val 28571"/>
            </a:avLst>
          </a:prstGeom>
          <a:solidFill>
            <a:srgbClr val="3A1C20"/>
          </a:solidFill>
          <a:ln w="9525">
            <a:solidFill>
              <a:srgbClr val="FF7D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656FDE2-0747-4EDB-B07C-D1DE9183B04F}"/>
              </a:ext>
            </a:extLst>
          </p:cNvPr>
          <p:cNvSpPr>
            <a:spLocks noGrp="1"/>
          </p:cNvSpPr>
          <p:nvPr/>
        </p:nvSpPr>
        <p:spPr>
          <a:xfrm>
            <a:off x="704850" y="5667375"/>
            <a:ext cx="10439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938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938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938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Calibration is empirical and distribution-specific. Jev is designed for it, but every deployment still needs a reliability check. Confidence is not automatically p(correct).</a:t>
            </a:r>
          </a:p>
        </p:txBody>
      </p:sp>
    </p:spTree>
    <p:extLst>
      <p:ext uri="{BB962C8B-B14F-4D97-AF65-F5344CB8AC3E}">
        <p14:creationId xmlns:p14="http://schemas.microsoft.com/office/powerpoint/2010/main" val="12820423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D10463D3-76BA-4E71-B83F-1E0A4E6C8B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B9F4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05B6A0-DA0D-4B36-84BD-7561AFFD7BCB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7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B9F45D"/>
                </a:solidFill>
                <a:latin typeface="Arial"/>
                <a:ea typeface="Arial"/>
                <a:cs typeface="Arial"/>
              </a:rPr>
              <a:t>PROBABILITIES IN PRODUCTION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3C6AAC-CD8B-40C3-999A-3E68306F14C7}"/>
              </a:ext>
            </a:extLst>
          </p:cNvPr>
          <p:cNvSpPr>
            <a:spLocks noGrp="1"/>
          </p:cNvSpPr>
          <p:nvPr/>
        </p:nvSpPr>
        <p:spPr>
          <a:xfrm>
            <a:off x="514350" y="5905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32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32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Calibration turns scores into an operating policy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149B6A-FB41-4E32-A461-8F3AF5FF634F}"/>
              </a:ext>
            </a:extLst>
          </p:cNvPr>
          <p:cNvSpPr>
            <a:spLocks noGrp="1"/>
          </p:cNvSpPr>
          <p:nvPr/>
        </p:nvSpPr>
        <p:spPr>
          <a:xfrm>
            <a:off x="514350" y="1304925"/>
            <a:ext cx="11163300" cy="9525"/>
          </a:xfrm>
          <a:prstGeom prst="rect">
            <a:avLst/>
          </a:prstGeom>
          <a:solidFill>
            <a:srgbClr val="26344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298644-13A9-45AE-A5D6-7C1C96860EC3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675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675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pPr>
            <a:r>
              <a:rPr lang="en-US" sz="675" b="1" i="0" dirty="0">
                <a:solidFill>
                  <a:srgbClr val="7E8B9D"/>
                </a:solidFill>
                <a:latin typeface="Arial"/>
                <a:ea typeface="Arial"/>
                <a:cs typeface="Arial"/>
              </a:rPr>
              <a:t>17</a:t>
            </a:r>
            <a:endParaRPr sz="675" b="1" i="0" dirty="0">
              <a:solidFill>
                <a:srgbClr val="7E8B9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C09873-8680-4BD5-9731-43E1044DF296}"/>
              </a:ext>
            </a:extLst>
          </p:cNvPr>
          <p:cNvSpPr>
            <a:spLocks noGrp="1"/>
          </p:cNvSpPr>
          <p:nvPr/>
        </p:nvSpPr>
        <p:spPr>
          <a:xfrm>
            <a:off x="514350" y="20002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900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8DA4680-2A98-44A0-9380-03FE67F58DEC}"/>
              </a:ext>
            </a:extLst>
          </p:cNvPr>
          <p:cNvSpPr>
            <a:spLocks noGrp="1"/>
          </p:cNvSpPr>
          <p:nvPr/>
        </p:nvSpPr>
        <p:spPr>
          <a:xfrm>
            <a:off x="2381250" y="2028825"/>
            <a:ext cx="2286000" cy="114300"/>
          </a:xfrm>
          <a:prstGeom prst="roundRect">
            <a:avLst>
              <a:gd name="adj" fmla="val 50000"/>
            </a:avLst>
          </a:prstGeom>
          <a:solidFill>
            <a:srgbClr val="26344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9480AC5-D8C7-44BE-ACCF-037D5959357D}"/>
              </a:ext>
            </a:extLst>
          </p:cNvPr>
          <p:cNvSpPr>
            <a:spLocks noGrp="1"/>
          </p:cNvSpPr>
          <p:nvPr/>
        </p:nvSpPr>
        <p:spPr>
          <a:xfrm>
            <a:off x="2381250" y="2028825"/>
            <a:ext cx="1257300" cy="114300"/>
          </a:xfrm>
          <a:prstGeom prst="roundRect">
            <a:avLst>
              <a:gd name="adj" fmla="val 50000"/>
            </a:avLst>
          </a:prstGeom>
          <a:solidFill>
            <a:srgbClr val="54D6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AD997C-1B7B-4E0F-8122-4FE08B0325B8}"/>
              </a:ext>
            </a:extLst>
          </p:cNvPr>
          <p:cNvSpPr>
            <a:spLocks noGrp="1"/>
          </p:cNvSpPr>
          <p:nvPr/>
        </p:nvSpPr>
        <p:spPr>
          <a:xfrm>
            <a:off x="4724400" y="197167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00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900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55%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6342FA-1169-4050-96E3-D7474E4C118C}"/>
              </a:ext>
            </a:extLst>
          </p:cNvPr>
          <p:cNvSpPr>
            <a:spLocks noGrp="1"/>
          </p:cNvSpPr>
          <p:nvPr/>
        </p:nvSpPr>
        <p:spPr>
          <a:xfrm>
            <a:off x="514350" y="25527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900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45FABA3-6C19-4744-B882-22E429791ADA}"/>
              </a:ext>
            </a:extLst>
          </p:cNvPr>
          <p:cNvSpPr>
            <a:spLocks noGrp="1"/>
          </p:cNvSpPr>
          <p:nvPr/>
        </p:nvSpPr>
        <p:spPr>
          <a:xfrm>
            <a:off x="2381250" y="2581275"/>
            <a:ext cx="2286000" cy="114300"/>
          </a:xfrm>
          <a:prstGeom prst="roundRect">
            <a:avLst>
              <a:gd name="adj" fmla="val 50000"/>
            </a:avLst>
          </a:prstGeom>
          <a:solidFill>
            <a:srgbClr val="26344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12CEBDC-0472-4D91-8B81-5B056144B28B}"/>
              </a:ext>
            </a:extLst>
          </p:cNvPr>
          <p:cNvSpPr>
            <a:spLocks noGrp="1"/>
          </p:cNvSpPr>
          <p:nvPr/>
        </p:nvSpPr>
        <p:spPr>
          <a:xfrm>
            <a:off x="2381250" y="2581275"/>
            <a:ext cx="914400" cy="114300"/>
          </a:xfrm>
          <a:prstGeom prst="roundRect">
            <a:avLst>
              <a:gd name="adj" fmla="val 50000"/>
            </a:avLst>
          </a:prstGeom>
          <a:solidFill>
            <a:srgbClr val="B9F4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D16F2F-0725-4D80-86F3-5B37EF3C9D51}"/>
              </a:ext>
            </a:extLst>
          </p:cNvPr>
          <p:cNvSpPr>
            <a:spLocks noGrp="1"/>
          </p:cNvSpPr>
          <p:nvPr/>
        </p:nvSpPr>
        <p:spPr>
          <a:xfrm>
            <a:off x="4724400" y="25241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00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900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40%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15576B-0F56-40D6-9421-AA7599907B4D}"/>
              </a:ext>
            </a:extLst>
          </p:cNvPr>
          <p:cNvSpPr>
            <a:spLocks noGrp="1"/>
          </p:cNvSpPr>
          <p:nvPr/>
        </p:nvSpPr>
        <p:spPr>
          <a:xfrm>
            <a:off x="514350" y="31051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900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decline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647CAF3-43E5-4281-B74B-E29383B10BF1}"/>
              </a:ext>
            </a:extLst>
          </p:cNvPr>
          <p:cNvSpPr>
            <a:spLocks noGrp="1"/>
          </p:cNvSpPr>
          <p:nvPr/>
        </p:nvSpPr>
        <p:spPr>
          <a:xfrm>
            <a:off x="2381250" y="3133725"/>
            <a:ext cx="2286000" cy="114300"/>
          </a:xfrm>
          <a:prstGeom prst="roundRect">
            <a:avLst>
              <a:gd name="adj" fmla="val 50000"/>
            </a:avLst>
          </a:prstGeom>
          <a:solidFill>
            <a:srgbClr val="26344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64DD74E-9091-47BB-8E71-8E16F10B3164}"/>
              </a:ext>
            </a:extLst>
          </p:cNvPr>
          <p:cNvSpPr>
            <a:spLocks noGrp="1"/>
          </p:cNvSpPr>
          <p:nvPr/>
        </p:nvSpPr>
        <p:spPr>
          <a:xfrm>
            <a:off x="2381250" y="31337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7D7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804F972-CB44-4E69-AEFF-24D33996E7D9}"/>
              </a:ext>
            </a:extLst>
          </p:cNvPr>
          <p:cNvSpPr>
            <a:spLocks noGrp="1"/>
          </p:cNvSpPr>
          <p:nvPr/>
        </p:nvSpPr>
        <p:spPr>
          <a:xfrm>
            <a:off x="4724400" y="307657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900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900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5.0%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39B26B-805E-49BB-B751-86D0C72079A6}"/>
              </a:ext>
            </a:extLst>
          </p:cNvPr>
          <p:cNvSpPr>
            <a:spLocks noGrp="1"/>
          </p:cNvSpPr>
          <p:nvPr/>
        </p:nvSpPr>
        <p:spPr>
          <a:xfrm>
            <a:off x="514350" y="1676400"/>
            <a:ext cx="466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1" i="0">
                <a:solidFill>
                  <a:srgbClr val="7E8B9D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lnSpc>
                <a:spcPct val="105000"/>
              </a:lnSpc>
              <a:buNone/>
              <a:defRPr sz="900" b="1" i="0">
                <a:solidFill>
                  <a:srgbClr val="7E8B9D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7E8B9D"/>
                </a:solidFill>
                <a:latin typeface="Courier New"/>
                <a:ea typeface="Courier New"/>
                <a:cs typeface="Courier New"/>
              </a:rPr>
              <a:t>raw model scores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75B2898-8B90-47D4-951D-EB8546025ADE}"/>
              </a:ext>
            </a:extLst>
          </p:cNvPr>
          <p:cNvSpPr>
            <a:spLocks noGrp="1"/>
          </p:cNvSpPr>
          <p:nvPr/>
        </p:nvSpPr>
        <p:spPr>
          <a:xfrm>
            <a:off x="5886450" y="2190750"/>
            <a:ext cx="2381250" cy="1066800"/>
          </a:xfrm>
          <a:prstGeom prst="roundRect">
            <a:avLst>
              <a:gd name="adj" fmla="val 10714"/>
            </a:avLst>
          </a:prstGeom>
          <a:solidFill>
            <a:srgbClr val="382B14"/>
          </a:solidFill>
          <a:ln w="11430">
            <a:solidFill>
              <a:srgbClr val="F8C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299A46-D5BC-4660-A8CD-013556F1F75A}"/>
              </a:ext>
            </a:extLst>
          </p:cNvPr>
          <p:cNvSpPr>
            <a:spLocks noGrp="1"/>
          </p:cNvSpPr>
          <p:nvPr/>
        </p:nvSpPr>
        <p:spPr>
          <a:xfrm>
            <a:off x="6019800" y="2305050"/>
            <a:ext cx="2114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 i="0">
                <a:solidFill>
                  <a:srgbClr val="F8C15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125" b="1" i="0">
                <a:solidFill>
                  <a:srgbClr val="F8C15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8C15C"/>
                </a:solidFill>
                <a:latin typeface="Arial"/>
                <a:ea typeface="Arial"/>
                <a:cs typeface="Arial"/>
              </a:rPr>
              <a:t>TEMPERATURE FIT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D7C8112-3D14-4FFD-93FD-CB1D7816AD03}"/>
              </a:ext>
            </a:extLst>
          </p:cNvPr>
          <p:cNvSpPr>
            <a:spLocks noGrp="1"/>
          </p:cNvSpPr>
          <p:nvPr/>
        </p:nvSpPr>
        <p:spPr>
          <a:xfrm>
            <a:off x="6019800" y="2571750"/>
            <a:ext cx="2114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82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adjust confidence on held-out data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D18762D-C71D-41BC-A196-AE11D32A6566}"/>
              </a:ext>
            </a:extLst>
          </p:cNvPr>
          <p:cNvSpPr>
            <a:spLocks noGrp="1"/>
          </p:cNvSpPr>
          <p:nvPr/>
        </p:nvSpPr>
        <p:spPr>
          <a:xfrm>
            <a:off x="8953500" y="2190750"/>
            <a:ext cx="2381250" cy="1066800"/>
          </a:xfrm>
          <a:prstGeom prst="roundRect">
            <a:avLst>
              <a:gd name="adj" fmla="val 10714"/>
            </a:avLst>
          </a:prstGeom>
          <a:solidFill>
            <a:srgbClr val="1D351B"/>
          </a:solidFill>
          <a:ln w="11430">
            <a:solidFill>
              <a:srgbClr val="B9F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997FD43-1C38-4C61-9361-1BB8DF49507B}"/>
              </a:ext>
            </a:extLst>
          </p:cNvPr>
          <p:cNvSpPr>
            <a:spLocks noGrp="1"/>
          </p:cNvSpPr>
          <p:nvPr/>
        </p:nvSpPr>
        <p:spPr>
          <a:xfrm>
            <a:off x="9086850" y="2305050"/>
            <a:ext cx="2114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125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9F45D"/>
                </a:solidFill>
                <a:latin typeface="Arial"/>
                <a:ea typeface="Arial"/>
                <a:cs typeface="Arial"/>
              </a:rPr>
              <a:t>DECISION POLICY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8DA527-9445-4AE8-B224-D1DFFDF0064E}"/>
              </a:ext>
            </a:extLst>
          </p:cNvPr>
          <p:cNvSpPr>
            <a:spLocks noGrp="1"/>
          </p:cNvSpPr>
          <p:nvPr/>
        </p:nvSpPr>
        <p:spPr>
          <a:xfrm>
            <a:off x="9086850" y="2571750"/>
            <a:ext cx="2114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2000"/>
              </a:lnSpc>
              <a:buNone/>
              <a:defRPr sz="82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act, escalate, or abstain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FF61EFC-9911-4FAF-9810-30634B2AD06D}"/>
              </a:ext>
            </a:extLst>
          </p:cNvPr>
          <p:cNvSpPr>
            <a:spLocks noGrp="1"/>
          </p:cNvSpPr>
          <p:nvPr/>
        </p:nvSpPr>
        <p:spPr>
          <a:xfrm>
            <a:off x="5181600" y="2724150"/>
            <a:ext cx="704850" cy="28575"/>
          </a:xfrm>
          <a:prstGeom prst="rect">
            <a:avLst/>
          </a:prstGeom>
          <a:solidFill>
            <a:srgbClr val="3444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AD13F2F-DAB7-44C4-9408-384B92594076}"/>
              </a:ext>
            </a:extLst>
          </p:cNvPr>
          <p:cNvSpPr>
            <a:spLocks noGrp="1"/>
          </p:cNvSpPr>
          <p:nvPr/>
        </p:nvSpPr>
        <p:spPr>
          <a:xfrm>
            <a:off x="8267700" y="2724150"/>
            <a:ext cx="685800" cy="28575"/>
          </a:xfrm>
          <a:prstGeom prst="rect">
            <a:avLst/>
          </a:prstGeom>
          <a:solidFill>
            <a:srgbClr val="3444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3B845AB7-49DA-4E17-B0AF-4A394988484A}"/>
              </a:ext>
            </a:extLst>
          </p:cNvPr>
          <p:cNvSpPr>
            <a:spLocks noGrp="1"/>
          </p:cNvSpPr>
          <p:nvPr/>
        </p:nvSpPr>
        <p:spPr>
          <a:xfrm>
            <a:off x="514350" y="4095750"/>
            <a:ext cx="2457450" cy="1123950"/>
          </a:xfrm>
          <a:prstGeom prst="roundRect">
            <a:avLst>
              <a:gd name="adj" fmla="val 10169"/>
            </a:avLst>
          </a:prstGeom>
          <a:solidFill>
            <a:srgbClr val="101826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2EB6627-E6F7-4A0C-9F74-3FA5B9ECAF48}"/>
              </a:ext>
            </a:extLst>
          </p:cNvPr>
          <p:cNvSpPr>
            <a:spLocks noGrp="1"/>
          </p:cNvSpPr>
          <p:nvPr/>
        </p:nvSpPr>
        <p:spPr>
          <a:xfrm>
            <a:off x="666750" y="4257675"/>
            <a:ext cx="2152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975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4D6FF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36F9CAA-F5CF-4E67-88C3-DD62DB354B9F}"/>
              </a:ext>
            </a:extLst>
          </p:cNvPr>
          <p:cNvSpPr>
            <a:spLocks noGrp="1"/>
          </p:cNvSpPr>
          <p:nvPr/>
        </p:nvSpPr>
        <p:spPr>
          <a:xfrm>
            <a:off x="666750" y="4610100"/>
            <a:ext cx="2152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4000"/>
              </a:lnSpc>
              <a:buNone/>
              <a:defRPr sz="900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Was the selected answer correct?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83D36790-8FB4-4680-BB08-E5776F79AEF2}"/>
              </a:ext>
            </a:extLst>
          </p:cNvPr>
          <p:cNvSpPr>
            <a:spLocks noGrp="1"/>
          </p:cNvSpPr>
          <p:nvPr/>
        </p:nvSpPr>
        <p:spPr>
          <a:xfrm>
            <a:off x="3238500" y="4095750"/>
            <a:ext cx="2457450" cy="1123950"/>
          </a:xfrm>
          <a:prstGeom prst="roundRect">
            <a:avLst>
              <a:gd name="adj" fmla="val 10169"/>
            </a:avLst>
          </a:prstGeom>
          <a:solidFill>
            <a:srgbClr val="101826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54F71EF-5298-4ED6-8407-1DB46EA5D65A}"/>
              </a:ext>
            </a:extLst>
          </p:cNvPr>
          <p:cNvSpPr>
            <a:spLocks noGrp="1"/>
          </p:cNvSpPr>
          <p:nvPr/>
        </p:nvSpPr>
        <p:spPr>
          <a:xfrm>
            <a:off x="3390900" y="4257675"/>
            <a:ext cx="2152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4BE0B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975" b="1" i="0">
                <a:solidFill>
                  <a:srgbClr val="4BE0B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BE0B5"/>
                </a:solidFill>
                <a:latin typeface="Arial"/>
                <a:ea typeface="Arial"/>
                <a:cs typeface="Arial"/>
              </a:rPr>
              <a:t>NLL / Brier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27144F7-9055-483A-9C33-0362DB15A435}"/>
              </a:ext>
            </a:extLst>
          </p:cNvPr>
          <p:cNvSpPr>
            <a:spLocks noGrp="1"/>
          </p:cNvSpPr>
          <p:nvPr/>
        </p:nvSpPr>
        <p:spPr>
          <a:xfrm>
            <a:off x="3390900" y="4610100"/>
            <a:ext cx="2152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4000"/>
              </a:lnSpc>
              <a:buNone/>
              <a:defRPr sz="900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Were the probabilities honest?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26C4F131-DE4F-45F3-95DF-1EBC74B5F384}"/>
              </a:ext>
            </a:extLst>
          </p:cNvPr>
          <p:cNvSpPr>
            <a:spLocks noGrp="1"/>
          </p:cNvSpPr>
          <p:nvPr/>
        </p:nvSpPr>
        <p:spPr>
          <a:xfrm>
            <a:off x="5962650" y="4095750"/>
            <a:ext cx="2457450" cy="1123950"/>
          </a:xfrm>
          <a:prstGeom prst="roundRect">
            <a:avLst>
              <a:gd name="adj" fmla="val 10169"/>
            </a:avLst>
          </a:prstGeom>
          <a:solidFill>
            <a:srgbClr val="101826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6A1921D-B21F-4504-858B-CF8A92139BD4}"/>
              </a:ext>
            </a:extLst>
          </p:cNvPr>
          <p:cNvSpPr>
            <a:spLocks noGrp="1"/>
          </p:cNvSpPr>
          <p:nvPr/>
        </p:nvSpPr>
        <p:spPr>
          <a:xfrm>
            <a:off x="6115050" y="4257675"/>
            <a:ext cx="2152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AA8B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975" b="1" i="0">
                <a:solidFill>
                  <a:srgbClr val="AA8B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AA8BFF"/>
                </a:solidFill>
                <a:latin typeface="Arial"/>
                <a:ea typeface="Arial"/>
                <a:cs typeface="Arial"/>
              </a:rPr>
              <a:t>Coverage curve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8B9B58A-32AB-41FB-9DD0-597A48CCCE4F}"/>
              </a:ext>
            </a:extLst>
          </p:cNvPr>
          <p:cNvSpPr>
            <a:spLocks noGrp="1"/>
          </p:cNvSpPr>
          <p:nvPr/>
        </p:nvSpPr>
        <p:spPr>
          <a:xfrm>
            <a:off x="6115050" y="4610100"/>
            <a:ext cx="2152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4000"/>
              </a:lnSpc>
              <a:buNone/>
              <a:defRPr sz="900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How often can the system act safely?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4DB064A-EED7-4F8D-AB1D-1AE76198C45E}"/>
              </a:ext>
            </a:extLst>
          </p:cNvPr>
          <p:cNvSpPr>
            <a:spLocks noGrp="1"/>
          </p:cNvSpPr>
          <p:nvPr/>
        </p:nvSpPr>
        <p:spPr>
          <a:xfrm>
            <a:off x="8686800" y="4095750"/>
            <a:ext cx="2457450" cy="1123950"/>
          </a:xfrm>
          <a:prstGeom prst="roundRect">
            <a:avLst>
              <a:gd name="adj" fmla="val 10169"/>
            </a:avLst>
          </a:prstGeom>
          <a:solidFill>
            <a:srgbClr val="101826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99F190A-CF0D-436F-8CA6-BADF3EECD460}"/>
              </a:ext>
            </a:extLst>
          </p:cNvPr>
          <p:cNvSpPr>
            <a:spLocks noGrp="1"/>
          </p:cNvSpPr>
          <p:nvPr/>
        </p:nvSpPr>
        <p:spPr>
          <a:xfrm>
            <a:off x="8839200" y="4257675"/>
            <a:ext cx="2152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F8C15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975" b="1" i="0">
                <a:solidFill>
                  <a:srgbClr val="F8C15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8C15C"/>
                </a:solidFill>
                <a:latin typeface="Arial"/>
                <a:ea typeface="Arial"/>
                <a:cs typeface="Arial"/>
              </a:rPr>
              <a:t>Latency / cost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A399AD7-06E2-4C42-8B09-F38AEFF377A0}"/>
              </a:ext>
            </a:extLst>
          </p:cNvPr>
          <p:cNvSpPr>
            <a:spLocks noGrp="1"/>
          </p:cNvSpPr>
          <p:nvPr/>
        </p:nvSpPr>
        <p:spPr>
          <a:xfrm>
            <a:off x="8839200" y="4610100"/>
            <a:ext cx="2152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4000"/>
              </a:lnSpc>
              <a:buNone/>
              <a:defRPr sz="900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Can it meet the product budget?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6E387F7-A43C-4B39-8E82-5F929F22CE8E}"/>
              </a:ext>
            </a:extLst>
          </p:cNvPr>
          <p:cNvSpPr>
            <a:spLocks noGrp="1"/>
          </p:cNvSpPr>
          <p:nvPr/>
        </p:nvSpPr>
        <p:spPr>
          <a:xfrm>
            <a:off x="514350" y="5676900"/>
            <a:ext cx="1082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050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1050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A low ECE can still describe an inaccurate model. Read calibration beside discrimination and coverage.</a:t>
            </a:r>
          </a:p>
        </p:txBody>
      </p:sp>
    </p:spTree>
    <p:extLst>
      <p:ext uri="{BB962C8B-B14F-4D97-AF65-F5344CB8AC3E}">
        <p14:creationId xmlns:p14="http://schemas.microsoft.com/office/powerpoint/2010/main" val="19732224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A0DD8190-56F3-4DB5-B8D5-E3646343BF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B9F4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89920B-A5DA-4EFF-A18A-0396734C3950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7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B9F45D"/>
                </a:solidFill>
                <a:latin typeface="Arial"/>
                <a:ea typeface="Arial"/>
                <a:cs typeface="Arial"/>
              </a:rPr>
              <a:t>BENCHMARK DISCIPLINE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F9EDAF-1BB0-4D00-A62E-F3AE765111B7}"/>
              </a:ext>
            </a:extLst>
          </p:cNvPr>
          <p:cNvSpPr>
            <a:spLocks noGrp="1"/>
          </p:cNvSpPr>
          <p:nvPr/>
        </p:nvSpPr>
        <p:spPr>
          <a:xfrm>
            <a:off x="514350" y="5905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550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A credible evaluation needs four separate splits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055B27-3CE1-49BC-8361-5F09B4C1717B}"/>
              </a:ext>
            </a:extLst>
          </p:cNvPr>
          <p:cNvSpPr>
            <a:spLocks noGrp="1"/>
          </p:cNvSpPr>
          <p:nvPr/>
        </p:nvSpPr>
        <p:spPr>
          <a:xfrm>
            <a:off x="514350" y="1304925"/>
            <a:ext cx="11163300" cy="9525"/>
          </a:xfrm>
          <a:prstGeom prst="rect">
            <a:avLst/>
          </a:prstGeom>
          <a:solidFill>
            <a:srgbClr val="26344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FFD5BF-D176-4745-9DF9-708139ED8382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675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675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pPr>
            <a:r>
              <a:rPr lang="en-US" sz="675" b="1" i="0" dirty="0">
                <a:solidFill>
                  <a:srgbClr val="7E8B9D"/>
                </a:solidFill>
                <a:latin typeface="Arial"/>
                <a:ea typeface="Arial"/>
                <a:cs typeface="Arial"/>
              </a:rPr>
              <a:t>18</a:t>
            </a:r>
            <a:endParaRPr sz="675" b="1" i="0" dirty="0">
              <a:solidFill>
                <a:srgbClr val="7E8B9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D407E10-1ED5-45D6-A61F-93B8B2AF8427}"/>
              </a:ext>
            </a:extLst>
          </p:cNvPr>
          <p:cNvSpPr>
            <a:spLocks noGrp="1"/>
          </p:cNvSpPr>
          <p:nvPr/>
        </p:nvSpPr>
        <p:spPr>
          <a:xfrm>
            <a:off x="514350" y="1866900"/>
            <a:ext cx="2457450" cy="1162050"/>
          </a:xfrm>
          <a:prstGeom prst="roundRect">
            <a:avLst>
              <a:gd name="adj" fmla="val 9836"/>
            </a:avLst>
          </a:prstGeom>
          <a:solidFill>
            <a:srgbClr val="101826"/>
          </a:solidFill>
          <a:ln w="9525">
            <a:solidFill>
              <a:srgbClr val="54D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CC719A-B2A5-426D-993B-A3B27F17555D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2114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050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1050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4D6FF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4BE6BC-2234-403E-8C57-8740AFA04E32}"/>
              </a:ext>
            </a:extLst>
          </p:cNvPr>
          <p:cNvSpPr>
            <a:spLocks noGrp="1"/>
          </p:cNvSpPr>
          <p:nvPr/>
        </p:nvSpPr>
        <p:spPr>
          <a:xfrm>
            <a:off x="685800" y="2533650"/>
            <a:ext cx="2114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90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ctr">
              <a:lnSpc>
                <a:spcPct val="105000"/>
              </a:lnSpc>
              <a:buNone/>
              <a:defRPr sz="90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rPr>
              <a:t>learn weights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114B58-168A-48F7-BF84-1109E790BC2F}"/>
              </a:ext>
            </a:extLst>
          </p:cNvPr>
          <p:cNvSpPr>
            <a:spLocks noGrp="1"/>
          </p:cNvSpPr>
          <p:nvPr/>
        </p:nvSpPr>
        <p:spPr>
          <a:xfrm>
            <a:off x="2971800" y="2438400"/>
            <a:ext cx="266700" cy="28575"/>
          </a:xfrm>
          <a:prstGeom prst="rect">
            <a:avLst/>
          </a:prstGeom>
          <a:solidFill>
            <a:srgbClr val="3444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FCA0B68-3A63-45B7-982E-1EA3EFFAC883}"/>
              </a:ext>
            </a:extLst>
          </p:cNvPr>
          <p:cNvSpPr>
            <a:spLocks noGrp="1"/>
          </p:cNvSpPr>
          <p:nvPr/>
        </p:nvSpPr>
        <p:spPr>
          <a:xfrm>
            <a:off x="3238500" y="1866900"/>
            <a:ext cx="2457450" cy="1162050"/>
          </a:xfrm>
          <a:prstGeom prst="roundRect">
            <a:avLst>
              <a:gd name="adj" fmla="val 9836"/>
            </a:avLst>
          </a:prstGeom>
          <a:solidFill>
            <a:srgbClr val="101826"/>
          </a:solidFill>
          <a:ln w="9525">
            <a:solidFill>
              <a:srgbClr val="AA8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F2E859-979E-4D56-A81A-9C56DB12C0C8}"/>
              </a:ext>
            </a:extLst>
          </p:cNvPr>
          <p:cNvSpPr>
            <a:spLocks noGrp="1"/>
          </p:cNvSpPr>
          <p:nvPr/>
        </p:nvSpPr>
        <p:spPr>
          <a:xfrm>
            <a:off x="3409950" y="2076450"/>
            <a:ext cx="2114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050" b="1" i="0">
                <a:solidFill>
                  <a:srgbClr val="AA8B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1050" b="1" i="0">
                <a:solidFill>
                  <a:srgbClr val="AA8B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8BFF"/>
                </a:solidFill>
                <a:latin typeface="Arial"/>
                <a:ea typeface="Arial"/>
                <a:cs typeface="Arial"/>
              </a:rPr>
              <a:t>DEV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29E7D7-5A50-4006-A9DB-A91C1082F2AC}"/>
              </a:ext>
            </a:extLst>
          </p:cNvPr>
          <p:cNvSpPr>
            <a:spLocks noGrp="1"/>
          </p:cNvSpPr>
          <p:nvPr/>
        </p:nvSpPr>
        <p:spPr>
          <a:xfrm>
            <a:off x="3409950" y="2533650"/>
            <a:ext cx="2114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90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ctr">
              <a:lnSpc>
                <a:spcPct val="105000"/>
              </a:lnSpc>
              <a:buNone/>
              <a:defRPr sz="90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rPr>
              <a:t>select checkpoint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8D9CE8-2C38-4992-8AE5-59C995083B2E}"/>
              </a:ext>
            </a:extLst>
          </p:cNvPr>
          <p:cNvSpPr>
            <a:spLocks noGrp="1"/>
          </p:cNvSpPr>
          <p:nvPr/>
        </p:nvSpPr>
        <p:spPr>
          <a:xfrm>
            <a:off x="5695950" y="2438400"/>
            <a:ext cx="266700" cy="28575"/>
          </a:xfrm>
          <a:prstGeom prst="rect">
            <a:avLst/>
          </a:prstGeom>
          <a:solidFill>
            <a:srgbClr val="3444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76F0C71-0BF0-4901-81F3-011F0D42A6B2}"/>
              </a:ext>
            </a:extLst>
          </p:cNvPr>
          <p:cNvSpPr>
            <a:spLocks noGrp="1"/>
          </p:cNvSpPr>
          <p:nvPr/>
        </p:nvSpPr>
        <p:spPr>
          <a:xfrm>
            <a:off x="5962650" y="1866900"/>
            <a:ext cx="2457450" cy="1162050"/>
          </a:xfrm>
          <a:prstGeom prst="roundRect">
            <a:avLst>
              <a:gd name="adj" fmla="val 9836"/>
            </a:avLst>
          </a:prstGeom>
          <a:solidFill>
            <a:srgbClr val="101826"/>
          </a:solidFill>
          <a:ln w="9525">
            <a:solidFill>
              <a:srgbClr val="F8C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15E77C-D9D4-49AB-A8C4-1CA3F834964B}"/>
              </a:ext>
            </a:extLst>
          </p:cNvPr>
          <p:cNvSpPr>
            <a:spLocks noGrp="1"/>
          </p:cNvSpPr>
          <p:nvPr/>
        </p:nvSpPr>
        <p:spPr>
          <a:xfrm>
            <a:off x="6134100" y="2076450"/>
            <a:ext cx="2114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050" b="1" i="0">
                <a:solidFill>
                  <a:srgbClr val="F8C1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1050" b="1" i="0">
                <a:solidFill>
                  <a:srgbClr val="F8C15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8C15C"/>
                </a:solidFill>
                <a:latin typeface="Arial"/>
                <a:ea typeface="Arial"/>
                <a:cs typeface="Arial"/>
              </a:rPr>
              <a:t>CALIBRATION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9CC4B01-3D8F-476E-97AF-397FD46E9156}"/>
              </a:ext>
            </a:extLst>
          </p:cNvPr>
          <p:cNvSpPr>
            <a:spLocks noGrp="1"/>
          </p:cNvSpPr>
          <p:nvPr/>
        </p:nvSpPr>
        <p:spPr>
          <a:xfrm>
            <a:off x="6134100" y="2533650"/>
            <a:ext cx="2114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90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ctr">
              <a:lnSpc>
                <a:spcPct val="105000"/>
              </a:lnSpc>
              <a:buNone/>
              <a:defRPr sz="90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rPr>
              <a:t>fit temperature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3CC4C2-159F-423E-AAD5-D5A499695EAA}"/>
              </a:ext>
            </a:extLst>
          </p:cNvPr>
          <p:cNvSpPr>
            <a:spLocks noGrp="1"/>
          </p:cNvSpPr>
          <p:nvPr/>
        </p:nvSpPr>
        <p:spPr>
          <a:xfrm>
            <a:off x="8420100" y="2438400"/>
            <a:ext cx="266700" cy="28575"/>
          </a:xfrm>
          <a:prstGeom prst="rect">
            <a:avLst/>
          </a:prstGeom>
          <a:solidFill>
            <a:srgbClr val="3444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256C3FE-9417-42C4-B439-017AEF33D4A6}"/>
              </a:ext>
            </a:extLst>
          </p:cNvPr>
          <p:cNvSpPr>
            <a:spLocks noGrp="1"/>
          </p:cNvSpPr>
          <p:nvPr/>
        </p:nvSpPr>
        <p:spPr>
          <a:xfrm>
            <a:off x="8686800" y="1866900"/>
            <a:ext cx="2457450" cy="1162050"/>
          </a:xfrm>
          <a:prstGeom prst="roundRect">
            <a:avLst>
              <a:gd name="adj" fmla="val 9836"/>
            </a:avLst>
          </a:prstGeom>
          <a:solidFill>
            <a:srgbClr val="101826"/>
          </a:solidFill>
          <a:ln w="9525">
            <a:solidFill>
              <a:srgbClr val="B9F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B7EB182-A446-4B7A-9EE2-F84184A5EBBC}"/>
              </a:ext>
            </a:extLst>
          </p:cNvPr>
          <p:cNvSpPr>
            <a:spLocks noGrp="1"/>
          </p:cNvSpPr>
          <p:nvPr/>
        </p:nvSpPr>
        <p:spPr>
          <a:xfrm>
            <a:off x="8858250" y="2076450"/>
            <a:ext cx="2114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0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10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9F45D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1C43B0-7561-4CE7-A821-668F3EEB1A6B}"/>
              </a:ext>
            </a:extLst>
          </p:cNvPr>
          <p:cNvSpPr>
            <a:spLocks noGrp="1"/>
          </p:cNvSpPr>
          <p:nvPr/>
        </p:nvSpPr>
        <p:spPr>
          <a:xfrm>
            <a:off x="8858250" y="2533650"/>
            <a:ext cx="2114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90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ctr">
              <a:lnSpc>
                <a:spcPct val="105000"/>
              </a:lnSpc>
              <a:buNone/>
              <a:defRPr sz="90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C7D1DF"/>
                </a:solidFill>
                <a:latin typeface="Courier New"/>
                <a:ea typeface="Courier New"/>
                <a:cs typeface="Courier New"/>
              </a:rPr>
              <a:t>report once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24F25E3-C75F-4E59-B2FF-F3421286A04A}"/>
              </a:ext>
            </a:extLst>
          </p:cNvPr>
          <p:cNvSpPr>
            <a:spLocks noGrp="1"/>
          </p:cNvSpPr>
          <p:nvPr/>
        </p:nvSpPr>
        <p:spPr>
          <a:xfrm>
            <a:off x="514350" y="3562350"/>
            <a:ext cx="3371850" cy="1371600"/>
          </a:xfrm>
          <a:prstGeom prst="roundRect">
            <a:avLst>
              <a:gd name="adj" fmla="val 8333"/>
            </a:avLst>
          </a:prstGeom>
          <a:solidFill>
            <a:srgbClr val="0D2D3A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33D228-AADA-43F4-9F84-89DCDA405D0E}"/>
              </a:ext>
            </a:extLst>
          </p:cNvPr>
          <p:cNvSpPr>
            <a:spLocks noGrp="1"/>
          </p:cNvSpPr>
          <p:nvPr/>
        </p:nvSpPr>
        <p:spPr>
          <a:xfrm>
            <a:off x="514350" y="3562350"/>
            <a:ext cx="47625" cy="1371600"/>
          </a:xfrm>
          <a:prstGeom prst="rect">
            <a:avLst/>
          </a:prstGeom>
          <a:solidFill>
            <a:srgbClr val="54D6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00A43CE-5EF0-47B0-B5FB-F2719D795759}"/>
              </a:ext>
            </a:extLst>
          </p:cNvPr>
          <p:cNvSpPr>
            <a:spLocks noGrp="1"/>
          </p:cNvSpPr>
          <p:nvPr/>
        </p:nvSpPr>
        <p:spPr>
          <a:xfrm>
            <a:off x="704850" y="3714750"/>
            <a:ext cx="3028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00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4D6FF"/>
                </a:solidFill>
                <a:latin typeface="Arial"/>
                <a:ea typeface="Arial"/>
                <a:cs typeface="Arial"/>
              </a:rPr>
              <a:t>Group the data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D183F28-0F94-4627-8798-1A1BB4E1BAE7}"/>
              </a:ext>
            </a:extLst>
          </p:cNvPr>
          <p:cNvSpPr>
            <a:spLocks noGrp="1"/>
          </p:cNvSpPr>
          <p:nvPr/>
        </p:nvSpPr>
        <p:spPr>
          <a:xfrm>
            <a:off x="704850" y="4038600"/>
            <a:ext cx="30289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6000"/>
              </a:lnSpc>
              <a:buNone/>
              <a:defRPr sz="97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Templates, paraphrases, generated siblings, and minimal pairs must stay in one split.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DCF1C14-DBD0-459B-83C3-0D99967BB9D1}"/>
              </a:ext>
            </a:extLst>
          </p:cNvPr>
          <p:cNvSpPr>
            <a:spLocks noGrp="1"/>
          </p:cNvSpPr>
          <p:nvPr/>
        </p:nvSpPr>
        <p:spPr>
          <a:xfrm>
            <a:off x="4400550" y="3562350"/>
            <a:ext cx="3371850" cy="1371600"/>
          </a:xfrm>
          <a:prstGeom prst="roundRect">
            <a:avLst>
              <a:gd name="adj" fmla="val 8333"/>
            </a:avLst>
          </a:prstGeom>
          <a:solidFill>
            <a:srgbClr val="251F40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F98222F-A86D-4ED6-8DE2-A91805F9554A}"/>
              </a:ext>
            </a:extLst>
          </p:cNvPr>
          <p:cNvSpPr>
            <a:spLocks noGrp="1"/>
          </p:cNvSpPr>
          <p:nvPr/>
        </p:nvSpPr>
        <p:spPr>
          <a:xfrm>
            <a:off x="4400550" y="3562350"/>
            <a:ext cx="47625" cy="1371600"/>
          </a:xfrm>
          <a:prstGeom prst="rect">
            <a:avLst/>
          </a:prstGeom>
          <a:solidFill>
            <a:srgbClr val="AA8B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AD631C3-EC66-432B-B226-029612620581}"/>
              </a:ext>
            </a:extLst>
          </p:cNvPr>
          <p:cNvSpPr>
            <a:spLocks noGrp="1"/>
          </p:cNvSpPr>
          <p:nvPr/>
        </p:nvSpPr>
        <p:spPr>
          <a:xfrm>
            <a:off x="4591050" y="3714750"/>
            <a:ext cx="3028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 i="0">
                <a:solidFill>
                  <a:srgbClr val="AA8B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00" b="1" i="0">
                <a:solidFill>
                  <a:srgbClr val="AA8B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AA8BFF"/>
                </a:solidFill>
                <a:latin typeface="Arial"/>
                <a:ea typeface="Arial"/>
                <a:cs typeface="Arial"/>
              </a:rPr>
              <a:t>Hold out time and domain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43040C-8615-415D-8CDF-E57D362D8745}"/>
              </a:ext>
            </a:extLst>
          </p:cNvPr>
          <p:cNvSpPr>
            <a:spLocks noGrp="1"/>
          </p:cNvSpPr>
          <p:nvPr/>
        </p:nvSpPr>
        <p:spPr>
          <a:xfrm>
            <a:off x="4591050" y="4038600"/>
            <a:ext cx="30289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6000"/>
              </a:lnSpc>
              <a:buNone/>
              <a:defRPr sz="97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New policy versions and unseen intents expose memorization and distribution shift.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ECACBF10-0E71-48FB-BBE8-7D24C8AD9456}"/>
              </a:ext>
            </a:extLst>
          </p:cNvPr>
          <p:cNvSpPr>
            <a:spLocks noGrp="1"/>
          </p:cNvSpPr>
          <p:nvPr/>
        </p:nvSpPr>
        <p:spPr>
          <a:xfrm>
            <a:off x="8286750" y="3562350"/>
            <a:ext cx="3371850" cy="1371600"/>
          </a:xfrm>
          <a:prstGeom prst="roundRect">
            <a:avLst>
              <a:gd name="adj" fmla="val 8333"/>
            </a:avLst>
          </a:prstGeom>
          <a:solidFill>
            <a:srgbClr val="1D351B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12A8F7A-AC43-4DDB-ABF1-EAF09E6ED15C}"/>
              </a:ext>
            </a:extLst>
          </p:cNvPr>
          <p:cNvSpPr>
            <a:spLocks noGrp="1"/>
          </p:cNvSpPr>
          <p:nvPr/>
        </p:nvSpPr>
        <p:spPr>
          <a:xfrm>
            <a:off x="8286750" y="3562350"/>
            <a:ext cx="47625" cy="1371600"/>
          </a:xfrm>
          <a:prstGeom prst="rect">
            <a:avLst/>
          </a:prstGeom>
          <a:solidFill>
            <a:srgbClr val="B9F4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3F9B8B6-6D67-4591-B3C7-65D95658FAD4}"/>
              </a:ext>
            </a:extLst>
          </p:cNvPr>
          <p:cNvSpPr>
            <a:spLocks noGrp="1"/>
          </p:cNvSpPr>
          <p:nvPr/>
        </p:nvSpPr>
        <p:spPr>
          <a:xfrm>
            <a:off x="8477250" y="3714750"/>
            <a:ext cx="3028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0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9F45D"/>
                </a:solidFill>
                <a:latin typeface="Arial"/>
                <a:ea typeface="Arial"/>
                <a:cs typeface="Arial"/>
              </a:rPr>
              <a:t>Publish breakdowns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35CB954-5B99-4C10-8BEC-83BC6C53241B}"/>
              </a:ext>
            </a:extLst>
          </p:cNvPr>
          <p:cNvSpPr>
            <a:spLocks noGrp="1"/>
          </p:cNvSpPr>
          <p:nvPr/>
        </p:nvSpPr>
        <p:spPr>
          <a:xfrm>
            <a:off x="8477250" y="4038600"/>
            <a:ext cx="30289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6000"/>
              </a:lnSpc>
              <a:buNone/>
              <a:defRPr sz="97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Show performance by option count, context length, source, and question type.</a:t>
            </a:r>
          </a:p>
        </p:txBody>
      </p:sp>
    </p:spTree>
    <p:extLst>
      <p:ext uri="{BB962C8B-B14F-4D97-AF65-F5344CB8AC3E}">
        <p14:creationId xmlns:p14="http://schemas.microsoft.com/office/powerpoint/2010/main" val="18259689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A55DBCD-69A4-497C-A4E0-4F2882273B3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B9F4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77D24C-671D-48C1-BEA8-CCEA7CF0A12F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7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B9F45D"/>
                </a:solidFill>
                <a:latin typeface="Arial"/>
                <a:ea typeface="Arial"/>
                <a:cs typeface="Arial"/>
              </a:rPr>
              <a:t>JEVBENCH · V1.6.1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4E38DE-4619-4B70-A9F3-D84261C4E79A}"/>
              </a:ext>
            </a:extLst>
          </p:cNvPr>
          <p:cNvSpPr>
            <a:spLocks noGrp="1"/>
          </p:cNvSpPr>
          <p:nvPr/>
        </p:nvSpPr>
        <p:spPr>
          <a:xfrm>
            <a:off x="514350" y="5905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32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32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Open models now compete with Jev on the public frontier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472FFE-A37A-4EAF-AA2B-A4A701F73724}"/>
              </a:ext>
            </a:extLst>
          </p:cNvPr>
          <p:cNvSpPr>
            <a:spLocks noGrp="1"/>
          </p:cNvSpPr>
          <p:nvPr/>
        </p:nvSpPr>
        <p:spPr>
          <a:xfrm>
            <a:off x="514350" y="1304925"/>
            <a:ext cx="11163300" cy="9525"/>
          </a:xfrm>
          <a:prstGeom prst="rect">
            <a:avLst/>
          </a:prstGeom>
          <a:solidFill>
            <a:srgbClr val="26344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B2FD8C-8694-4EE4-97F0-E888234FF926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675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675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pPr>
            <a:r>
              <a:rPr lang="en-US" sz="675" b="1" i="0" dirty="0">
                <a:solidFill>
                  <a:srgbClr val="7E8B9D"/>
                </a:solidFill>
                <a:latin typeface="Arial"/>
                <a:ea typeface="Arial"/>
                <a:cs typeface="Arial"/>
              </a:rPr>
              <a:t>19</a:t>
            </a:r>
            <a:endParaRPr sz="675" b="1" i="0" dirty="0">
              <a:solidFill>
                <a:srgbClr val="7E8B9D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64A3C0FF-D3CE-48C0-8B07-4D52A05E0189}"/>
              </a:ext>
            </a:extLst>
          </p:cNvPr>
          <p:cNvGraphicFramePr/>
          <p:nvPr/>
        </p:nvGraphicFramePr>
        <p:xfrm>
          <a:off x="514350" y="1695450"/>
          <a:ext cx="6572250" cy="333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D01F8EB-E7EC-431F-BC2D-4AAD4A875A18}"/>
              </a:ext>
            </a:extLst>
          </p:cNvPr>
          <p:cNvSpPr>
            <a:spLocks noGrp="1"/>
          </p:cNvSpPr>
          <p:nvPr/>
        </p:nvSpPr>
        <p:spPr>
          <a:xfrm>
            <a:off x="7524750" y="1695450"/>
            <a:ext cx="3810000" cy="1066800"/>
          </a:xfrm>
          <a:prstGeom prst="roundRect">
            <a:avLst>
              <a:gd name="adj" fmla="val 10714"/>
            </a:avLst>
          </a:prstGeom>
          <a:solidFill>
            <a:srgbClr val="1D351B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91E27F-3E5E-4307-A40E-E0CCFFF2064F}"/>
              </a:ext>
            </a:extLst>
          </p:cNvPr>
          <p:cNvSpPr>
            <a:spLocks noGrp="1"/>
          </p:cNvSpPr>
          <p:nvPr/>
        </p:nvSpPr>
        <p:spPr>
          <a:xfrm>
            <a:off x="7524750" y="1695450"/>
            <a:ext cx="47625" cy="1066800"/>
          </a:xfrm>
          <a:prstGeom prst="rect">
            <a:avLst/>
          </a:prstGeom>
          <a:solidFill>
            <a:srgbClr val="B9F4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358462-9404-42BE-9040-CE896B6506AC}"/>
              </a:ext>
            </a:extLst>
          </p:cNvPr>
          <p:cNvSpPr>
            <a:spLocks noGrp="1"/>
          </p:cNvSpPr>
          <p:nvPr/>
        </p:nvSpPr>
        <p:spPr>
          <a:xfrm>
            <a:off x="7715250" y="1847850"/>
            <a:ext cx="3467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0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9F45D"/>
                </a:solidFill>
                <a:latin typeface="Arial"/>
                <a:ea typeface="Arial"/>
                <a:cs typeface="Arial"/>
              </a:rPr>
              <a:t>What the score means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328176-9DB1-45E2-81E5-88AC5310CEF6}"/>
              </a:ext>
            </a:extLst>
          </p:cNvPr>
          <p:cNvSpPr>
            <a:spLocks noGrp="1"/>
          </p:cNvSpPr>
          <p:nvPr/>
        </p:nvSpPr>
        <p:spPr>
          <a:xfrm>
            <a:off x="7715250" y="2171700"/>
            <a:ext cx="3467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6000"/>
              </a:lnSpc>
              <a:buNone/>
              <a:defRPr sz="97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Capability averages Intelligence and Calibration for systems inside fixed cost and latency caps.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2F1B27C-1432-49F9-BF8F-35B28DC85053}"/>
              </a:ext>
            </a:extLst>
          </p:cNvPr>
          <p:cNvSpPr>
            <a:spLocks noGrp="1"/>
          </p:cNvSpPr>
          <p:nvPr/>
        </p:nvSpPr>
        <p:spPr>
          <a:xfrm>
            <a:off x="7524750" y="3009900"/>
            <a:ext cx="3810000" cy="1066800"/>
          </a:xfrm>
          <a:prstGeom prst="roundRect">
            <a:avLst>
              <a:gd name="adj" fmla="val 10714"/>
            </a:avLst>
          </a:prstGeom>
          <a:solidFill>
            <a:srgbClr val="0D2D3A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E5CE68-F12B-480A-821A-B67B0DF454F1}"/>
              </a:ext>
            </a:extLst>
          </p:cNvPr>
          <p:cNvSpPr>
            <a:spLocks noGrp="1"/>
          </p:cNvSpPr>
          <p:nvPr/>
        </p:nvSpPr>
        <p:spPr>
          <a:xfrm>
            <a:off x="7524750" y="3009900"/>
            <a:ext cx="47625" cy="1066800"/>
          </a:xfrm>
          <a:prstGeom prst="rect">
            <a:avLst/>
          </a:prstGeom>
          <a:solidFill>
            <a:srgbClr val="54D6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39164DD-961E-4EC7-8120-27CCE149211A}"/>
              </a:ext>
            </a:extLst>
          </p:cNvPr>
          <p:cNvSpPr>
            <a:spLocks noGrp="1"/>
          </p:cNvSpPr>
          <p:nvPr/>
        </p:nvSpPr>
        <p:spPr>
          <a:xfrm>
            <a:off x="7715250" y="3162300"/>
            <a:ext cx="3467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00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4D6FF"/>
                </a:solidFill>
                <a:latin typeface="Arial"/>
                <a:ea typeface="Arial"/>
                <a:cs typeface="Arial"/>
              </a:rPr>
              <a:t>What changed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52C233-F295-4EDF-A5AB-52723A71BDF8}"/>
              </a:ext>
            </a:extLst>
          </p:cNvPr>
          <p:cNvSpPr>
            <a:spLocks noGrp="1"/>
          </p:cNvSpPr>
          <p:nvPr/>
        </p:nvSpPr>
        <p:spPr>
          <a:xfrm>
            <a:off x="7715250" y="3486150"/>
            <a:ext cx="3467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6000"/>
              </a:lnSpc>
              <a:buNone/>
              <a:defRPr sz="97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Version 1.6.1 uses 1,500 decisions per system and separates open-weight systems from hosted APIs.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17AC3D6-9A27-417A-810F-0F3BC6F9181E}"/>
              </a:ext>
            </a:extLst>
          </p:cNvPr>
          <p:cNvSpPr>
            <a:spLocks noGrp="1"/>
          </p:cNvSpPr>
          <p:nvPr/>
        </p:nvSpPr>
        <p:spPr>
          <a:xfrm>
            <a:off x="7524750" y="4324350"/>
            <a:ext cx="3810000" cy="1066800"/>
          </a:xfrm>
          <a:prstGeom prst="roundRect">
            <a:avLst>
              <a:gd name="adj" fmla="val 10714"/>
            </a:avLst>
          </a:prstGeom>
          <a:solidFill>
            <a:srgbClr val="382B14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2086F9-79DB-4F6F-BEAA-0DE0EDAAA69F}"/>
              </a:ext>
            </a:extLst>
          </p:cNvPr>
          <p:cNvSpPr>
            <a:spLocks noGrp="1"/>
          </p:cNvSpPr>
          <p:nvPr/>
        </p:nvSpPr>
        <p:spPr>
          <a:xfrm>
            <a:off x="7524750" y="4324350"/>
            <a:ext cx="47625" cy="1066800"/>
          </a:xfrm>
          <a:prstGeom prst="rect">
            <a:avLst/>
          </a:prstGeom>
          <a:solidFill>
            <a:srgbClr val="F8C15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59140D-2837-474B-B132-F5061F1AB935}"/>
              </a:ext>
            </a:extLst>
          </p:cNvPr>
          <p:cNvSpPr>
            <a:spLocks noGrp="1"/>
          </p:cNvSpPr>
          <p:nvPr/>
        </p:nvSpPr>
        <p:spPr>
          <a:xfrm>
            <a:off x="7715250" y="4476750"/>
            <a:ext cx="3467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1" i="0">
                <a:solidFill>
                  <a:srgbClr val="F8C15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200" b="1" i="0">
                <a:solidFill>
                  <a:srgbClr val="F8C15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8C15C"/>
                </a:solidFill>
                <a:latin typeface="Arial"/>
                <a:ea typeface="Arial"/>
                <a:cs typeface="Arial"/>
              </a:rPr>
              <a:t>How to read it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511A15-E67B-45A3-A936-59D8AFBB4E66}"/>
              </a:ext>
            </a:extLst>
          </p:cNvPr>
          <p:cNvSpPr>
            <a:spLocks noGrp="1"/>
          </p:cNvSpPr>
          <p:nvPr/>
        </p:nvSpPr>
        <p:spPr>
          <a:xfrm>
            <a:off x="7715250" y="4800600"/>
            <a:ext cx="34671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417"/>
          </a:bodyPr>
          <a:lstStyle>
            <a:defPPr algn="l">
              <a:defRPr sz="97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6000"/>
              </a:lnSpc>
              <a:buNone/>
              <a:defRPr sz="97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Jev is a reference on the open board. Self-hosted cost estimates depend on hardware assumptions. Close scores are a frontier, not a universal ranking.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BE9EE3-C2EA-4C07-9C1D-FF401DF1C026}"/>
              </a:ext>
            </a:extLst>
          </p:cNvPr>
          <p:cNvSpPr>
            <a:spLocks noGrp="1"/>
          </p:cNvSpPr>
          <p:nvPr/>
        </p:nvSpPr>
        <p:spPr>
          <a:xfrm>
            <a:off x="514350" y="5657850"/>
            <a:ext cx="1082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12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112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The headline is no longer that Jev-like behavior is proprietary. The debate has moved to generalization, calibration, and deployment cost.</a:t>
            </a:r>
          </a:p>
        </p:txBody>
      </p:sp>
    </p:spTree>
    <p:extLst>
      <p:ext uri="{BB962C8B-B14F-4D97-AF65-F5344CB8AC3E}">
        <p14:creationId xmlns:p14="http://schemas.microsoft.com/office/powerpoint/2010/main" val="19653939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FAFEA97B-4922-4452-AB75-72802583B92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B9F4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C175C7-6FE9-49A3-97DE-3F128AD00C70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7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pPr>
            <a:r>
              <a:rPr sz="750" b="1" i="0" dirty="0">
                <a:solidFill>
                  <a:srgbClr val="B9F45D"/>
                </a:solidFill>
                <a:latin typeface="Arial"/>
                <a:ea typeface="Arial"/>
                <a:cs typeface="Arial"/>
              </a:rPr>
              <a:t>BANKING77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6009F3-739E-460F-8225-35CCBC68F6A2}"/>
              </a:ext>
            </a:extLst>
          </p:cNvPr>
          <p:cNvSpPr>
            <a:spLocks noGrp="1"/>
          </p:cNvSpPr>
          <p:nvPr/>
        </p:nvSpPr>
        <p:spPr>
          <a:xfrm>
            <a:off x="514350" y="590550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32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32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Jev approaches Opus accuracy at a different operating cost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34C75D-53EC-43B4-86A5-18AA08DACDD7}"/>
              </a:ext>
            </a:extLst>
          </p:cNvPr>
          <p:cNvSpPr>
            <a:spLocks noGrp="1"/>
          </p:cNvSpPr>
          <p:nvPr/>
        </p:nvSpPr>
        <p:spPr>
          <a:xfrm>
            <a:off x="514350" y="1304925"/>
            <a:ext cx="11163300" cy="9525"/>
          </a:xfrm>
          <a:prstGeom prst="rect">
            <a:avLst/>
          </a:prstGeom>
          <a:solidFill>
            <a:srgbClr val="26344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49D2BE-C247-4F7C-B01A-23D8390F07CA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675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675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pPr>
            <a:r>
              <a:rPr lang="en-US" sz="675" b="1" i="0" dirty="0">
                <a:solidFill>
                  <a:srgbClr val="7E8B9D"/>
                </a:solidFill>
                <a:latin typeface="Arial"/>
                <a:ea typeface="Arial"/>
                <a:cs typeface="Arial"/>
              </a:rPr>
              <a:t>20</a:t>
            </a:r>
            <a:endParaRPr sz="675" b="1" i="0" dirty="0">
              <a:solidFill>
                <a:srgbClr val="7E8B9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BB0CFF9-9C50-457C-A2F2-A4F383B293C5}"/>
              </a:ext>
            </a:extLst>
          </p:cNvPr>
          <p:cNvSpPr>
            <a:spLocks noGrp="1"/>
          </p:cNvSpPr>
          <p:nvPr/>
        </p:nvSpPr>
        <p:spPr>
          <a:xfrm>
            <a:off x="514350" y="1676400"/>
            <a:ext cx="3448050" cy="2057400"/>
          </a:xfrm>
          <a:prstGeom prst="roundRect">
            <a:avLst>
              <a:gd name="adj" fmla="val 5556"/>
            </a:avLst>
          </a:prstGeom>
          <a:solidFill>
            <a:srgbClr val="101826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D8DD09-AEEF-4869-9341-3E98B38990CA}"/>
              </a:ext>
            </a:extLst>
          </p:cNvPr>
          <p:cNvSpPr>
            <a:spLocks noGrp="1"/>
          </p:cNvSpPr>
          <p:nvPr/>
        </p:nvSpPr>
        <p:spPr>
          <a:xfrm>
            <a:off x="704850" y="1847850"/>
            <a:ext cx="3067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825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E8B9D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8863CA-7DDF-43B1-B114-1EE671E6A6F8}"/>
              </a:ext>
            </a:extLst>
          </p:cNvPr>
          <p:cNvSpPr>
            <a:spLocks noGrp="1"/>
          </p:cNvSpPr>
          <p:nvPr/>
        </p:nvSpPr>
        <p:spPr>
          <a:xfrm>
            <a:off x="704850" y="22479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750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4D6FF"/>
                </a:solidFill>
                <a:latin typeface="Arial"/>
                <a:ea typeface="Arial"/>
                <a:cs typeface="Arial"/>
              </a:rPr>
              <a:t>Jev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49BA29-06E3-4C84-8FE9-CDDFAC548861}"/>
              </a:ext>
            </a:extLst>
          </p:cNvPr>
          <p:cNvSpPr>
            <a:spLocks noGrp="1"/>
          </p:cNvSpPr>
          <p:nvPr/>
        </p:nvSpPr>
        <p:spPr>
          <a:xfrm>
            <a:off x="704850" y="249555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325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325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54D6FF"/>
                </a:solidFill>
                <a:latin typeface="Arial"/>
                <a:ea typeface="Arial"/>
                <a:cs typeface="Arial"/>
              </a:rPr>
              <a:t>81.0%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52E703-D61E-4220-ADB9-501643A2F4B1}"/>
              </a:ext>
            </a:extLst>
          </p:cNvPr>
          <p:cNvSpPr>
            <a:spLocks noGrp="1"/>
          </p:cNvSpPr>
          <p:nvPr/>
        </p:nvSpPr>
        <p:spPr>
          <a:xfrm>
            <a:off x="2362200" y="2247900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750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8B9D"/>
                </a:solidFill>
                <a:latin typeface="Arial"/>
                <a:ea typeface="Arial"/>
                <a:cs typeface="Arial"/>
              </a:rPr>
              <a:t>Opus 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E0A7D0-A053-4DC1-B120-6AEFDCDECA68}"/>
              </a:ext>
            </a:extLst>
          </p:cNvPr>
          <p:cNvSpPr>
            <a:spLocks noGrp="1"/>
          </p:cNvSpPr>
          <p:nvPr/>
        </p:nvSpPr>
        <p:spPr>
          <a:xfrm>
            <a:off x="2362200" y="2495550"/>
            <a:ext cx="1409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2100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2100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84.4%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8D6542-4AD7-45D9-9CFA-21DF178F7D3C}"/>
              </a:ext>
            </a:extLst>
          </p:cNvPr>
          <p:cNvSpPr>
            <a:spLocks noGrp="1"/>
          </p:cNvSpPr>
          <p:nvPr/>
        </p:nvSpPr>
        <p:spPr>
          <a:xfrm>
            <a:off x="704850" y="3105150"/>
            <a:ext cx="3067050" cy="9525"/>
          </a:xfrm>
          <a:prstGeom prst="rect">
            <a:avLst/>
          </a:prstGeom>
          <a:solidFill>
            <a:srgbClr val="3444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F41B13-A97A-4589-9685-2B33A276C9A7}"/>
              </a:ext>
            </a:extLst>
          </p:cNvPr>
          <p:cNvSpPr>
            <a:spLocks noGrp="1"/>
          </p:cNvSpPr>
          <p:nvPr/>
        </p:nvSpPr>
        <p:spPr>
          <a:xfrm>
            <a:off x="704850" y="3295650"/>
            <a:ext cx="3067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900" b="1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900" b="1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Jev trails by 3.3 points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0F31F00-F12A-4459-9989-D161DAE492C1}"/>
              </a:ext>
            </a:extLst>
          </p:cNvPr>
          <p:cNvSpPr>
            <a:spLocks noGrp="1"/>
          </p:cNvSpPr>
          <p:nvPr/>
        </p:nvSpPr>
        <p:spPr>
          <a:xfrm>
            <a:off x="4267200" y="1676400"/>
            <a:ext cx="3448050" cy="2057400"/>
          </a:xfrm>
          <a:prstGeom prst="roundRect">
            <a:avLst>
              <a:gd name="adj" fmla="val 5556"/>
            </a:avLst>
          </a:prstGeom>
          <a:solidFill>
            <a:srgbClr val="101826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4B0B5B-5ADB-4A0E-86C5-357C8A56D97F}"/>
              </a:ext>
            </a:extLst>
          </p:cNvPr>
          <p:cNvSpPr>
            <a:spLocks noGrp="1"/>
          </p:cNvSpPr>
          <p:nvPr/>
        </p:nvSpPr>
        <p:spPr>
          <a:xfrm>
            <a:off x="4457700" y="1847850"/>
            <a:ext cx="3067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825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E8B9D"/>
                </a:solidFill>
                <a:latin typeface="Arial"/>
                <a:ea typeface="Arial"/>
                <a:cs typeface="Arial"/>
              </a:rPr>
              <a:t>Median latency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F92B62-3720-4212-BABF-7965DE1B50C7}"/>
              </a:ext>
            </a:extLst>
          </p:cNvPr>
          <p:cNvSpPr>
            <a:spLocks noGrp="1"/>
          </p:cNvSpPr>
          <p:nvPr/>
        </p:nvSpPr>
        <p:spPr>
          <a:xfrm>
            <a:off x="4457700" y="22479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7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B9F45D"/>
                </a:solidFill>
                <a:latin typeface="Arial"/>
                <a:ea typeface="Arial"/>
                <a:cs typeface="Arial"/>
              </a:rPr>
              <a:t>Jev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206F19-A4AC-4937-9A55-E4DC8357F999}"/>
              </a:ext>
            </a:extLst>
          </p:cNvPr>
          <p:cNvSpPr>
            <a:spLocks noGrp="1"/>
          </p:cNvSpPr>
          <p:nvPr/>
        </p:nvSpPr>
        <p:spPr>
          <a:xfrm>
            <a:off x="4457700" y="249555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325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325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B9F45D"/>
                </a:solidFill>
                <a:latin typeface="Arial"/>
                <a:ea typeface="Arial"/>
                <a:cs typeface="Arial"/>
              </a:rPr>
              <a:t>175 ms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68F555-09A7-4E73-85FB-7405A86DE14B}"/>
              </a:ext>
            </a:extLst>
          </p:cNvPr>
          <p:cNvSpPr>
            <a:spLocks noGrp="1"/>
          </p:cNvSpPr>
          <p:nvPr/>
        </p:nvSpPr>
        <p:spPr>
          <a:xfrm>
            <a:off x="6115050" y="2247900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750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8B9D"/>
                </a:solidFill>
                <a:latin typeface="Arial"/>
                <a:ea typeface="Arial"/>
                <a:cs typeface="Arial"/>
              </a:rPr>
              <a:t>Opus 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A05FED9-B4B1-40BB-90EA-E98F302D637A}"/>
              </a:ext>
            </a:extLst>
          </p:cNvPr>
          <p:cNvSpPr>
            <a:spLocks noGrp="1"/>
          </p:cNvSpPr>
          <p:nvPr/>
        </p:nvSpPr>
        <p:spPr>
          <a:xfrm>
            <a:off x="6115050" y="2495550"/>
            <a:ext cx="1409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2100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2100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2,266 ms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C2C790-153C-42B1-BF9D-294E5C61E7EE}"/>
              </a:ext>
            </a:extLst>
          </p:cNvPr>
          <p:cNvSpPr>
            <a:spLocks noGrp="1"/>
          </p:cNvSpPr>
          <p:nvPr/>
        </p:nvSpPr>
        <p:spPr>
          <a:xfrm>
            <a:off x="4457700" y="3105150"/>
            <a:ext cx="3067050" cy="9525"/>
          </a:xfrm>
          <a:prstGeom prst="rect">
            <a:avLst/>
          </a:prstGeom>
          <a:solidFill>
            <a:srgbClr val="3444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2EC44B5-4048-4555-834E-E76B5F179169}"/>
              </a:ext>
            </a:extLst>
          </p:cNvPr>
          <p:cNvSpPr>
            <a:spLocks noGrp="1"/>
          </p:cNvSpPr>
          <p:nvPr/>
        </p:nvSpPr>
        <p:spPr>
          <a:xfrm>
            <a:off x="4457700" y="3295650"/>
            <a:ext cx="3067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900" b="1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900" b="1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Jev is about 13× faster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067F662-8D53-492E-8D0D-04110BB1E752}"/>
              </a:ext>
            </a:extLst>
          </p:cNvPr>
          <p:cNvSpPr>
            <a:spLocks noGrp="1"/>
          </p:cNvSpPr>
          <p:nvPr/>
        </p:nvSpPr>
        <p:spPr>
          <a:xfrm>
            <a:off x="8020050" y="1676400"/>
            <a:ext cx="3448050" cy="2057400"/>
          </a:xfrm>
          <a:prstGeom prst="roundRect">
            <a:avLst>
              <a:gd name="adj" fmla="val 5556"/>
            </a:avLst>
          </a:prstGeom>
          <a:solidFill>
            <a:srgbClr val="101826"/>
          </a:solidFill>
          <a:ln w="9525">
            <a:solidFill>
              <a:srgbClr val="2634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C6A5F6-C983-418E-BA23-824572802B1C}"/>
              </a:ext>
            </a:extLst>
          </p:cNvPr>
          <p:cNvSpPr>
            <a:spLocks noGrp="1"/>
          </p:cNvSpPr>
          <p:nvPr/>
        </p:nvSpPr>
        <p:spPr>
          <a:xfrm>
            <a:off x="8210550" y="1847850"/>
            <a:ext cx="3067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825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E8B9D"/>
                </a:solidFill>
                <a:latin typeface="Arial"/>
                <a:ea typeface="Arial"/>
                <a:cs typeface="Arial"/>
              </a:rPr>
              <a:t>Cost / 1k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6FF9093-DE9B-4F8B-8204-ABDE126712E8}"/>
              </a:ext>
            </a:extLst>
          </p:cNvPr>
          <p:cNvSpPr>
            <a:spLocks noGrp="1"/>
          </p:cNvSpPr>
          <p:nvPr/>
        </p:nvSpPr>
        <p:spPr>
          <a:xfrm>
            <a:off x="8210550" y="22479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F8C15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750" b="1" i="0">
                <a:solidFill>
                  <a:srgbClr val="F8C15C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8C15C"/>
                </a:solidFill>
                <a:latin typeface="Arial"/>
                <a:ea typeface="Arial"/>
                <a:cs typeface="Arial"/>
              </a:rPr>
              <a:t>Jev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B7E587A-03DE-407D-946E-55926CED3703}"/>
              </a:ext>
            </a:extLst>
          </p:cNvPr>
          <p:cNvSpPr>
            <a:spLocks noGrp="1"/>
          </p:cNvSpPr>
          <p:nvPr/>
        </p:nvSpPr>
        <p:spPr>
          <a:xfrm>
            <a:off x="8210550" y="249555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325" b="1" i="0">
                <a:solidFill>
                  <a:srgbClr val="F8C15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325" b="1" i="0">
                <a:solidFill>
                  <a:srgbClr val="F8C15C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8C15C"/>
                </a:solidFill>
                <a:latin typeface="Arial"/>
                <a:ea typeface="Arial"/>
                <a:cs typeface="Arial"/>
              </a:rPr>
              <a:t>$0.11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5BA96C4-943C-47B9-A4AD-95D53F692069}"/>
              </a:ext>
            </a:extLst>
          </p:cNvPr>
          <p:cNvSpPr>
            <a:spLocks noGrp="1"/>
          </p:cNvSpPr>
          <p:nvPr/>
        </p:nvSpPr>
        <p:spPr>
          <a:xfrm>
            <a:off x="9867900" y="2247900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750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750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E8B9D"/>
                </a:solidFill>
                <a:latin typeface="Arial"/>
                <a:ea typeface="Arial"/>
                <a:cs typeface="Arial"/>
              </a:rPr>
              <a:t>Opus 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1C73CE6-AE11-4ED5-99FC-4AE7379CE764}"/>
              </a:ext>
            </a:extLst>
          </p:cNvPr>
          <p:cNvSpPr>
            <a:spLocks noGrp="1"/>
          </p:cNvSpPr>
          <p:nvPr/>
        </p:nvSpPr>
        <p:spPr>
          <a:xfrm>
            <a:off x="9867900" y="2495550"/>
            <a:ext cx="1409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2100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2100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$2.42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B36243-A2FE-469A-A389-39AD34409C50}"/>
              </a:ext>
            </a:extLst>
          </p:cNvPr>
          <p:cNvSpPr>
            <a:spLocks noGrp="1"/>
          </p:cNvSpPr>
          <p:nvPr/>
        </p:nvSpPr>
        <p:spPr>
          <a:xfrm>
            <a:off x="8210550" y="3105150"/>
            <a:ext cx="3067050" cy="9525"/>
          </a:xfrm>
          <a:prstGeom prst="rect">
            <a:avLst/>
          </a:prstGeom>
          <a:solidFill>
            <a:srgbClr val="3444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B9AC6D4-093D-4EB4-A0B8-FD3EDA91A149}"/>
              </a:ext>
            </a:extLst>
          </p:cNvPr>
          <p:cNvSpPr>
            <a:spLocks noGrp="1"/>
          </p:cNvSpPr>
          <p:nvPr/>
        </p:nvSpPr>
        <p:spPr>
          <a:xfrm>
            <a:off x="8210550" y="3295650"/>
            <a:ext cx="3067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900" b="1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lnSpc>
                <a:spcPct val="105000"/>
              </a:lnSpc>
              <a:buNone/>
              <a:defRPr sz="900" b="1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Jev costs about 1/22 as much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C6B9A891-9A16-4DEC-AC21-3C5067DE6096}"/>
              </a:ext>
            </a:extLst>
          </p:cNvPr>
          <p:cNvSpPr>
            <a:spLocks noGrp="1"/>
          </p:cNvSpPr>
          <p:nvPr/>
        </p:nvSpPr>
        <p:spPr>
          <a:xfrm>
            <a:off x="514350" y="4095750"/>
            <a:ext cx="7105650" cy="1371600"/>
          </a:xfrm>
          <a:prstGeom prst="roundRect">
            <a:avLst>
              <a:gd name="adj" fmla="val 8333"/>
            </a:avLst>
          </a:prstGeom>
          <a:solidFill>
            <a:srgbClr val="1D351B"/>
          </a:solidFill>
          <a:ln w="9525">
            <a:solidFill>
              <a:srgbClr val="B9F4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FF113D6-3ECB-4223-AFBA-2A58B020D8A1}"/>
              </a:ext>
            </a:extLst>
          </p:cNvPr>
          <p:cNvSpPr>
            <a:spLocks noGrp="1"/>
          </p:cNvSpPr>
          <p:nvPr/>
        </p:nvSpPr>
        <p:spPr>
          <a:xfrm>
            <a:off x="742950" y="428625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825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B9F45D"/>
                </a:solidFill>
                <a:latin typeface="Arial"/>
                <a:ea typeface="Arial"/>
                <a:cs typeface="Arial"/>
              </a:rPr>
              <a:t>CASCADE AT JEV CONFIDENCE 0.90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64EC191-E376-499F-A798-832E27F3ECFA}"/>
              </a:ext>
            </a:extLst>
          </p:cNvPr>
          <p:cNvSpPr>
            <a:spLocks noGrp="1"/>
          </p:cNvSpPr>
          <p:nvPr/>
        </p:nvSpPr>
        <p:spPr>
          <a:xfrm>
            <a:off x="742950" y="4591050"/>
            <a:ext cx="1962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5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B9F45D"/>
                </a:solidFill>
                <a:latin typeface="Arial"/>
                <a:ea typeface="Arial"/>
                <a:cs typeface="Arial"/>
              </a:rPr>
              <a:t>75.9%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47F9311-0BCE-4E3B-A4B2-7C02097A24D4}"/>
              </a:ext>
            </a:extLst>
          </p:cNvPr>
          <p:cNvSpPr>
            <a:spLocks noGrp="1"/>
          </p:cNvSpPr>
          <p:nvPr/>
        </p:nvSpPr>
        <p:spPr>
          <a:xfrm>
            <a:off x="742950" y="5105400"/>
            <a:ext cx="1962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97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traffic handled by Jev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5C343F4-65FB-4422-95D5-8ACD0387656D}"/>
              </a:ext>
            </a:extLst>
          </p:cNvPr>
          <p:cNvSpPr>
            <a:spLocks noGrp="1"/>
          </p:cNvSpPr>
          <p:nvPr/>
        </p:nvSpPr>
        <p:spPr>
          <a:xfrm>
            <a:off x="2971800" y="4591050"/>
            <a:ext cx="1962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50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550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54D6FF"/>
                </a:solidFill>
                <a:latin typeface="Arial"/>
                <a:ea typeface="Arial"/>
                <a:cs typeface="Arial"/>
              </a:rPr>
              <a:t>84.0%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AE806AC-B2D0-4116-8547-969A83DC0D6A}"/>
              </a:ext>
            </a:extLst>
          </p:cNvPr>
          <p:cNvSpPr>
            <a:spLocks noGrp="1"/>
          </p:cNvSpPr>
          <p:nvPr/>
        </p:nvSpPr>
        <p:spPr>
          <a:xfrm>
            <a:off x="2971800" y="5105400"/>
            <a:ext cx="1962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97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combined accuracy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48BA156-A086-4474-9E39-26BC8C0A4139}"/>
              </a:ext>
            </a:extLst>
          </p:cNvPr>
          <p:cNvSpPr>
            <a:spLocks noGrp="1"/>
          </p:cNvSpPr>
          <p:nvPr/>
        </p:nvSpPr>
        <p:spPr>
          <a:xfrm>
            <a:off x="5200650" y="4591050"/>
            <a:ext cx="1962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50" b="1" i="0">
                <a:solidFill>
                  <a:srgbClr val="F8C15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2550" b="1" i="0">
                <a:solidFill>
                  <a:srgbClr val="F8C15C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8C15C"/>
                </a:solidFill>
                <a:latin typeface="Arial"/>
                <a:ea typeface="Arial"/>
                <a:cs typeface="Arial"/>
              </a:rPr>
              <a:t>$0.69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E527B50-E31E-4C9C-9922-71DD0BB6E27B}"/>
              </a:ext>
            </a:extLst>
          </p:cNvPr>
          <p:cNvSpPr>
            <a:spLocks noGrp="1"/>
          </p:cNvSpPr>
          <p:nvPr/>
        </p:nvSpPr>
        <p:spPr>
          <a:xfrm>
            <a:off x="5200650" y="5105400"/>
            <a:ext cx="1962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7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975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cost per 1,000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169F50C2-BF55-4785-AA10-326CBB611F2A}"/>
              </a:ext>
            </a:extLst>
          </p:cNvPr>
          <p:cNvSpPr>
            <a:spLocks noGrp="1"/>
          </p:cNvSpPr>
          <p:nvPr/>
        </p:nvSpPr>
        <p:spPr>
          <a:xfrm>
            <a:off x="8020050" y="4095750"/>
            <a:ext cx="3314700" cy="1371600"/>
          </a:xfrm>
          <a:prstGeom prst="roundRect">
            <a:avLst>
              <a:gd name="adj" fmla="val 8333"/>
            </a:avLst>
          </a:prstGeom>
          <a:solidFill>
            <a:srgbClr val="3A1C20"/>
          </a:solidFill>
          <a:ln w="9525">
            <a:solidFill>
              <a:srgbClr val="FF7D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50A9BDF-2BE5-4041-95C7-E34DCF72FA4A}"/>
              </a:ext>
            </a:extLst>
          </p:cNvPr>
          <p:cNvSpPr>
            <a:spLocks noGrp="1"/>
          </p:cNvSpPr>
          <p:nvPr/>
        </p:nvSpPr>
        <p:spPr>
          <a:xfrm>
            <a:off x="8229600" y="428625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1" i="0">
                <a:solidFill>
                  <a:srgbClr val="FF7D7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825" b="1" i="0">
                <a:solidFill>
                  <a:srgbClr val="FF7D70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7D70"/>
                </a:solidFill>
                <a:latin typeface="Arial"/>
                <a:ea typeface="Arial"/>
                <a:cs typeface="Arial"/>
              </a:rPr>
              <a:t>CAVEATS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7767676-52F2-4270-BE54-575B2AE0C721}"/>
              </a:ext>
            </a:extLst>
          </p:cNvPr>
          <p:cNvSpPr>
            <a:spLocks noGrp="1"/>
          </p:cNvSpPr>
          <p:nvPr/>
        </p:nvSpPr>
        <p:spPr>
          <a:xfrm>
            <a:off x="8229600" y="4610100"/>
            <a:ext cx="2895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63" b="0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18000"/>
              </a:lnSpc>
              <a:buNone/>
              <a:defRPr sz="863" b="0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863" b="0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One dataset and one prompt design. Opus reasoning was off. The same 3,080 examples were used to report the cascade threshold, so that result is an upper bound.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8AF6AB3-D3AF-4D0D-AE4A-8E66D2168033}"/>
              </a:ext>
            </a:extLst>
          </p:cNvPr>
          <p:cNvSpPr>
            <a:spLocks noGrp="1"/>
          </p:cNvSpPr>
          <p:nvPr/>
        </p:nvSpPr>
        <p:spPr>
          <a:xfrm>
            <a:off x="514350" y="5772150"/>
            <a:ext cx="10820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825" b="0" i="0">
                <a:solidFill>
                  <a:srgbClr val="7E8B9D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ctr">
              <a:lnSpc>
                <a:spcPct val="105000"/>
              </a:lnSpc>
              <a:buNone/>
              <a:defRPr sz="825" b="0" i="0">
                <a:solidFill>
                  <a:srgbClr val="7E8B9D"/>
                </a:solidFill>
                <a:latin typeface="Courier New"/>
                <a:ea typeface="Courier New"/>
                <a:cs typeface="Courier New"/>
              </a:defRPr>
            </a:pPr>
            <a:r>
              <a:rPr sz="825" b="0" i="0">
                <a:solidFill>
                  <a:srgbClr val="7E8B9D"/>
                </a:solidFill>
                <a:latin typeface="Courier New"/>
                <a:ea typeface="Courier New"/>
                <a:cs typeface="Courier New"/>
              </a:rPr>
              <a:t>3,080 Banking77 utterances · 77 intents · identical one-line criteria · 8 concurrent requests · client-observed round trip</a:t>
            </a:r>
          </a:p>
        </p:txBody>
      </p:sp>
    </p:spTree>
    <p:extLst>
      <p:ext uri="{BB962C8B-B14F-4D97-AF65-F5344CB8AC3E}">
        <p14:creationId xmlns:p14="http://schemas.microsoft.com/office/powerpoint/2010/main" val="1612695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59F8A5C-8AEC-48B1-9BE5-ABD51FDFB6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B9F45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CBCD9D-072F-46BD-8F6F-4C3D3300D2D8}"/>
              </a:ext>
            </a:extLst>
          </p:cNvPr>
          <p:cNvSpPr>
            <a:spLocks noGrp="1"/>
          </p:cNvSpPr>
          <p:nvPr/>
        </p:nvSpPr>
        <p:spPr>
          <a:xfrm>
            <a:off x="571500" y="47625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25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825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B9F45D"/>
                </a:solidFill>
                <a:latin typeface="Arial"/>
                <a:ea typeface="Arial"/>
                <a:cs typeface="Arial"/>
              </a:rPr>
              <a:t>THE TAKEAWAY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E326F9-DB9E-4075-A6D9-40A04EC9F6EF}"/>
              </a:ext>
            </a:extLst>
          </p:cNvPr>
          <p:cNvSpPr>
            <a:spLocks noGrp="1"/>
          </p:cNvSpPr>
          <p:nvPr/>
        </p:nvSpPr>
        <p:spPr>
          <a:xfrm>
            <a:off x="571500" y="1066800"/>
            <a:ext cx="10287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00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4000"/>
              </a:lnSpc>
              <a:buNone/>
              <a:defRPr sz="3000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Jev introduced a useful model interface,</a:t>
            </a:r>
          </a:p>
          <a:p>
            <a:pPr algn="l">
              <a:lnSpc>
                <a:spcPct val="104000"/>
              </a:lnSpc>
              <a:buNone/>
              <a:defRPr sz="3000" b="1" i="0">
                <a:solidFill>
                  <a:srgbClr val="F4F8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F4F8FF"/>
                </a:solidFill>
                <a:latin typeface="Arial"/>
                <a:ea typeface="Arial"/>
                <a:cs typeface="Arial"/>
              </a:rPr>
              <a:t>not one inevitable 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BA3AC0-A58E-404C-A5DF-7C94607B1B52}"/>
              </a:ext>
            </a:extLst>
          </p:cNvPr>
          <p:cNvSpPr>
            <a:spLocks noGrp="1"/>
          </p:cNvSpPr>
          <p:nvPr/>
        </p:nvSpPr>
        <p:spPr>
          <a:xfrm>
            <a:off x="571500" y="275272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1" i="0">
                <a:solidFill>
                  <a:srgbClr val="54D6F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lnSpc>
                <a:spcPct val="105000"/>
              </a:lnSpc>
              <a:buNone/>
              <a:defRPr sz="900" b="1" i="0">
                <a:solidFill>
                  <a:srgbClr val="54D6FF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54D6FF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20DF86-9D0A-4BFD-A730-CDA353995558}"/>
              </a:ext>
            </a:extLst>
          </p:cNvPr>
          <p:cNvSpPr>
            <a:spLocks noGrp="1"/>
          </p:cNvSpPr>
          <p:nvPr/>
        </p:nvSpPr>
        <p:spPr>
          <a:xfrm>
            <a:off x="1181100" y="272415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1" i="0">
                <a:solidFill>
                  <a:srgbClr val="54D6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4D6FF"/>
                </a:solidFill>
                <a:latin typeface="Arial"/>
                <a:ea typeface="Arial"/>
                <a:cs typeface="Arial"/>
              </a:rPr>
              <a:t>Bound the 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64B290-6B2B-48A1-B0EE-C4B7876C4A5C}"/>
              </a:ext>
            </a:extLst>
          </p:cNvPr>
          <p:cNvSpPr>
            <a:spLocks noGrp="1"/>
          </p:cNvSpPr>
          <p:nvPr/>
        </p:nvSpPr>
        <p:spPr>
          <a:xfrm>
            <a:off x="3714750" y="2743200"/>
            <a:ext cx="695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12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Typed schemas turn semantic judgment into a reliable software primitive.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7CDF5F-DD3D-41C9-8110-0831EBD0021B}"/>
              </a:ext>
            </a:extLst>
          </p:cNvPr>
          <p:cNvSpPr>
            <a:spLocks noGrp="1"/>
          </p:cNvSpPr>
          <p:nvPr/>
        </p:nvSpPr>
        <p:spPr>
          <a:xfrm>
            <a:off x="571500" y="349567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1" i="0">
                <a:solidFill>
                  <a:srgbClr val="AA8BF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lnSpc>
                <a:spcPct val="105000"/>
              </a:lnSpc>
              <a:buNone/>
              <a:defRPr sz="900" b="1" i="0">
                <a:solidFill>
                  <a:srgbClr val="AA8BFF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AA8BFF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0A1BAA-B878-4561-BB40-A675572C967B}"/>
              </a:ext>
            </a:extLst>
          </p:cNvPr>
          <p:cNvSpPr>
            <a:spLocks noGrp="1"/>
          </p:cNvSpPr>
          <p:nvPr/>
        </p:nvSpPr>
        <p:spPr>
          <a:xfrm>
            <a:off x="1181100" y="34671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4803"/>
          </a:bodyPr>
          <a:lstStyle>
            <a:defPPr algn="l">
              <a:defRPr sz="1350" b="1" i="0">
                <a:solidFill>
                  <a:srgbClr val="AA8B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1" i="0">
                <a:solidFill>
                  <a:srgbClr val="AA8B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AA8BFF"/>
                </a:solidFill>
                <a:latin typeface="Arial"/>
                <a:ea typeface="Arial"/>
                <a:cs typeface="Arial"/>
              </a:rPr>
              <a:t>Separate scoring from generation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DCEAE3-0880-4A96-A560-D851CFE7B0DE}"/>
              </a:ext>
            </a:extLst>
          </p:cNvPr>
          <p:cNvSpPr>
            <a:spLocks noGrp="1"/>
          </p:cNvSpPr>
          <p:nvPr/>
        </p:nvSpPr>
        <p:spPr>
          <a:xfrm>
            <a:off x="3714750" y="3486150"/>
            <a:ext cx="695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12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Candidate logits or decision heads remove the need to produce prose.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650EA9-3CC4-463D-9518-965F5D7C2F27}"/>
              </a:ext>
            </a:extLst>
          </p:cNvPr>
          <p:cNvSpPr>
            <a:spLocks noGrp="1"/>
          </p:cNvSpPr>
          <p:nvPr/>
        </p:nvSpPr>
        <p:spPr>
          <a:xfrm>
            <a:off x="571500" y="423862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1" i="0">
                <a:solidFill>
                  <a:srgbClr val="B9F45D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lnSpc>
                <a:spcPct val="105000"/>
              </a:lnSpc>
              <a:buNone/>
              <a:defRPr sz="900" b="1" i="0">
                <a:solidFill>
                  <a:srgbClr val="B9F45D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B9F45D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FA2666-8A31-45F1-8AAD-941353A77762}"/>
              </a:ext>
            </a:extLst>
          </p:cNvPr>
          <p:cNvSpPr>
            <a:spLocks noGrp="1"/>
          </p:cNvSpPr>
          <p:nvPr/>
        </p:nvSpPr>
        <p:spPr>
          <a:xfrm>
            <a:off x="1181100" y="421005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42"/>
          </a:bodyPr>
          <a:lstStyle>
            <a:defPPr algn="l">
              <a:defRPr sz="13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1" i="0">
                <a:solidFill>
                  <a:srgbClr val="B9F45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9F45D"/>
                </a:solidFill>
                <a:latin typeface="Arial"/>
                <a:ea typeface="Arial"/>
                <a:cs typeface="Arial"/>
              </a:rPr>
              <a:t>Train the distribution you need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84719F-C1FF-4FB8-9A2A-34AACE7E8521}"/>
              </a:ext>
            </a:extLst>
          </p:cNvPr>
          <p:cNvSpPr>
            <a:spLocks noGrp="1"/>
          </p:cNvSpPr>
          <p:nvPr/>
        </p:nvSpPr>
        <p:spPr>
          <a:xfrm>
            <a:off x="3714750" y="4229100"/>
            <a:ext cx="695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12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Data coverage and calibration matter more than reproducing one code path.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8D301B-CB4F-4396-A94A-0CACA213F26D}"/>
              </a:ext>
            </a:extLst>
          </p:cNvPr>
          <p:cNvSpPr>
            <a:spLocks noGrp="1"/>
          </p:cNvSpPr>
          <p:nvPr/>
        </p:nvSpPr>
        <p:spPr>
          <a:xfrm>
            <a:off x="571500" y="498157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900" b="1" i="0">
                <a:solidFill>
                  <a:srgbClr val="F8C15C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lnSpc>
                <a:spcPct val="105000"/>
              </a:lnSpc>
              <a:buNone/>
              <a:defRPr sz="900" b="1" i="0">
                <a:solidFill>
                  <a:srgbClr val="F8C15C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F8C15C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BA8AB5-F491-4451-930D-375BC1FB1425}"/>
              </a:ext>
            </a:extLst>
          </p:cNvPr>
          <p:cNvSpPr>
            <a:spLocks noGrp="1"/>
          </p:cNvSpPr>
          <p:nvPr/>
        </p:nvSpPr>
        <p:spPr>
          <a:xfrm>
            <a:off x="1181100" y="49530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1" i="0">
                <a:solidFill>
                  <a:srgbClr val="F8C15C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350" b="1" i="0">
                <a:solidFill>
                  <a:srgbClr val="F8C15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8C15C"/>
                </a:solidFill>
                <a:latin typeface="Arial"/>
                <a:ea typeface="Arial"/>
                <a:cs typeface="Arial"/>
              </a:rPr>
              <a:t>Choose the operating point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872C9F4-1193-4A3E-A027-F9DDE63F8D09}"/>
              </a:ext>
            </a:extLst>
          </p:cNvPr>
          <p:cNvSpPr>
            <a:spLocks noGrp="1"/>
          </p:cNvSpPr>
          <p:nvPr/>
        </p:nvSpPr>
        <p:spPr>
          <a:xfrm>
            <a:off x="3714750" y="4972050"/>
            <a:ext cx="695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2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5000"/>
              </a:lnSpc>
              <a:buNone/>
              <a:defRPr sz="1125" b="0" i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7D1DF"/>
                </a:solidFill>
                <a:latin typeface="Arial"/>
                <a:ea typeface="Arial"/>
                <a:cs typeface="Arial"/>
              </a:rPr>
              <a:t>Open models now offer real tradeoffs in breadth, speed, modality, and cost.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558D9A-6E22-442F-8D63-6DE9EDF446E2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675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5000"/>
              </a:lnSpc>
              <a:buNone/>
              <a:defRPr sz="675" b="1" i="0">
                <a:solidFill>
                  <a:srgbClr val="7E8B9D"/>
                </a:solidFill>
                <a:latin typeface="Arial"/>
                <a:ea typeface="Arial"/>
                <a:cs typeface="Arial"/>
              </a:defRPr>
            </a:pPr>
            <a:r>
              <a:rPr lang="en-US" sz="675" b="1" i="0" dirty="0">
                <a:solidFill>
                  <a:srgbClr val="7E8B9D"/>
                </a:solidFill>
                <a:latin typeface="Arial"/>
                <a:ea typeface="Arial"/>
                <a:cs typeface="Arial"/>
              </a:rPr>
              <a:t>21</a:t>
            </a:r>
            <a:endParaRPr sz="675" b="1" i="0" dirty="0">
              <a:solidFill>
                <a:srgbClr val="7E8B9D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9733739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Decision Systems Dark">
      <a:dk1>
        <a:srgbClr val="000000"/>
      </a:dk1>
      <a:lt1>
        <a:srgbClr val="F4F8FF"/>
      </a:lt1>
      <a:dk2>
        <a:srgbClr val="0C121D"/>
      </a:dk2>
      <a:lt2>
        <a:srgbClr val="7E8B9D"/>
      </a:lt2>
      <a:accent1>
        <a:srgbClr val="B9F45D"/>
      </a:accent1>
      <a:accent2>
        <a:srgbClr val="54D6FF"/>
      </a:accent2>
      <a:accent3>
        <a:srgbClr val="AA8BFF"/>
      </a:accent3>
      <a:accent4>
        <a:srgbClr val="FF7D70"/>
      </a:accent4>
      <a:accent5>
        <a:srgbClr val="F8C15C"/>
      </a:accent5>
      <a:accent6>
        <a:srgbClr val="4BE0B5"/>
      </a:accent6>
      <a:hlink>
        <a:srgbClr val="54D6FF"/>
      </a:hlink>
      <a:folHlink>
        <a:srgbClr val="AA8BFF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cision Systems Dark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Decision Systems Dark">
      <a:dk1>
        <a:srgbClr val="000000"/>
      </a:dk1>
      <a:lt1>
        <a:srgbClr val="F4F8FF"/>
      </a:lt1>
      <a:dk2>
        <a:srgbClr val="0C121D"/>
      </a:dk2>
      <a:lt2>
        <a:srgbClr val="7E8B9D"/>
      </a:lt2>
      <a:accent1>
        <a:srgbClr val="B9F45D"/>
      </a:accent1>
      <a:accent2>
        <a:srgbClr val="54D6FF"/>
      </a:accent2>
      <a:accent3>
        <a:srgbClr val="AA8BFF"/>
      </a:accent3>
      <a:accent4>
        <a:srgbClr val="FF7D70"/>
      </a:accent4>
      <a:accent5>
        <a:srgbClr val="F8C15C"/>
      </a:accent5>
      <a:accent6>
        <a:srgbClr val="4BE0B5"/>
      </a:accent6>
      <a:hlink>
        <a:srgbClr val="54D6FF"/>
      </a:hlink>
      <a:folHlink>
        <a:srgbClr val="AA8BFF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cision Systems Dark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1752</Words>
  <Application>Microsoft Macintosh PowerPoint</Application>
  <DocSecurity>0</DocSecurity>
  <PresentationFormat>Widescreen</PresentationFormat>
  <Paragraphs>383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Courier New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Saurabh Jain</cp:lastModifiedBy>
  <cp:revision>29</cp:revision>
  <dcterms:created xsi:type="dcterms:W3CDTF">2026-10-07T20:29:37Z</dcterms:created>
  <dcterms:modified xsi:type="dcterms:W3CDTF">2026-10-08T06:25:29Z</dcterms:modified>
</cp:coreProperties>
</file>